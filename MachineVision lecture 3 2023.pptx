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257" r:id="rId2"/>
    <p:sldId id="344" r:id="rId3"/>
    <p:sldId id="345" r:id="rId4"/>
    <p:sldId id="34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29" r:id="rId13"/>
    <p:sldId id="330" r:id="rId14"/>
    <p:sldId id="331" r:id="rId15"/>
    <p:sldId id="332" r:id="rId16"/>
    <p:sldId id="333" r:id="rId17"/>
    <p:sldId id="334" r:id="rId18"/>
    <p:sldId id="335" r:id="rId19"/>
    <p:sldId id="336" r:id="rId20"/>
    <p:sldId id="337" r:id="rId21"/>
    <p:sldId id="338" r:id="rId22"/>
    <p:sldId id="339" r:id="rId23"/>
    <p:sldId id="355" r:id="rId24"/>
    <p:sldId id="361" r:id="rId25"/>
    <p:sldId id="307" r:id="rId26"/>
    <p:sldId id="308" r:id="rId27"/>
    <p:sldId id="356" r:id="rId28"/>
    <p:sldId id="357" r:id="rId29"/>
    <p:sldId id="358" r:id="rId30"/>
    <p:sldId id="359" r:id="rId31"/>
    <p:sldId id="362" r:id="rId32"/>
    <p:sldId id="314" r:id="rId33"/>
    <p:sldId id="315" r:id="rId34"/>
    <p:sldId id="316" r:id="rId35"/>
    <p:sldId id="317" r:id="rId36"/>
    <p:sldId id="318" r:id="rId37"/>
    <p:sldId id="319" r:id="rId38"/>
    <p:sldId id="320" r:id="rId39"/>
    <p:sldId id="321" r:id="rId40"/>
    <p:sldId id="360" r:id="rId41"/>
    <p:sldId id="273" r:id="rId42"/>
    <p:sldId id="274" r:id="rId43"/>
    <p:sldId id="275" r:id="rId44"/>
    <p:sldId id="276" r:id="rId45"/>
    <p:sldId id="305" r:id="rId46"/>
    <p:sldId id="278" r:id="rId47"/>
    <p:sldId id="279" r:id="rId48"/>
    <p:sldId id="280" r:id="rId49"/>
    <p:sldId id="283" r:id="rId50"/>
    <p:sldId id="281" r:id="rId51"/>
    <p:sldId id="282" r:id="rId5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A7D8"/>
    <a:srgbClr val="EEEDEA"/>
    <a:srgbClr val="ABA4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D0F1E9-AF0F-4C81-8842-4B70529A2B50}" v="3" dt="2023-11-29T13:36:12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420" y="15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ael Ericsson" userId="8506a6f4-de41-4831-9818-e418b33149bf" providerId="ADAL" clId="{AF7E3804-2573-4666-85CC-D74625775505}"/>
    <pc:docChg chg="addSld delSld modSld sldOrd">
      <pc:chgData name="Mikael Ericsson" userId="8506a6f4-de41-4831-9818-e418b33149bf" providerId="ADAL" clId="{AF7E3804-2573-4666-85CC-D74625775505}" dt="2019-11-27T10:14:19.818" v="3" actId="47"/>
      <pc:docMkLst>
        <pc:docMk/>
      </pc:docMkLst>
      <pc:sldChg chg="del">
        <pc:chgData name="Mikael Ericsson" userId="8506a6f4-de41-4831-9818-e418b33149bf" providerId="ADAL" clId="{AF7E3804-2573-4666-85CC-D74625775505}" dt="2019-11-27T10:14:19.818" v="3" actId="47"/>
        <pc:sldMkLst>
          <pc:docMk/>
          <pc:sldMk cId="1398477528" sldId="313"/>
        </pc:sldMkLst>
      </pc:sldChg>
      <pc:sldChg chg="ord">
        <pc:chgData name="Mikael Ericsson" userId="8506a6f4-de41-4831-9818-e418b33149bf" providerId="ADAL" clId="{AF7E3804-2573-4666-85CC-D74625775505}" dt="2019-11-27T10:01:27.213" v="1"/>
        <pc:sldMkLst>
          <pc:docMk/>
          <pc:sldMk cId="2815153348" sldId="361"/>
        </pc:sldMkLst>
      </pc:sldChg>
      <pc:sldChg chg="add">
        <pc:chgData name="Mikael Ericsson" userId="8506a6f4-de41-4831-9818-e418b33149bf" providerId="ADAL" clId="{AF7E3804-2573-4666-85CC-D74625775505}" dt="2019-11-27T10:14:10.552" v="2"/>
        <pc:sldMkLst>
          <pc:docMk/>
          <pc:sldMk cId="1312272434" sldId="362"/>
        </pc:sldMkLst>
      </pc:sldChg>
    </pc:docChg>
  </pc:docChgLst>
  <pc:docChgLst>
    <pc:chgData name="Mikael Ericsson" userId="8506a6f4-de41-4831-9818-e418b33149bf" providerId="ADAL" clId="{5FA8B8D1-F6D3-4121-B760-7493728E3EB9}"/>
    <pc:docChg chg="modSld sldOrd">
      <pc:chgData name="Mikael Ericsson" userId="8506a6f4-de41-4831-9818-e418b33149bf" providerId="ADAL" clId="{5FA8B8D1-F6D3-4121-B760-7493728E3EB9}" dt="2021-11-30T11:06:11.139" v="1"/>
      <pc:docMkLst>
        <pc:docMk/>
      </pc:docMkLst>
      <pc:sldChg chg="ord">
        <pc:chgData name="Mikael Ericsson" userId="8506a6f4-de41-4831-9818-e418b33149bf" providerId="ADAL" clId="{5FA8B8D1-F6D3-4121-B760-7493728E3EB9}" dt="2021-11-30T11:06:11.139" v="1"/>
        <pc:sldMkLst>
          <pc:docMk/>
          <pc:sldMk cId="0" sldId="279"/>
        </pc:sldMkLst>
      </pc:sldChg>
    </pc:docChg>
  </pc:docChgLst>
  <pc:docChgLst>
    <pc:chgData name="Mikael Ericsson (HV)" userId="8506a6f4-de41-4831-9818-e418b33149bf" providerId="ADAL" clId="{0FD0F1E9-AF0F-4C81-8842-4B70529A2B50}"/>
    <pc:docChg chg="modSld">
      <pc:chgData name="Mikael Ericsson (HV)" userId="8506a6f4-de41-4831-9818-e418b33149bf" providerId="ADAL" clId="{0FD0F1E9-AF0F-4C81-8842-4B70529A2B50}" dt="2023-11-29T13:36:12.752" v="2" actId="20577"/>
      <pc:docMkLst>
        <pc:docMk/>
      </pc:docMkLst>
      <pc:sldChg chg="modSp">
        <pc:chgData name="Mikael Ericsson (HV)" userId="8506a6f4-de41-4831-9818-e418b33149bf" providerId="ADAL" clId="{0FD0F1E9-AF0F-4C81-8842-4B70529A2B50}" dt="2023-11-29T13:36:12.752" v="2" actId="20577"/>
        <pc:sldMkLst>
          <pc:docMk/>
          <pc:sldMk cId="1724865148" sldId="359"/>
        </pc:sldMkLst>
        <pc:spChg chg="mod">
          <ac:chgData name="Mikael Ericsson (HV)" userId="8506a6f4-de41-4831-9818-e418b33149bf" providerId="ADAL" clId="{0FD0F1E9-AF0F-4C81-8842-4B70529A2B50}" dt="2023-11-29T13:36:12.752" v="2" actId="20577"/>
          <ac:spMkLst>
            <pc:docMk/>
            <pc:sldMk cId="1724865148" sldId="359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4E0004-B523-456F-8AC7-939D8383A8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42EF5B-388E-4E86-8C56-1A81C49E24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F77A5-5E42-4F98-A643-33BAEE904C7F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F5ECF8-B044-4644-AD5E-4556537580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CF29D-6C23-4296-8438-920C7DED3C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40CDA-AD7C-44DC-87B6-55048261C9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741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5A205-3278-47C8-8EC8-4D3E882CAECB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6C585-E335-4295-983B-0D9A636A24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4433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C20B06-55D4-430E-A80F-FC7399CD1322}" type="slidenum">
              <a:rPr lang="en-US"/>
              <a:pPr/>
              <a:t>1</a:t>
            </a:fld>
            <a:endParaRPr lang="en-US"/>
          </a:p>
        </p:txBody>
      </p:sp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744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90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D6AB709-A509-4A50-A666-C9E285C5E4E5}" type="slidenum">
              <a:rPr lang="en-GB"/>
              <a:pPr eaLnBrk="1" hangingPunct="1"/>
              <a:t>7</a:t>
            </a:fld>
            <a:endParaRPr lang="en-GB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423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C67FDD-2013-4428-A033-847797CA321D}" type="slidenum">
              <a:rPr lang="en-GB"/>
              <a:pPr/>
              <a:t>12</a:t>
            </a:fld>
            <a:endParaRPr lang="en-GB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64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F9CEFA-ADC6-4AAC-B7B5-6C191671E3DE}" type="slidenum">
              <a:rPr lang="en-GB"/>
              <a:pPr/>
              <a:t>13</a:t>
            </a:fld>
            <a:endParaRPr lang="en-GB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5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E398E0-78C5-4511-BAEE-7EEB4E934C5B}" type="slidenum">
              <a:rPr lang="en-GB"/>
              <a:pPr/>
              <a:t>14</a:t>
            </a:fld>
            <a:endParaRPr lang="en-GB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910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E47A39-ECB9-46E4-B559-CB7647803A50}" type="slidenum">
              <a:rPr lang="en-GB"/>
              <a:pPr/>
              <a:t>15</a:t>
            </a:fld>
            <a:endParaRPr lang="en-GB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887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00C3310-B45C-40FA-8ED9-70BF25DCB0A7}" type="slidenum">
              <a:rPr lang="en-GB"/>
              <a:pPr/>
              <a:t>16</a:t>
            </a:fld>
            <a:endParaRPr lang="en-GB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0064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4570BB-E5D5-40E1-A332-A16A8C7A6E1D}" type="slidenum">
              <a:rPr lang="en-GB"/>
              <a:pPr/>
              <a:t>17</a:t>
            </a:fld>
            <a:endParaRPr lang="en-GB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99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D3FA57-F1D7-42AD-AE59-C98385ED273C}" type="slidenum">
              <a:rPr lang="en-GB"/>
              <a:pPr/>
              <a:t>18</a:t>
            </a:fld>
            <a:endParaRPr lang="en-GB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85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99505C-A299-4152-9B1B-37ADE790AADC}" type="slidenum">
              <a:rPr lang="en-GB"/>
              <a:pPr/>
              <a:t>19</a:t>
            </a:fld>
            <a:endParaRPr lang="en-GB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702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47A7E9-B565-4520-86F2-CAD937D054F0}" type="slidenum">
              <a:rPr lang="en-GB"/>
              <a:pPr/>
              <a:t>20</a:t>
            </a:fld>
            <a:endParaRPr lang="en-GB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47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4EBDCA-BD68-4954-B809-EB01DF859A71}" type="slidenum">
              <a:rPr lang="en-GB"/>
              <a:pPr/>
              <a:t>21</a:t>
            </a:fld>
            <a:endParaRPr lang="en-GB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475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66C142-17A7-4AF9-8794-171593CB0628}" type="slidenum">
              <a:rPr lang="en-GB"/>
              <a:pPr/>
              <a:t>22</a:t>
            </a:fld>
            <a:endParaRPr lang="en-GB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895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41FCDA-6913-451F-9D1F-EE8705CAE44F}" type="slidenum">
              <a:rPr lang="en-GB"/>
              <a:pPr/>
              <a:t>41</a:t>
            </a:fld>
            <a:endParaRPr lang="en-GB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0056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E6129C-DC72-486E-B145-C63001FE2EA9}" type="slidenum">
              <a:rPr lang="en-GB"/>
              <a:pPr/>
              <a:t>42</a:t>
            </a:fld>
            <a:endParaRPr lang="en-GB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8742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C765D9-DD63-4953-BA80-2F968EC4B0CA}" type="slidenum">
              <a:rPr lang="en-GB"/>
              <a:pPr/>
              <a:t>43</a:t>
            </a:fld>
            <a:endParaRPr lang="en-GB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395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68272F-428C-4984-8DA9-8E2CF07239F0}" type="slidenum">
              <a:rPr lang="en-GB"/>
              <a:pPr/>
              <a:t>44</a:t>
            </a:fld>
            <a:endParaRPr lang="en-GB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397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04D0BD-990B-4BA9-9C0F-A696036980F3}" type="slidenum">
              <a:rPr lang="en-GB"/>
              <a:pPr/>
              <a:t>46</a:t>
            </a:fld>
            <a:endParaRPr lang="en-GB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5752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AE5E0D-FE34-4BC1-B6EC-AC4F8D9CFAAE}" type="slidenum">
              <a:rPr lang="en-GB"/>
              <a:pPr/>
              <a:t>47</a:t>
            </a:fld>
            <a:endParaRPr lang="en-GB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014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553AD1-102E-4B73-B8C0-1F59D1F12992}" type="slidenum">
              <a:rPr lang="en-GB"/>
              <a:pPr/>
              <a:t>50</a:t>
            </a:fld>
            <a:endParaRPr lang="en-GB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609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03ABAE-97C0-457B-97E5-6A027D386572}" type="slidenum">
              <a:rPr lang="en-GB"/>
              <a:pPr/>
              <a:t>51</a:t>
            </a:fld>
            <a:endParaRPr lang="en-GB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96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EAD0B3-B745-4611-A9A9-2F5BB6881C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96" y="2263441"/>
            <a:ext cx="1962147" cy="101065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48DBAE3-A1FD-4D39-B069-FA9859310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0700" y="2103437"/>
            <a:ext cx="8243204" cy="1325563"/>
          </a:xfrm>
          <a:prstGeom prst="rect">
            <a:avLst/>
          </a:prstGeom>
        </p:spPr>
        <p:txBody>
          <a:bodyPr/>
          <a:lstStyle>
            <a:lvl1pPr>
              <a:defRPr lang="en-GB" sz="6000" b="1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2167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22F4652-B182-4CFE-AA63-FCF9837521BB}"/>
              </a:ext>
            </a:extLst>
          </p:cNvPr>
          <p:cNvSpPr/>
          <p:nvPr userDrawn="1"/>
        </p:nvSpPr>
        <p:spPr>
          <a:xfrm>
            <a:off x="200527" y="180975"/>
            <a:ext cx="11798968" cy="6477000"/>
          </a:xfrm>
          <a:prstGeom prst="rect">
            <a:avLst/>
          </a:prstGeom>
          <a:solidFill>
            <a:srgbClr val="EEEDE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326772-C746-4FF1-914C-DB96B119C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926" y="2028825"/>
            <a:ext cx="9565106" cy="13255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6000" b="1">
                <a:latin typeface="Arial" panose="020B0604020202020204" pitchFamily="34" charset="0"/>
                <a:cs typeface="Arial" panose="020B0604020202020204" pitchFamily="34" charset="0"/>
              </a:rPr>
              <a:t>Click to edit Master title style</a:t>
            </a:r>
            <a:endParaRPr lang="sv-SE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7B268B-2024-4110-A671-5DB4A607F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5926" y="3008814"/>
            <a:ext cx="9565106" cy="82132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B49FA9-27AB-4584-B0BD-C035080AF7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1" y="503030"/>
            <a:ext cx="1962147" cy="101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138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AB6DB9-DE26-4168-B721-E05B37FB71AA}"/>
              </a:ext>
            </a:extLst>
          </p:cNvPr>
          <p:cNvSpPr/>
          <p:nvPr userDrawn="1"/>
        </p:nvSpPr>
        <p:spPr>
          <a:xfrm>
            <a:off x="200527" y="180975"/>
            <a:ext cx="11798968" cy="6477000"/>
          </a:xfrm>
          <a:prstGeom prst="rect">
            <a:avLst/>
          </a:prstGeom>
          <a:solidFill>
            <a:srgbClr val="3CA7D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87FB0C2-720F-4042-B9C2-176BCE19D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926" y="2028825"/>
            <a:ext cx="9565106" cy="13255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to edit Master title style</a:t>
            </a:r>
            <a:endParaRPr lang="sv-SE" sz="6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DD5B1C6-B73D-43CE-AAB8-17E66BBE9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5926" y="3008814"/>
            <a:ext cx="9565106" cy="82132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B57918-C8DF-4106-9EB4-B805676FD9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1" y="503030"/>
            <a:ext cx="1962147" cy="101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766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243E18-E6E9-4740-B3B6-9DBAD0E6CF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" r="4968" b="21982"/>
          <a:stretch/>
        </p:blipFill>
        <p:spPr>
          <a:xfrm>
            <a:off x="200527" y="180975"/>
            <a:ext cx="11808000" cy="6444000"/>
          </a:xfrm>
          <a:prstGeom prst="rect">
            <a:avLst/>
          </a:prstGeom>
          <a:effectLst/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ED5832C-A4F1-48D7-B7AC-1028B67B4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926" y="2028825"/>
            <a:ext cx="9565106" cy="13255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6000" b="1">
                <a:latin typeface="Arial" panose="020B0604020202020204" pitchFamily="34" charset="0"/>
                <a:cs typeface="Arial" panose="020B0604020202020204" pitchFamily="34" charset="0"/>
              </a:rPr>
              <a:t>Click to edit Master title style</a:t>
            </a:r>
            <a:endParaRPr lang="sv-SE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7340EA7-83E4-4F9B-BB41-D4EBCE745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5926" y="3008814"/>
            <a:ext cx="9565106" cy="82132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CD4371-D33C-46E4-9463-10C286E2D3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1" y="503030"/>
            <a:ext cx="1962147" cy="101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453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BF74AE2-F013-4FB5-82E4-C64B2B2488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3127" y="2110183"/>
            <a:ext cx="5609724" cy="13255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sz="4800" b="1" noProof="0">
                <a:latin typeface="Arial" panose="020B0604020202020204" pitchFamily="34" charset="0"/>
                <a:cs typeface="Arial" panose="020B0604020202020204" pitchFamily="34" charset="0"/>
              </a:rPr>
              <a:t>KAPITELRUBRIK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71E7D52-A2B5-48C6-AF36-929C44E17D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3127" y="3001542"/>
            <a:ext cx="5609724" cy="82132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noProof="0">
                <a:latin typeface="Arial" panose="020B0604020202020204" pitchFamily="34" charset="0"/>
                <a:cs typeface="Arial" panose="020B0604020202020204" pitchFamily="34" charset="0"/>
              </a:rPr>
              <a:t>En kompletterande underrubrik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5526A0-0734-48A4-8CDD-DB49AC5A8A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1" y="503030"/>
            <a:ext cx="1962147" cy="101065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012AB4E-2134-46B9-81B3-2E055B5209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5516563" cy="6858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08659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7905A6-66ED-4853-83ED-22017B2A45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3127" y="2110183"/>
            <a:ext cx="5609724" cy="13255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sz="4800" b="1" noProof="0">
                <a:latin typeface="Arial" panose="020B0604020202020204" pitchFamily="34" charset="0"/>
                <a:cs typeface="Arial" panose="020B0604020202020204" pitchFamily="34" charset="0"/>
              </a:rPr>
              <a:t>HUVUDRUBRIK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92C2B7-72A1-4B92-A52A-922DB462ED3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5763127" y="3230142"/>
            <a:ext cx="5609724" cy="277060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sz="2000" noProof="0">
                <a:latin typeface="Arial" panose="020B0604020202020204" pitchFamily="34" charset="0"/>
                <a:cs typeface="Arial" panose="020B0604020202020204" pitchFamily="34" charset="0"/>
              </a:rPr>
              <a:t>En punktlista ser ut så här</a:t>
            </a:r>
          </a:p>
          <a:p>
            <a:r>
              <a:rPr lang="en-GB" sz="2000" noProof="0">
                <a:latin typeface="Arial" panose="020B0604020202020204" pitchFamily="34" charset="0"/>
                <a:cs typeface="Arial" panose="020B0604020202020204" pitchFamily="34" charset="0"/>
              </a:rPr>
              <a:t>En punktlista ser ut så här</a:t>
            </a:r>
          </a:p>
          <a:p>
            <a:r>
              <a:rPr lang="en-GB" sz="2000" noProof="0">
                <a:latin typeface="Arial" panose="020B0604020202020204" pitchFamily="34" charset="0"/>
                <a:cs typeface="Arial" panose="020B0604020202020204" pitchFamily="34" charset="0"/>
              </a:rPr>
              <a:t>En punktlista ser ut så här</a:t>
            </a:r>
          </a:p>
          <a:p>
            <a:r>
              <a:rPr lang="en-GB" sz="2000" noProof="0">
                <a:latin typeface="Arial" panose="020B0604020202020204" pitchFamily="34" charset="0"/>
                <a:cs typeface="Arial" panose="020B0604020202020204" pitchFamily="34" charset="0"/>
              </a:rPr>
              <a:t>En punktlista ser ut så här</a:t>
            </a:r>
          </a:p>
          <a:p>
            <a:endParaRPr lang="en-GB" sz="2000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B90450-A545-4EB2-9D32-B9CC32AC6F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1" y="503030"/>
            <a:ext cx="1962147" cy="101065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1C8888-C427-4480-8AD8-99BCB7EEEE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610225" cy="6858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5978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fld id="{039DC1CA-20DE-4541-BB58-4FE43B8F71F8}" type="datetimeFigureOut">
              <a:rPr lang="en-GB" noProof="0" smtClean="0"/>
              <a:pPr/>
              <a:t>29/11/2023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endParaRPr lang="en-GB" noProof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6DFDCF-1207-4046-8F6B-B79B16D560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86901" y="2020256"/>
            <a:ext cx="8533399" cy="13255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sz="6000" b="1" noProof="0">
                <a:latin typeface="Arial" panose="020B0604020202020204" pitchFamily="34" charset="0"/>
                <a:cs typeface="Arial" panose="020B0604020202020204" pitchFamily="34" charset="0"/>
              </a:rPr>
              <a:t>KAPITELRUBRIK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B43C12-3BFB-4075-AA7A-BA1AB025B6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86901" y="3106316"/>
            <a:ext cx="7561849" cy="2275309"/>
          </a:xfrm>
          <a:prstGeom prst="rect">
            <a:avLst/>
          </a:prstGeo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GB" sz="2000" noProof="0">
                <a:latin typeface="Arial" panose="020B0604020202020204" pitchFamily="34" charset="0"/>
                <a:cs typeface="Arial" panose="020B0604020202020204" pitchFamily="34" charset="0"/>
              </a:rPr>
              <a:t>Exempel på löpande text. Försök att hålla det kort och överskådligt. Tänk på att texten ska vara ett stöd till den muntliga presentationen.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4086BE-C5CF-4913-99C4-568C10F13E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1" y="503030"/>
            <a:ext cx="1962147" cy="1010650"/>
          </a:xfrm>
          <a:prstGeom prst="rect">
            <a:avLst/>
          </a:prstGeom>
        </p:spPr>
      </p:pic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05266861-0766-4044-82D1-C6CE01181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81D9E79E-0AEB-406F-81EF-A9FFB7B4B25B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40432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36B980-2509-4A78-A4DF-2FFDFC268E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1" y="503030"/>
            <a:ext cx="1962147" cy="101065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72BDFF6-4D02-4538-9F0F-B33661EB8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13947" cy="115887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34D2F2E6-F10D-4713-9B05-D3E5F64395C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6968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36B980-2509-4A78-A4DF-2FFDFC268E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1" y="503030"/>
            <a:ext cx="1962147" cy="101065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72BDFF6-4D02-4538-9F0F-B33661EB8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13947" cy="115887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70EBB-D1D3-45D5-BF99-F6E6EF072A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893888"/>
            <a:ext cx="10801350" cy="44608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97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D248F2-B1AA-48B7-BEA9-5D9855CDA3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1" y="503030"/>
            <a:ext cx="1962147" cy="1010650"/>
          </a:xfrm>
          <a:prstGeom prst="rect">
            <a:avLst/>
          </a:prstGeom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5D3DA8E7-073A-4B30-AC24-0FF3DDD2A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13947" cy="115887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8136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A5AE097-AEFF-4B61-8707-219F809D1F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1" y="503030"/>
            <a:ext cx="1962147" cy="101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151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5651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8062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36306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9DB89D-155F-4F81-991E-37A9A84925D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89140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59E6035F-AB50-4FFC-935F-19D76D0410AD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998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6D25F4-8AC7-45AD-89A5-143DB45A0F1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9429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88583536-EFF6-4AFC-AAA5-A6EDDBA519BD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670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5370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50" r:id="rId7"/>
    <p:sldLayoutId id="2147483678" r:id="rId8"/>
    <p:sldLayoutId id="2147483679" r:id="rId9"/>
    <p:sldLayoutId id="2147483652" r:id="rId10"/>
    <p:sldLayoutId id="2147483654" r:id="rId11"/>
    <p:sldLayoutId id="2147483655" r:id="rId12"/>
    <p:sldLayoutId id="2147483656" r:id="rId13"/>
    <p:sldLayoutId id="2147483657" r:id="rId14"/>
    <p:sldLayoutId id="2147483680" r:id="rId15"/>
    <p:sldLayoutId id="2147483681" r:id="rId16"/>
    <p:sldLayoutId id="2147483682" r:id="rId17"/>
    <p:sldLayoutId id="2147483683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16.xml"/><Relationship Id="rId5" Type="http://schemas.openxmlformats.org/officeDocument/2006/relationships/oleObject" Target="../embeddings/oleObject3.bin"/><Relationship Id="rId4" Type="http://schemas.openxmlformats.org/officeDocument/2006/relationships/image" Target="../media/image19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6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8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0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32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14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9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39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2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wmf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13" Type="http://schemas.openxmlformats.org/officeDocument/2006/relationships/image" Target="../media/image54.wmf"/><Relationship Id="rId3" Type="http://schemas.openxmlformats.org/officeDocument/2006/relationships/image" Target="../media/image45.emf"/><Relationship Id="rId7" Type="http://schemas.openxmlformats.org/officeDocument/2006/relationships/image" Target="../media/image49.emf"/><Relationship Id="rId12" Type="http://schemas.openxmlformats.org/officeDocument/2006/relationships/oleObject" Target="../embeddings/oleObject21.bin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.emf"/><Relationship Id="rId11" Type="http://schemas.openxmlformats.org/officeDocument/2006/relationships/image" Target="../media/image53.emf"/><Relationship Id="rId5" Type="http://schemas.openxmlformats.org/officeDocument/2006/relationships/image" Target="../media/image47.emf"/><Relationship Id="rId10" Type="http://schemas.openxmlformats.org/officeDocument/2006/relationships/image" Target="../media/image52.emf"/><Relationship Id="rId4" Type="http://schemas.openxmlformats.org/officeDocument/2006/relationships/image" Target="../media/image46.emf"/><Relationship Id="rId9" Type="http://schemas.openxmlformats.org/officeDocument/2006/relationships/image" Target="../media/image51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image" Target="../media/image56.wmf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7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8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59.wmf"/><Relationship Id="rId4" Type="http://schemas.openxmlformats.org/officeDocument/2006/relationships/oleObject" Target="../embeddings/oleObject24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13" Type="http://schemas.openxmlformats.org/officeDocument/2006/relationships/image" Target="../media/image73.emf"/><Relationship Id="rId3" Type="http://schemas.openxmlformats.org/officeDocument/2006/relationships/image" Target="../media/image63.emf"/><Relationship Id="rId7" Type="http://schemas.openxmlformats.org/officeDocument/2006/relationships/image" Target="../media/image67.emf"/><Relationship Id="rId12" Type="http://schemas.openxmlformats.org/officeDocument/2006/relationships/image" Target="../media/image72.emf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6.emf"/><Relationship Id="rId11" Type="http://schemas.openxmlformats.org/officeDocument/2006/relationships/image" Target="../media/image71.emf"/><Relationship Id="rId5" Type="http://schemas.openxmlformats.org/officeDocument/2006/relationships/image" Target="../media/image65.emf"/><Relationship Id="rId10" Type="http://schemas.openxmlformats.org/officeDocument/2006/relationships/image" Target="../media/image70.emf"/><Relationship Id="rId4" Type="http://schemas.openxmlformats.org/officeDocument/2006/relationships/image" Target="../media/image64.emf"/><Relationship Id="rId9" Type="http://schemas.openxmlformats.org/officeDocument/2006/relationships/image" Target="../media/image69.emf"/><Relationship Id="rId14" Type="http://schemas.openxmlformats.org/officeDocument/2006/relationships/image" Target="../media/image74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7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Vision lecture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Edge detection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/>
              <a:t>Edges are local changes in image intensity</a:t>
            </a:r>
          </a:p>
          <a:p>
            <a:pPr eaLnBrk="1" hangingPunct="1"/>
            <a:r>
              <a:rPr lang="en-GB"/>
              <a:t>Can be used to separate the object from the background</a:t>
            </a:r>
          </a:p>
          <a:p>
            <a:pPr eaLnBrk="1" hangingPunct="1"/>
            <a:r>
              <a:rPr lang="en-GB"/>
              <a:t>In one dimension a edge is associated with a local peak in the first derivate</a:t>
            </a:r>
          </a:p>
        </p:txBody>
      </p:sp>
    </p:spTree>
    <p:extLst>
      <p:ext uri="{BB962C8B-B14F-4D97-AF65-F5344CB8AC3E}">
        <p14:creationId xmlns:p14="http://schemas.microsoft.com/office/powerpoint/2010/main" val="2970464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Edges in image</a:t>
            </a:r>
          </a:p>
        </p:txBody>
      </p:sp>
      <p:pic>
        <p:nvPicPr>
          <p:cNvPr id="20483" name="Picture 12" descr="SQUARE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000375" y="1773239"/>
            <a:ext cx="1944688" cy="1944687"/>
          </a:xfrm>
          <a:noFill/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456364" y="1628776"/>
            <a:ext cx="3868737" cy="4824413"/>
            <a:chOff x="567" y="981"/>
            <a:chExt cx="2437" cy="3039"/>
          </a:xfrm>
        </p:grpSpPr>
        <p:pic>
          <p:nvPicPr>
            <p:cNvPr id="20486" name="Picture 4" descr="indipimg6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67" y="2603"/>
              <a:ext cx="2437" cy="14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487" name="Picture 5" descr="indipimg6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67" y="981"/>
              <a:ext cx="2437" cy="14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0485" name="Picture 14" descr="square_edge2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3000375" y="4581525"/>
            <a:ext cx="1943100" cy="1943100"/>
          </a:xfrm>
          <a:noFill/>
        </p:spPr>
      </p:pic>
      <p:cxnSp>
        <p:nvCxnSpPr>
          <p:cNvPr id="4" name="Straight Connector 3"/>
          <p:cNvCxnSpPr>
            <a:stCxn id="20483" idx="1"/>
          </p:cNvCxnSpPr>
          <p:nvPr/>
        </p:nvCxnSpPr>
        <p:spPr bwMode="auto">
          <a:xfrm>
            <a:off x="3000376" y="2745582"/>
            <a:ext cx="1007393" cy="2380"/>
          </a:xfrm>
          <a:prstGeom prst="line">
            <a:avLst/>
          </a:prstGeom>
          <a:solidFill>
            <a:schemeClr val="accent1"/>
          </a:solidFill>
          <a:ln w="50800" cap="flat" cmpd="sng" algn="ctr">
            <a:gradFill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/>
          <p:cNvCxnSpPr/>
          <p:nvPr/>
        </p:nvCxnSpPr>
        <p:spPr bwMode="auto">
          <a:xfrm>
            <a:off x="2997101" y="5589240"/>
            <a:ext cx="1007393" cy="2380"/>
          </a:xfrm>
          <a:prstGeom prst="line">
            <a:avLst/>
          </a:prstGeom>
          <a:solidFill>
            <a:schemeClr val="accent1"/>
          </a:solidFill>
          <a:ln w="50800" cap="flat" cmpd="sng" algn="ctr">
            <a:gradFill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2856000" y="6268522"/>
            <a:ext cx="2303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Search direction </a:t>
            </a:r>
            <a:r>
              <a:rPr lang="en-GB" dirty="0">
                <a:sym typeface="Wingdings" pitchFamily="2" charset="2"/>
              </a:rPr>
              <a:t></a:t>
            </a:r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2936967" y="3356992"/>
            <a:ext cx="2303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Search direction </a:t>
            </a:r>
            <a:r>
              <a:rPr lang="en-GB" dirty="0">
                <a:sym typeface="Wingdings" pitchFamily="2" charset="2"/>
              </a:rPr>
              <a:t>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1239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Edge filters - example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992314" y="1557339"/>
            <a:ext cx="5832475" cy="3132137"/>
            <a:chOff x="295" y="981"/>
            <a:chExt cx="3674" cy="1973"/>
          </a:xfrm>
        </p:grpSpPr>
        <p:pic>
          <p:nvPicPr>
            <p:cNvPr id="21511" name="Picture 3" descr="airco_left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" y="981"/>
              <a:ext cx="2630" cy="1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12" name="Text Box 9"/>
            <p:cNvSpPr txBox="1">
              <a:spLocks noChangeArrowheads="1"/>
            </p:cNvSpPr>
            <p:nvPr/>
          </p:nvSpPr>
          <p:spPr bwMode="auto">
            <a:xfrm>
              <a:off x="2925" y="1253"/>
              <a:ext cx="10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/>
                <a:t>Original image</a:t>
              </a: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4727576" y="3482976"/>
            <a:ext cx="5673725" cy="3121025"/>
            <a:chOff x="2018" y="2194"/>
            <a:chExt cx="3574" cy="1966"/>
          </a:xfrm>
        </p:grpSpPr>
        <p:pic>
          <p:nvPicPr>
            <p:cNvPr id="21509" name="Picture 6" descr="airco_sobelal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1" y="2194"/>
              <a:ext cx="2621" cy="1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10" name="Text Box 10"/>
            <p:cNvSpPr txBox="1">
              <a:spLocks noChangeArrowheads="1"/>
            </p:cNvSpPr>
            <p:nvPr/>
          </p:nvSpPr>
          <p:spPr bwMode="auto">
            <a:xfrm>
              <a:off x="2018" y="3612"/>
              <a:ext cx="8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/>
                <a:t>Edge image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942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Sobel operator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 eaLnBrk="1" hangingPunct="1"/>
            <a:r>
              <a:rPr lang="en-GB"/>
              <a:t>One of the most common used edge detectors</a:t>
            </a:r>
          </a:p>
        </p:txBody>
      </p:sp>
      <p:graphicFrame>
        <p:nvGraphicFramePr>
          <p:cNvPr id="7170" name="Object 6"/>
          <p:cNvGraphicFramePr>
            <a:graphicFrameLocks noChangeAspect="1"/>
          </p:cNvGraphicFramePr>
          <p:nvPr/>
        </p:nvGraphicFramePr>
        <p:xfrm>
          <a:off x="2782889" y="2708275"/>
          <a:ext cx="6696075" cy="383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82880" imgH="1650960" progId="Equation.DSMT4">
                  <p:embed/>
                </p:oleObj>
              </mc:Choice>
              <mc:Fallback>
                <p:oleObj name="Equation" r:id="rId2" imgW="2882880" imgH="1650960" progId="Equation.DSMT4">
                  <p:embed/>
                  <p:pic>
                    <p:nvPicPr>
                      <p:cNvPr id="71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2708275"/>
                        <a:ext cx="6696075" cy="383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2230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GB"/>
              <a:t>Sobel filter - example</a:t>
            </a:r>
          </a:p>
        </p:txBody>
      </p:sp>
      <p:pic>
        <p:nvPicPr>
          <p:cNvPr id="22531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63678" y="1333500"/>
            <a:ext cx="5976938" cy="51593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77560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Sobel filter</a:t>
            </a:r>
          </a:p>
        </p:txBody>
      </p:sp>
      <p:pic>
        <p:nvPicPr>
          <p:cNvPr id="23555" name="Picture 3" descr="SOBEL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026" y="2924176"/>
            <a:ext cx="1096963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4" descr="SOBEL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801" y="2924176"/>
            <a:ext cx="1096963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5" descr="SOBELAL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276" y="5211763"/>
            <a:ext cx="1096963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6" descr="SOBELX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576" y="2925764"/>
            <a:ext cx="1095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7" descr="SOBELY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263" y="2924176"/>
            <a:ext cx="1096962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560" name="Group 8"/>
          <p:cNvGrpSpPr>
            <a:grpSpLocks/>
          </p:cNvGrpSpPr>
          <p:nvPr/>
        </p:nvGrpSpPr>
        <p:grpSpPr bwMode="auto">
          <a:xfrm>
            <a:off x="5375275" y="1412875"/>
            <a:ext cx="1296988" cy="1295400"/>
            <a:chOff x="1519" y="890"/>
            <a:chExt cx="817" cy="816"/>
          </a:xfrm>
        </p:grpSpPr>
        <p:sp>
          <p:nvSpPr>
            <p:cNvPr id="23567" name="Rectangle 9"/>
            <p:cNvSpPr>
              <a:spLocks noChangeArrowheads="1"/>
            </p:cNvSpPr>
            <p:nvPr/>
          </p:nvSpPr>
          <p:spPr bwMode="auto">
            <a:xfrm>
              <a:off x="1519" y="890"/>
              <a:ext cx="817" cy="81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3568" name="Picture 10" descr="FILTTES2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5" y="935"/>
              <a:ext cx="726" cy="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561" name="Text Box 11"/>
          <p:cNvSpPr txBox="1">
            <a:spLocks noChangeArrowheads="1"/>
          </p:cNvSpPr>
          <p:nvPr/>
        </p:nvSpPr>
        <p:spPr bwMode="auto">
          <a:xfrm>
            <a:off x="6672263" y="1773238"/>
            <a:ext cx="165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/>
              <a:t>Original image</a:t>
            </a:r>
          </a:p>
        </p:txBody>
      </p:sp>
      <p:sp>
        <p:nvSpPr>
          <p:cNvPr id="23562" name="Text Box 12"/>
          <p:cNvSpPr txBox="1">
            <a:spLocks noChangeArrowheads="1"/>
          </p:cNvSpPr>
          <p:nvPr/>
        </p:nvSpPr>
        <p:spPr bwMode="auto">
          <a:xfrm>
            <a:off x="8040689" y="4005264"/>
            <a:ext cx="1800225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/>
              <a:t>Diagonal filter, right top to left bottom, S</a:t>
            </a:r>
            <a:r>
              <a:rPr lang="en-GB" baseline="-25000"/>
              <a:t>4</a:t>
            </a:r>
          </a:p>
        </p:txBody>
      </p:sp>
      <p:sp>
        <p:nvSpPr>
          <p:cNvPr id="23563" name="Text Box 13"/>
          <p:cNvSpPr txBox="1">
            <a:spLocks noChangeArrowheads="1"/>
          </p:cNvSpPr>
          <p:nvPr/>
        </p:nvSpPr>
        <p:spPr bwMode="auto">
          <a:xfrm>
            <a:off x="6167439" y="4005264"/>
            <a:ext cx="1800225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/>
              <a:t>Diagonal filter, left top to right bottom, S</a:t>
            </a:r>
            <a:r>
              <a:rPr lang="en-GB" baseline="-25000"/>
              <a:t>3</a:t>
            </a:r>
          </a:p>
        </p:txBody>
      </p:sp>
      <p:sp>
        <p:nvSpPr>
          <p:cNvPr id="23564" name="Text Box 14"/>
          <p:cNvSpPr txBox="1">
            <a:spLocks noChangeArrowheads="1"/>
          </p:cNvSpPr>
          <p:nvPr/>
        </p:nvSpPr>
        <p:spPr bwMode="auto">
          <a:xfrm>
            <a:off x="4583113" y="4005263"/>
            <a:ext cx="1009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/>
              <a:t>Vertical </a:t>
            </a:r>
            <a:br>
              <a:rPr lang="en-GB"/>
            </a:br>
            <a:r>
              <a:rPr lang="en-GB"/>
              <a:t>filter, S</a:t>
            </a:r>
            <a:r>
              <a:rPr lang="en-GB" baseline="-25000"/>
              <a:t>2</a:t>
            </a:r>
          </a:p>
        </p:txBody>
      </p:sp>
      <p:sp>
        <p:nvSpPr>
          <p:cNvPr id="23565" name="Text Box 15"/>
          <p:cNvSpPr txBox="1">
            <a:spLocks noChangeArrowheads="1"/>
          </p:cNvSpPr>
          <p:nvPr/>
        </p:nvSpPr>
        <p:spPr bwMode="auto">
          <a:xfrm>
            <a:off x="2495550" y="4005263"/>
            <a:ext cx="1276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/>
              <a:t>Horizontal </a:t>
            </a:r>
            <a:br>
              <a:rPr lang="en-GB"/>
            </a:br>
            <a:r>
              <a:rPr lang="en-GB"/>
              <a:t>filter, S</a:t>
            </a:r>
            <a:r>
              <a:rPr lang="en-GB" baseline="-25000"/>
              <a:t>1</a:t>
            </a:r>
          </a:p>
        </p:txBody>
      </p:sp>
      <p:sp>
        <p:nvSpPr>
          <p:cNvPr id="23566" name="Text Box 16"/>
          <p:cNvSpPr txBox="1">
            <a:spLocks noChangeArrowheads="1"/>
          </p:cNvSpPr>
          <p:nvPr/>
        </p:nvSpPr>
        <p:spPr bwMode="auto">
          <a:xfrm>
            <a:off x="6456363" y="5284789"/>
            <a:ext cx="12954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/>
              <a:t>Combined maximum image</a:t>
            </a:r>
          </a:p>
        </p:txBody>
      </p:sp>
    </p:spTree>
    <p:extLst>
      <p:ext uri="{BB962C8B-B14F-4D97-AF65-F5344CB8AC3E}">
        <p14:creationId xmlns:p14="http://schemas.microsoft.com/office/powerpoint/2010/main" val="3791271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Second derivative edge filter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en-GB"/>
          </a:p>
          <a:p>
            <a:pPr eaLnBrk="1" hangingPunct="1"/>
            <a:endParaRPr lang="en-GB"/>
          </a:p>
          <a:p>
            <a:pPr eaLnBrk="1" hangingPunct="1"/>
            <a:r>
              <a:rPr lang="en-GB"/>
              <a:t>Laplacian</a:t>
            </a:r>
          </a:p>
          <a:p>
            <a:pPr lvl="1" eaLnBrk="1" hangingPunct="1"/>
            <a:r>
              <a:rPr lang="en-GB"/>
              <a:t>Not frequent due to problems with noise</a:t>
            </a:r>
          </a:p>
          <a:p>
            <a:pPr eaLnBrk="1" hangingPunct="1"/>
            <a:endParaRPr lang="en-GB"/>
          </a:p>
        </p:txBody>
      </p:sp>
      <p:grpSp>
        <p:nvGrpSpPr>
          <p:cNvPr id="8198" name="Group 130"/>
          <p:cNvGrpSpPr>
            <a:grpSpLocks/>
          </p:cNvGrpSpPr>
          <p:nvPr/>
        </p:nvGrpSpPr>
        <p:grpSpPr bwMode="auto">
          <a:xfrm>
            <a:off x="6167438" y="2136776"/>
            <a:ext cx="3402012" cy="2805113"/>
            <a:chOff x="2653" y="1480"/>
            <a:chExt cx="2143" cy="1767"/>
          </a:xfrm>
        </p:grpSpPr>
        <p:pic>
          <p:nvPicPr>
            <p:cNvPr id="8199" name="Picture 12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8" y="1480"/>
              <a:ext cx="1598" cy="1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8194" name="Object 127"/>
            <p:cNvGraphicFramePr>
              <a:graphicFrameLocks noChangeAspect="1"/>
            </p:cNvGraphicFramePr>
            <p:nvPr/>
          </p:nvGraphicFramePr>
          <p:xfrm>
            <a:off x="2653" y="1706"/>
            <a:ext cx="544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42720" imgH="203040" progId="Equation.DSMT4">
                    <p:embed/>
                  </p:oleObj>
                </mc:Choice>
                <mc:Fallback>
                  <p:oleObj name="Equation" r:id="rId3" imgW="342720" imgH="203040" progId="Equation.DSMT4">
                    <p:embed/>
                    <p:pic>
                      <p:nvPicPr>
                        <p:cNvPr id="8194" name="Object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3" y="1706"/>
                          <a:ext cx="544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5" name="Object 128"/>
            <p:cNvGraphicFramePr>
              <a:graphicFrameLocks noChangeAspect="1"/>
            </p:cNvGraphicFramePr>
            <p:nvPr/>
          </p:nvGraphicFramePr>
          <p:xfrm>
            <a:off x="2653" y="2700"/>
            <a:ext cx="544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42720" imgH="203040" progId="Equation.DSMT4">
                    <p:embed/>
                  </p:oleObj>
                </mc:Choice>
                <mc:Fallback>
                  <p:oleObj name="Equation" r:id="rId5" imgW="342720" imgH="203040" progId="Equation.DSMT4">
                    <p:embed/>
                    <p:pic>
                      <p:nvPicPr>
                        <p:cNvPr id="8195" name="Object 1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3" y="2700"/>
                          <a:ext cx="544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68737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Laplacian of Gaussian (LoG)</a:t>
            </a:r>
          </a:p>
        </p:txBody>
      </p:sp>
      <p:graphicFrame>
        <p:nvGraphicFramePr>
          <p:cNvPr id="9218" name="Object 3"/>
          <p:cNvGraphicFramePr>
            <a:graphicFrameLocks noChangeAspect="1"/>
          </p:cNvGraphicFramePr>
          <p:nvPr/>
        </p:nvGraphicFramePr>
        <p:xfrm>
          <a:off x="3000375" y="2000250"/>
          <a:ext cx="6408738" cy="308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93960" imgH="1346040" progId="Equation.DSMT4">
                  <p:embed/>
                </p:oleObj>
              </mc:Choice>
              <mc:Fallback>
                <p:oleObj name="Equation" r:id="rId2" imgW="2793960" imgH="1346040" progId="Equation.DSMT4">
                  <p:embed/>
                  <p:pic>
                    <p:nvPicPr>
                      <p:cNvPr id="921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000250"/>
                        <a:ext cx="6408738" cy="308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7720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6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Mexican hat operator (LoG)</a:t>
            </a:r>
          </a:p>
        </p:txBody>
      </p:sp>
      <p:pic>
        <p:nvPicPr>
          <p:cNvPr id="24579" name="Picture 16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47851" y="1700213"/>
            <a:ext cx="2601913" cy="1244600"/>
          </a:xfrm>
          <a:noFill/>
        </p:spPr>
      </p:pic>
      <p:sp>
        <p:nvSpPr>
          <p:cNvPr id="24580" name="Text Box 169"/>
          <p:cNvSpPr txBox="1">
            <a:spLocks noChangeArrowheads="1"/>
          </p:cNvSpPr>
          <p:nvPr/>
        </p:nvSpPr>
        <p:spPr bwMode="auto">
          <a:xfrm>
            <a:off x="4438650" y="2133601"/>
            <a:ext cx="1047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/>
              <a:t>5x5 LoG</a:t>
            </a:r>
          </a:p>
        </p:txBody>
      </p:sp>
      <p:pic>
        <p:nvPicPr>
          <p:cNvPr id="24581" name="Picture 170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39" r="25117"/>
          <a:stretch>
            <a:fillRect/>
          </a:stretch>
        </p:blipFill>
        <p:spPr>
          <a:xfrm>
            <a:off x="5664200" y="1844676"/>
            <a:ext cx="4554538" cy="4752975"/>
          </a:xfrm>
          <a:noFill/>
        </p:spPr>
      </p:pic>
    </p:spTree>
    <p:extLst>
      <p:ext uri="{BB962C8B-B14F-4D97-AF65-F5344CB8AC3E}">
        <p14:creationId xmlns:p14="http://schemas.microsoft.com/office/powerpoint/2010/main" val="261914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Canny edge detection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en-GB" dirty="0"/>
                  <a:t>Canny three criteria for a good filter</a:t>
                </a:r>
              </a:p>
              <a:p>
                <a:pPr lvl="1"/>
                <a:r>
                  <a:rPr lang="en-GB" dirty="0"/>
                  <a:t>Good detection quality e.g. should have low probability to generate false edges as well as low probability to missing edge points</a:t>
                </a:r>
              </a:p>
              <a:p>
                <a:pPr lvl="1"/>
                <a:r>
                  <a:rPr lang="en-GB" dirty="0"/>
                  <a:t>The filter should have a good localization quality. Found edge should be as close as possible to the correct edge</a:t>
                </a:r>
              </a:p>
              <a:p>
                <a:pPr lvl="1"/>
                <a:r>
                  <a:rPr lang="en-GB" dirty="0"/>
                  <a:t>The edge detector should only return a single edge for each true edge</a:t>
                </a:r>
              </a:p>
              <a:p>
                <a:r>
                  <a:rPr lang="en-GB" dirty="0"/>
                  <a:t>Based on a Gaussian filter operation</a:t>
                </a:r>
              </a:p>
              <a:p>
                <a:endParaRPr lang="en-GB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>
                              <a:latin typeface="Cambria Math"/>
                            </a:rPr>
                            <m:t>𝑔</m:t>
                          </m:r>
                          <m:r>
                            <a:rPr lang="sv-SE" i="1"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sv-SE" i="1">
                              <a:latin typeface="Cambria Math"/>
                              <a:ea typeface="Cambria Math"/>
                            </a:rPr>
                            <m:t>𝜎</m:t>
                          </m:r>
                        </m:sub>
                      </m:sSub>
                      <m:d>
                        <m:d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sv-SE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i="1">
                              <a:latin typeface="Cambria Math"/>
                            </a:rPr>
                            <m:t>−</m:t>
                          </m:r>
                          <m:r>
                            <a:rPr lang="sv-SE" i="1">
                              <a:latin typeface="Cambria Math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sv-SE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sv-SE" i="1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sv-SE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sv-SE" i="1">
                                      <a:latin typeface="Cambria Math"/>
                                      <a:ea typeface="Cambria Math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sv-SE" i="1">
                                      <a:latin typeface="Cambria Math"/>
                                      <a:ea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sv-S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v-SE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sv-SE" i="1">
                                  <a:latin typeface="Cambria Math"/>
                                </a:rPr>
                                <m:t>𝑥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sv-S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sv-SE" i="1">
                                      <a:latin typeface="Cambria Math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sv-SE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sv-SE" i="1">
                                          <a:latin typeface="Cambria Math"/>
                                          <a:ea typeface="Cambria Math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sv-SE" i="1"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1016" t="-2326" r="-7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608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Gaussian smoothing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dirty="0"/>
              <a:t>Advantages of Gaussian filtering</a:t>
            </a:r>
          </a:p>
          <a:p>
            <a:pPr lvl="1" eaLnBrk="1" hangingPunct="1"/>
            <a:r>
              <a:rPr lang="en-GB" dirty="0"/>
              <a:t>Rotationally symmetric (for large filters)</a:t>
            </a:r>
          </a:p>
          <a:p>
            <a:pPr lvl="1" eaLnBrk="1" hangingPunct="1"/>
            <a:r>
              <a:rPr lang="en-GB" dirty="0"/>
              <a:t>Filter weights decrease monotonically from central peak, giving the most weight to central peak.</a:t>
            </a:r>
          </a:p>
          <a:p>
            <a:pPr lvl="1" eaLnBrk="1" hangingPunct="1"/>
            <a:r>
              <a:rPr lang="en-GB" dirty="0"/>
              <a:t>Simple and intuitive relationship between size of </a:t>
            </a:r>
            <a:r>
              <a:rPr lang="en-GB" dirty="0">
                <a:sym typeface="Symbol" pitchFamily="18" charset="2"/>
              </a:rPr>
              <a:t> (standard derivation) </a:t>
            </a:r>
            <a:r>
              <a:rPr lang="en-GB" dirty="0"/>
              <a:t>and size of object whose edges will be detected in image</a:t>
            </a:r>
          </a:p>
          <a:p>
            <a:pPr lvl="1" eaLnBrk="1" hangingPunct="1"/>
            <a:r>
              <a:rPr lang="en-GB" dirty="0"/>
              <a:t>The Gaussian filter is separable</a:t>
            </a:r>
          </a:p>
          <a:p>
            <a:pPr lvl="2" eaLnBrk="1" hangingPunct="1">
              <a:buFontTx/>
              <a:buNone/>
            </a:pPr>
            <a:r>
              <a:rPr lang="en-GB" dirty="0"/>
              <a:t> </a:t>
            </a:r>
          </a:p>
        </p:txBody>
      </p:sp>
      <p:graphicFrame>
        <p:nvGraphicFramePr>
          <p:cNvPr id="1026" name="Object 5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683212444"/>
              </p:ext>
            </p:extLst>
          </p:nvPr>
        </p:nvGraphicFramePr>
        <p:xfrm>
          <a:off x="4007643" y="4864824"/>
          <a:ext cx="4176713" cy="1347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0800" imgH="380880" progId="Equation.DSMT4">
                  <p:embed/>
                </p:oleObj>
              </mc:Choice>
              <mc:Fallback>
                <p:oleObj name="Equation" r:id="rId3" imgW="1180800" imgH="380880" progId="Equation.DSMT4">
                  <p:embed/>
                  <p:pic>
                    <p:nvPicPr>
                      <p:cNvPr id="102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7643" y="4864824"/>
                        <a:ext cx="4176713" cy="1347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4177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Gaussian separability</a:t>
            </a:r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2851150" y="1341438"/>
          <a:ext cx="7283450" cy="365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35160" imgH="1523880" progId="Equation.DSMT4">
                  <p:embed/>
                </p:oleObj>
              </mc:Choice>
              <mc:Fallback>
                <p:oleObj name="Equation" r:id="rId3" imgW="3035160" imgH="1523880" progId="Equation.DSMT4">
                  <p:embed/>
                  <p:pic>
                    <p:nvPicPr>
                      <p:cNvPr id="205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1150" y="1341438"/>
                        <a:ext cx="7283450" cy="3656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Text Box 7"/>
          <p:cNvSpPr txBox="1">
            <a:spLocks noChangeArrowheads="1"/>
          </p:cNvSpPr>
          <p:nvPr/>
        </p:nvSpPr>
        <p:spPr bwMode="auto">
          <a:xfrm>
            <a:off x="4224339" y="5445126"/>
            <a:ext cx="324008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400"/>
              <a:t>f=input image</a:t>
            </a:r>
          </a:p>
          <a:p>
            <a:r>
              <a:rPr lang="en-GB" sz="2400"/>
              <a:t>h=Gaussian filter</a:t>
            </a:r>
          </a:p>
        </p:txBody>
      </p:sp>
    </p:spTree>
    <p:extLst>
      <p:ext uri="{BB962C8B-B14F-4D97-AF65-F5344CB8AC3E}">
        <p14:creationId xmlns:p14="http://schemas.microsoft.com/office/powerpoint/2010/main" val="954755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Advantages of separability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/>
              <a:t>First filter the image with one dimensional horizontal filter</a:t>
            </a:r>
          </a:p>
          <a:p>
            <a:pPr eaLnBrk="1" hangingPunct="1">
              <a:lnSpc>
                <a:spcPct val="90000"/>
              </a:lnSpc>
            </a:pPr>
            <a:r>
              <a:rPr lang="en-GB"/>
              <a:t>Then filter the result of the first filter operation with a one dimension vertical filter</a:t>
            </a:r>
          </a:p>
          <a:p>
            <a:pPr eaLnBrk="1" hangingPunct="1">
              <a:lnSpc>
                <a:spcPct val="90000"/>
              </a:lnSpc>
            </a:pPr>
            <a:r>
              <a:rPr lang="en-GB"/>
              <a:t>For a k*k Gaussian filter, 2D filter requires k</a:t>
            </a:r>
            <a:r>
              <a:rPr lang="en-GB" baseline="30000"/>
              <a:t>2</a:t>
            </a:r>
            <a:r>
              <a:rPr lang="en-GB"/>
              <a:t> operations per pixel</a:t>
            </a:r>
          </a:p>
          <a:p>
            <a:pPr eaLnBrk="1" hangingPunct="1">
              <a:lnSpc>
                <a:spcPct val="90000"/>
              </a:lnSpc>
            </a:pPr>
            <a:r>
              <a:rPr lang="en-GB"/>
              <a:t>Using separable filters, this can be reduced to 2k operations per pixel </a:t>
            </a:r>
          </a:p>
        </p:txBody>
      </p:sp>
    </p:spTree>
    <p:extLst>
      <p:ext uri="{BB962C8B-B14F-4D97-AF65-F5344CB8AC3E}">
        <p14:creationId xmlns:p14="http://schemas.microsoft.com/office/powerpoint/2010/main" val="1356777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Separability</a:t>
            </a:r>
          </a:p>
        </p:txBody>
      </p:sp>
      <p:pic>
        <p:nvPicPr>
          <p:cNvPr id="12292" name="Picture 16"/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0" y="1435100"/>
            <a:ext cx="9144000" cy="48545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98373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Advantages Gaussian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dirty="0"/>
              <a:t>Filter of a Gaussian with itself is another Gaussian </a:t>
            </a:r>
          </a:p>
          <a:p>
            <a:pPr lvl="1" eaLnBrk="1" hangingPunct="1">
              <a:lnSpc>
                <a:spcPct val="90000"/>
              </a:lnSpc>
            </a:pPr>
            <a:r>
              <a:rPr lang="en-GB" dirty="0"/>
              <a:t>Filter the image with a small Gaussian</a:t>
            </a:r>
          </a:p>
          <a:p>
            <a:pPr lvl="1" eaLnBrk="1" hangingPunct="1">
              <a:lnSpc>
                <a:spcPct val="90000"/>
              </a:lnSpc>
            </a:pPr>
            <a:r>
              <a:rPr lang="en-GB" dirty="0"/>
              <a:t>Then filter that smoothed image with another small Gaussian and the result is equivalent to smoother the original image with a lager Gaussian</a:t>
            </a:r>
          </a:p>
          <a:p>
            <a:pPr lvl="1" eaLnBrk="1" hangingPunct="1">
              <a:lnSpc>
                <a:spcPct val="90000"/>
              </a:lnSpc>
            </a:pPr>
            <a:r>
              <a:rPr lang="en-GB" dirty="0"/>
              <a:t>If a image is smoothed with a Gaussian having </a:t>
            </a:r>
            <a:r>
              <a:rPr lang="en-GB" dirty="0">
                <a:sym typeface="Symbol" pitchFamily="18" charset="2"/>
              </a:rPr>
              <a:t>standard derivation</a:t>
            </a:r>
            <a:r>
              <a:rPr lang="en-GB" dirty="0"/>
              <a:t> </a:t>
            </a:r>
            <a:r>
              <a:rPr lang="en-GB" dirty="0">
                <a:sym typeface="Symbol" pitchFamily="18" charset="2"/>
              </a:rPr>
              <a:t> twice, then it is the same results as smoothing the image with a Gaussian having standard derivation (2)</a:t>
            </a:r>
            <a:r>
              <a:rPr lang="en-GB" baseline="30000" dirty="0">
                <a:sym typeface="Symbol" pitchFamily="18" charset="2"/>
              </a:rPr>
              <a:t>1/2</a:t>
            </a:r>
          </a:p>
          <a:p>
            <a:pPr lvl="2" eaLnBrk="1" hangingPunct="1">
              <a:lnSpc>
                <a:spcPct val="90000"/>
              </a:lnSpc>
            </a:pPr>
            <a:r>
              <a:rPr lang="en-GB" dirty="0" err="1"/>
              <a:t>n</a:t>
            </a:r>
            <a:r>
              <a:rPr lang="en-GB" sz="1800" dirty="0" err="1"/>
              <a:t>x</a:t>
            </a:r>
            <a:r>
              <a:rPr lang="en-GB" dirty="0" err="1"/>
              <a:t>n</a:t>
            </a:r>
            <a:r>
              <a:rPr lang="en-GB" dirty="0"/>
              <a:t> filter and then </a:t>
            </a:r>
            <a:r>
              <a:rPr lang="en-GB" dirty="0" err="1"/>
              <a:t>m</a:t>
            </a:r>
            <a:r>
              <a:rPr lang="en-GB" sz="1800" dirty="0" err="1"/>
              <a:t>x</a:t>
            </a:r>
            <a:r>
              <a:rPr lang="en-GB" dirty="0" err="1"/>
              <a:t>m</a:t>
            </a:r>
            <a:r>
              <a:rPr lang="en-GB" dirty="0"/>
              <a:t> filter gives result (n+m-1)</a:t>
            </a:r>
            <a:r>
              <a:rPr lang="en-GB" sz="1800" dirty="0"/>
              <a:t>x</a:t>
            </a:r>
            <a:r>
              <a:rPr lang="en-GB" dirty="0"/>
              <a:t>(n+m-1) </a:t>
            </a:r>
          </a:p>
        </p:txBody>
      </p:sp>
    </p:spTree>
    <p:extLst>
      <p:ext uri="{BB962C8B-B14F-4D97-AF65-F5344CB8AC3E}">
        <p14:creationId xmlns:p14="http://schemas.microsoft.com/office/powerpoint/2010/main" val="653363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Design Gaussian filter</a:t>
            </a:r>
          </a:p>
        </p:txBody>
      </p:sp>
      <p:graphicFrame>
        <p:nvGraphicFramePr>
          <p:cNvPr id="3075" name="Object 6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53812674"/>
              </p:ext>
            </p:extLst>
          </p:nvPr>
        </p:nvGraphicFramePr>
        <p:xfrm>
          <a:off x="2953420" y="3568783"/>
          <a:ext cx="6397454" cy="913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00400" imgH="457200" progId="Equation.DSMT4">
                  <p:embed/>
                </p:oleObj>
              </mc:Choice>
              <mc:Fallback>
                <p:oleObj name="Equation" r:id="rId3" imgW="3200400" imgH="457200" progId="Equation.DSMT4">
                  <p:embed/>
                  <p:pic>
                    <p:nvPicPr>
                      <p:cNvPr id="307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3420" y="3568783"/>
                        <a:ext cx="6397454" cy="9139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Rectangle 4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838200" y="1858378"/>
            <a:ext cx="8552340" cy="446087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2400" dirty="0"/>
              <a:t>The Gaussian filter can be approximated using coefficients of binomial expansion:</a:t>
            </a:r>
          </a:p>
          <a:p>
            <a:pPr eaLnBrk="1" hangingPunct="1">
              <a:lnSpc>
                <a:spcPct val="90000"/>
              </a:lnSpc>
            </a:pPr>
            <a:endParaRPr lang="en-GB" sz="2400" dirty="0"/>
          </a:p>
          <a:p>
            <a:pPr eaLnBrk="1" hangingPunct="1">
              <a:lnSpc>
                <a:spcPct val="90000"/>
              </a:lnSpc>
            </a:pPr>
            <a:endParaRPr lang="en-GB" sz="2400" dirty="0"/>
          </a:p>
          <a:p>
            <a:pPr eaLnBrk="1" hangingPunct="1">
              <a:lnSpc>
                <a:spcPct val="90000"/>
              </a:lnSpc>
            </a:pPr>
            <a:endParaRPr lang="en-GB" sz="2400" dirty="0"/>
          </a:p>
          <a:p>
            <a:pPr eaLnBrk="1" hangingPunct="1">
              <a:lnSpc>
                <a:spcPct val="90000"/>
              </a:lnSpc>
            </a:pPr>
            <a:r>
              <a:rPr lang="en-GB" sz="2400" dirty="0"/>
              <a:t>Assume n=4,</a:t>
            </a:r>
          </a:p>
          <a:p>
            <a:pPr eaLnBrk="1" hangingPunct="1">
              <a:lnSpc>
                <a:spcPct val="90000"/>
              </a:lnSpc>
            </a:pPr>
            <a:endParaRPr lang="en-GB" sz="2400" dirty="0"/>
          </a:p>
          <a:p>
            <a:pPr eaLnBrk="1" hangingPunct="1">
              <a:lnSpc>
                <a:spcPct val="90000"/>
              </a:lnSpc>
            </a:pPr>
            <a:endParaRPr lang="en-GB" sz="2400" dirty="0"/>
          </a:p>
          <a:p>
            <a:pPr eaLnBrk="1" hangingPunct="1">
              <a:lnSpc>
                <a:spcPct val="90000"/>
              </a:lnSpc>
            </a:pPr>
            <a:endParaRPr lang="en-GB" sz="2400" dirty="0"/>
          </a:p>
          <a:p>
            <a:pPr eaLnBrk="1" hangingPunct="1">
              <a:lnSpc>
                <a:spcPct val="90000"/>
              </a:lnSpc>
            </a:pPr>
            <a:r>
              <a:rPr lang="en-GB" sz="2400" dirty="0"/>
              <a:t>This method can be used up to around n=10 due to coefficients are to large for most computers </a:t>
            </a:r>
          </a:p>
          <a:p>
            <a:pPr eaLnBrk="1" hangingPunct="1">
              <a:lnSpc>
                <a:spcPct val="90000"/>
              </a:lnSpc>
            </a:pPr>
            <a:endParaRPr lang="en-GB" sz="2400" dirty="0"/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6114533"/>
              </p:ext>
            </p:extLst>
          </p:nvPr>
        </p:nvGraphicFramePr>
        <p:xfrm>
          <a:off x="2190090" y="2358378"/>
          <a:ext cx="63373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41320" imgH="457200" progId="Equation.DSMT4">
                  <p:embed/>
                </p:oleObj>
              </mc:Choice>
              <mc:Fallback>
                <p:oleObj name="Equation" r:id="rId5" imgW="2641320" imgH="457200" progId="Equation.DSMT4">
                  <p:embed/>
                  <p:pic>
                    <p:nvPicPr>
                      <p:cNvPr id="307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090" y="2358378"/>
                        <a:ext cx="6337300" cy="109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0507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Design Gaussian filter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eaLnBrk="1" hangingPunct="1">
              <a:buNone/>
            </a:pPr>
            <a:endParaRPr lang="en-GB" dirty="0"/>
          </a:p>
          <a:p>
            <a:pPr marL="0" indent="0" eaLnBrk="1" hangingPunct="1">
              <a:buNone/>
            </a:pPr>
            <a:endParaRPr lang="en-GB" dirty="0"/>
          </a:p>
          <a:p>
            <a:pPr marL="0" indent="0" eaLnBrk="1" hangingPunct="1">
              <a:buNone/>
            </a:pPr>
            <a:r>
              <a:rPr lang="en-GB" dirty="0"/>
              <a:t>Another approach.</a:t>
            </a:r>
          </a:p>
          <a:p>
            <a:pPr lvl="1" eaLnBrk="1" hangingPunct="1"/>
            <a:r>
              <a:rPr lang="en-GB" dirty="0"/>
              <a:t>Calculate directly from the formula</a:t>
            </a:r>
          </a:p>
          <a:p>
            <a:pPr lvl="1" eaLnBrk="1" hangingPunct="1"/>
            <a:r>
              <a:rPr lang="en-GB" dirty="0"/>
              <a:t>c is the normalizing constant</a:t>
            </a:r>
          </a:p>
          <a:p>
            <a:pPr lvl="1" eaLnBrk="1" hangingPunct="1"/>
            <a:r>
              <a:rPr lang="en-GB" dirty="0"/>
              <a:t>Chose value for </a:t>
            </a:r>
            <a:r>
              <a:rPr lang="en-GB" dirty="0">
                <a:sym typeface="Symbol" pitchFamily="18" charset="2"/>
              </a:rPr>
              <a:t></a:t>
            </a:r>
            <a:r>
              <a:rPr lang="en-GB" baseline="30000" dirty="0">
                <a:sym typeface="Symbol" pitchFamily="18" charset="2"/>
              </a:rPr>
              <a:t>2</a:t>
            </a:r>
            <a:r>
              <a:rPr lang="en-GB" dirty="0"/>
              <a:t> and filter size n</a:t>
            </a:r>
          </a:p>
          <a:p>
            <a:pPr eaLnBrk="1" hangingPunct="1"/>
            <a:endParaRPr lang="en-GB" dirty="0"/>
          </a:p>
        </p:txBody>
      </p:sp>
      <p:graphicFrame>
        <p:nvGraphicFramePr>
          <p:cNvPr id="4098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743523925"/>
              </p:ext>
            </p:extLst>
          </p:nvPr>
        </p:nvGraphicFramePr>
        <p:xfrm>
          <a:off x="6649760" y="2340084"/>
          <a:ext cx="3455987" cy="304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66680" imgH="939600" progId="Equation.DSMT4">
                  <p:embed/>
                </p:oleObj>
              </mc:Choice>
              <mc:Fallback>
                <p:oleObj name="Equation" r:id="rId3" imgW="1066680" imgH="939600" progId="Equation.DSMT4">
                  <p:embed/>
                  <p:pic>
                    <p:nvPicPr>
                      <p:cNvPr id="409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9760" y="2340084"/>
                        <a:ext cx="3455987" cy="304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0033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1" name="Picture 8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1469898" y="3209575"/>
            <a:ext cx="7061894" cy="2853873"/>
          </a:xfrm>
          <a:noFill/>
        </p:spPr>
      </p:pic>
      <p:sp>
        <p:nvSpPr>
          <p:cNvPr id="14340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2869707" y="1790114"/>
            <a:ext cx="5181600" cy="4351338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GB" sz="2400" dirty="0"/>
              <a:t>Assume n=7 and </a:t>
            </a:r>
            <a:r>
              <a:rPr lang="en-GB" sz="2400" dirty="0">
                <a:sym typeface="Symbol" pitchFamily="18" charset="2"/>
              </a:rPr>
              <a:t></a:t>
            </a:r>
            <a:r>
              <a:rPr lang="en-GB" sz="2400" baseline="30000" dirty="0">
                <a:sym typeface="Symbol" pitchFamily="18" charset="2"/>
              </a:rPr>
              <a:t>2</a:t>
            </a:r>
            <a:r>
              <a:rPr lang="en-GB" sz="2400" dirty="0">
                <a:sym typeface="Symbol" pitchFamily="18" charset="2"/>
              </a:rPr>
              <a:t>=2</a:t>
            </a:r>
            <a:r>
              <a:rPr lang="en-GB" sz="2400" dirty="0"/>
              <a:t> </a:t>
            </a:r>
          </a:p>
        </p:txBody>
      </p:sp>
      <p:sp>
        <p:nvSpPr>
          <p:cNvPr id="14339" name="Rectangle 7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GB"/>
              <a:t>Design Gaussian filter</a:t>
            </a:r>
          </a:p>
        </p:txBody>
      </p:sp>
    </p:spTree>
    <p:extLst>
      <p:ext uri="{BB962C8B-B14F-4D97-AF65-F5344CB8AC3E}">
        <p14:creationId xmlns:p14="http://schemas.microsoft.com/office/powerpoint/2010/main" val="4186366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Design Gaussian filter</a:t>
            </a:r>
          </a:p>
        </p:txBody>
      </p:sp>
      <p:sp>
        <p:nvSpPr>
          <p:cNvPr id="5125" name="Rectangle 4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 eaLnBrk="1" hangingPunct="1"/>
            <a:r>
              <a:rPr lang="en-GB"/>
              <a:t>Desired to have filter weights as integer</a:t>
            </a:r>
          </a:p>
          <a:p>
            <a:pPr lvl="1" eaLnBrk="1" hangingPunct="1"/>
            <a:r>
              <a:rPr lang="en-GB"/>
              <a:t> Select a corner value and calculate c such that this value becomes 1</a:t>
            </a:r>
          </a:p>
          <a:p>
            <a:pPr lvl="1" eaLnBrk="1" hangingPunct="1"/>
            <a:endParaRPr lang="en-GB"/>
          </a:p>
        </p:txBody>
      </p:sp>
      <p:graphicFrame>
        <p:nvGraphicFramePr>
          <p:cNvPr id="5122" name="Object 5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186538419"/>
              </p:ext>
            </p:extLst>
          </p:nvPr>
        </p:nvGraphicFramePr>
        <p:xfrm>
          <a:off x="2241550" y="3917303"/>
          <a:ext cx="7708900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62240" imgH="482400" progId="Equation.DSMT4">
                  <p:embed/>
                </p:oleObj>
              </mc:Choice>
              <mc:Fallback>
                <p:oleObj name="Equation" r:id="rId3" imgW="3162240" imgH="482400" progId="Equation.DSMT4">
                  <p:embed/>
                  <p:pic>
                    <p:nvPicPr>
                      <p:cNvPr id="51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50" y="3917303"/>
                        <a:ext cx="7708900" cy="1176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1111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Design Gaussian filter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A1C94A-144E-4A77-A94F-5440E17E81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5364" name="Picture 5"/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580147" y="2140412"/>
            <a:ext cx="9144000" cy="3692525"/>
          </a:xfrm>
          <a:prstGeom prst="rect">
            <a:avLst/>
          </a:prstGeom>
        </p:spPr>
      </p:pic>
      <p:sp>
        <p:nvSpPr>
          <p:cNvPr id="15365" name="Text Box 6"/>
          <p:cNvSpPr txBox="1">
            <a:spLocks noChangeArrowheads="1"/>
          </p:cNvSpPr>
          <p:nvPr/>
        </p:nvSpPr>
        <p:spPr bwMode="auto">
          <a:xfrm>
            <a:off x="4008438" y="1757363"/>
            <a:ext cx="4248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2800"/>
              <a:t>Final filter kernel</a:t>
            </a:r>
          </a:p>
        </p:txBody>
      </p:sp>
    </p:spTree>
    <p:extLst>
      <p:ext uri="{BB962C8B-B14F-4D97-AF65-F5344CB8AC3E}">
        <p14:creationId xmlns:p14="http://schemas.microsoft.com/office/powerpoint/2010/main" val="3075233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Design Gaussian filter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dirty="0"/>
              <a:t>The filter kernel don’t sum to 1. Therefore the output pixel must be normalized</a:t>
            </a:r>
          </a:p>
          <a:p>
            <a:pPr eaLnBrk="1" hangingPunct="1"/>
            <a:endParaRPr lang="en-GB" dirty="0"/>
          </a:p>
          <a:p>
            <a:pPr eaLnBrk="1" hangingPunct="1"/>
            <a:endParaRPr lang="en-GB" dirty="0"/>
          </a:p>
          <a:p>
            <a:pPr eaLnBrk="1" hangingPunct="1"/>
            <a:endParaRPr lang="en-GB" dirty="0"/>
          </a:p>
          <a:p>
            <a:pPr eaLnBrk="1" hangingPunct="1"/>
            <a:r>
              <a:rPr lang="en-GB" dirty="0"/>
              <a:t>Therefore output image equal to </a:t>
            </a:r>
          </a:p>
        </p:txBody>
      </p:sp>
      <p:graphicFrame>
        <p:nvGraphicFramePr>
          <p:cNvPr id="6147" name="Object 5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857216275"/>
              </p:ext>
            </p:extLst>
          </p:nvPr>
        </p:nvGraphicFramePr>
        <p:xfrm>
          <a:off x="2514277" y="5026026"/>
          <a:ext cx="6481762" cy="1328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17360" imgH="393480" progId="Equation.DSMT4">
                  <p:embed/>
                </p:oleObj>
              </mc:Choice>
              <mc:Fallback>
                <p:oleObj name="Equation" r:id="rId3" imgW="1917360" imgH="393480" progId="Equation.DSMT4">
                  <p:embed/>
                  <p:pic>
                    <p:nvPicPr>
                      <p:cNvPr id="614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277" y="5026026"/>
                        <a:ext cx="6481762" cy="1328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3648076" y="2852739"/>
          <a:ext cx="3959225" cy="138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69720" imgH="444240" progId="Equation.DSMT4">
                  <p:embed/>
                </p:oleObj>
              </mc:Choice>
              <mc:Fallback>
                <p:oleObj name="Equation" r:id="rId5" imgW="1269720" imgH="444240" progId="Equation.DSMT4">
                  <p:embed/>
                  <p:pic>
                    <p:nvPicPr>
                      <p:cNvPr id="614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6" y="2852739"/>
                        <a:ext cx="3959225" cy="1385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7530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tshållare för innehåll 2"/>
          <p:cNvSpPr txBox="1">
            <a:spLocks/>
          </p:cNvSpPr>
          <p:nvPr/>
        </p:nvSpPr>
        <p:spPr>
          <a:xfrm>
            <a:off x="1981201" y="1600201"/>
            <a:ext cx="7686675" cy="4873625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sv-SE" sz="3200" kern="0" dirty="0"/>
              <a:t>for(</a:t>
            </a:r>
            <a:r>
              <a:rPr lang="sv-SE" sz="3200" kern="0" dirty="0" err="1"/>
              <a:t>row</a:t>
            </a:r>
            <a:r>
              <a:rPr lang="sv-SE" sz="3200" kern="0" dirty="0"/>
              <a:t> = 1 ; </a:t>
            </a:r>
            <a:r>
              <a:rPr lang="sv-SE" sz="3200" kern="0" dirty="0" err="1"/>
              <a:t>row</a:t>
            </a:r>
            <a:r>
              <a:rPr lang="sv-SE" sz="3200" kern="0" dirty="0"/>
              <a:t> &lt; </a:t>
            </a:r>
            <a:r>
              <a:rPr lang="sv-SE" sz="3200" kern="0" dirty="0" err="1"/>
              <a:t>image-&gt;height</a:t>
            </a:r>
            <a:r>
              <a:rPr lang="sv-SE" sz="3200" kern="0" dirty="0"/>
              <a:t> ; </a:t>
            </a:r>
            <a:r>
              <a:rPr lang="sv-SE" sz="3200" kern="0" dirty="0" err="1"/>
              <a:t>row</a:t>
            </a:r>
            <a:r>
              <a:rPr lang="sv-SE" sz="3200" kern="0" dirty="0"/>
              <a:t>++)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3200" kern="0" dirty="0"/>
              <a:t>{</a:t>
            </a:r>
            <a:endParaRPr lang="sv-SE" sz="3200" kern="0" dirty="0"/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3200" kern="0" dirty="0"/>
              <a:t>	for(</a:t>
            </a:r>
            <a:r>
              <a:rPr lang="en-US" sz="3200" kern="0" dirty="0" err="1"/>
              <a:t>col</a:t>
            </a:r>
            <a:r>
              <a:rPr lang="en-US" sz="3200" kern="0" dirty="0"/>
              <a:t> = 1 ; </a:t>
            </a:r>
            <a:r>
              <a:rPr lang="en-US" sz="3200" kern="0" dirty="0" err="1"/>
              <a:t>col</a:t>
            </a:r>
            <a:r>
              <a:rPr lang="en-US" sz="3200" kern="0" dirty="0"/>
              <a:t> &lt; image-&gt;</a:t>
            </a:r>
            <a:r>
              <a:rPr lang="en-US" sz="3200" kern="0" dirty="0" err="1"/>
              <a:t>widht</a:t>
            </a:r>
            <a:r>
              <a:rPr lang="en-US" sz="3200" kern="0" dirty="0"/>
              <a:t> ; </a:t>
            </a:r>
            <a:r>
              <a:rPr lang="en-US" sz="3200" kern="0" dirty="0" err="1"/>
              <a:t>col</a:t>
            </a:r>
            <a:r>
              <a:rPr lang="en-US" sz="3200" kern="0" dirty="0"/>
              <a:t>++)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3200" kern="0" dirty="0"/>
              <a:t>	{</a:t>
            </a:r>
            <a:r>
              <a:rPr lang="sv-SE" sz="3200" kern="0" dirty="0"/>
              <a:t>			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sv-SE" sz="3200" kern="0" dirty="0"/>
              <a:t> 		</a:t>
            </a:r>
            <a:r>
              <a:rPr lang="sv-SE" sz="3200" kern="0" dirty="0" err="1"/>
              <a:t>tmp_pix</a:t>
            </a:r>
            <a:r>
              <a:rPr lang="sv-SE" sz="3200" kern="0" dirty="0"/>
              <a:t> = </a:t>
            </a:r>
            <a:r>
              <a:rPr lang="sv-SE" sz="3200" kern="0" dirty="0" err="1"/>
              <a:t>grayImgPtr</a:t>
            </a:r>
            <a:r>
              <a:rPr lang="sv-SE" sz="3200" kern="0" dirty="0"/>
              <a:t>[</a:t>
            </a:r>
            <a:r>
              <a:rPr lang="sv-SE" sz="3200" kern="0" dirty="0" err="1"/>
              <a:t>imageWidthStep</a:t>
            </a:r>
            <a:r>
              <a:rPr lang="sv-SE" sz="3200" kern="0" dirty="0"/>
              <a:t> * (row-1) + (col-1)] * 1 +</a:t>
            </a:r>
            <a:br>
              <a:rPr lang="sv-SE" sz="3200" kern="0" dirty="0"/>
            </a:br>
            <a:r>
              <a:rPr lang="sv-SE" sz="3200" kern="0" dirty="0"/>
              <a:t>		  </a:t>
            </a:r>
            <a:r>
              <a:rPr lang="sv-SE" sz="3200" kern="0" dirty="0" err="1"/>
              <a:t>grayImgPtr</a:t>
            </a:r>
            <a:r>
              <a:rPr lang="sv-SE" sz="3200" kern="0" dirty="0"/>
              <a:t>[</a:t>
            </a:r>
            <a:r>
              <a:rPr lang="sv-SE" sz="3200" kern="0" dirty="0" err="1"/>
              <a:t>imageWidthStep</a:t>
            </a:r>
            <a:r>
              <a:rPr lang="sv-SE" sz="3200" kern="0" dirty="0"/>
              <a:t> * (row-1) + (</a:t>
            </a:r>
            <a:r>
              <a:rPr lang="sv-SE" sz="3200" kern="0" dirty="0" err="1"/>
              <a:t>col</a:t>
            </a:r>
            <a:r>
              <a:rPr lang="sv-SE" sz="3200" kern="0" dirty="0"/>
              <a:t>)] * 1 + 		  	  </a:t>
            </a:r>
            <a:r>
              <a:rPr lang="sv-SE" sz="3200" kern="0" dirty="0" err="1"/>
              <a:t>grayImgPtr</a:t>
            </a:r>
            <a:r>
              <a:rPr lang="sv-SE" sz="3200" kern="0" dirty="0"/>
              <a:t>[</a:t>
            </a:r>
            <a:r>
              <a:rPr lang="sv-SE" sz="3200" kern="0" dirty="0" err="1"/>
              <a:t>imageWidthStep</a:t>
            </a:r>
            <a:r>
              <a:rPr lang="sv-SE" sz="3200" kern="0" dirty="0"/>
              <a:t> * (row-1) + (</a:t>
            </a:r>
            <a:r>
              <a:rPr lang="sv-SE" sz="3200" kern="0" dirty="0" err="1"/>
              <a:t>col</a:t>
            </a:r>
            <a:r>
              <a:rPr lang="sv-SE" sz="3200" kern="0" dirty="0"/>
              <a:t> +1)] * 1 +</a:t>
            </a:r>
            <a:br>
              <a:rPr lang="sv-SE" sz="3200" kern="0" dirty="0"/>
            </a:br>
            <a:r>
              <a:rPr lang="sv-SE" sz="3200" kern="0" dirty="0"/>
              <a:t>		  </a:t>
            </a:r>
            <a:r>
              <a:rPr lang="sv-SE" sz="3200" kern="0" dirty="0" err="1"/>
              <a:t>grayImgPtr</a:t>
            </a:r>
            <a:r>
              <a:rPr lang="sv-SE" sz="3200" kern="0" dirty="0"/>
              <a:t>[</a:t>
            </a:r>
            <a:r>
              <a:rPr lang="sv-SE" sz="3200" kern="0" dirty="0" err="1"/>
              <a:t>imageWidthStep</a:t>
            </a:r>
            <a:r>
              <a:rPr lang="sv-SE" sz="3200" kern="0" dirty="0"/>
              <a:t> * (</a:t>
            </a:r>
            <a:r>
              <a:rPr lang="sv-SE" sz="3200" kern="0" dirty="0" err="1"/>
              <a:t>row</a:t>
            </a:r>
            <a:r>
              <a:rPr lang="sv-SE" sz="3200" kern="0" dirty="0"/>
              <a:t>) + (col-1)] * 1+ </a:t>
            </a:r>
            <a:br>
              <a:rPr lang="sv-SE" sz="3200" kern="0" dirty="0"/>
            </a:br>
            <a:r>
              <a:rPr lang="sv-SE" sz="3200" kern="0" dirty="0"/>
              <a:t>		  </a:t>
            </a:r>
            <a:r>
              <a:rPr lang="sv-SE" sz="3200" kern="0" dirty="0" err="1"/>
              <a:t>grayImgPtr</a:t>
            </a:r>
            <a:r>
              <a:rPr lang="sv-SE" sz="3200" kern="0" dirty="0"/>
              <a:t>[</a:t>
            </a:r>
            <a:r>
              <a:rPr lang="sv-SE" sz="3200" kern="0" dirty="0" err="1"/>
              <a:t>imageWidthStep</a:t>
            </a:r>
            <a:r>
              <a:rPr lang="sv-SE" sz="3200" kern="0" dirty="0"/>
              <a:t> * (</a:t>
            </a:r>
            <a:r>
              <a:rPr lang="sv-SE" sz="3200" kern="0" dirty="0" err="1"/>
              <a:t>row</a:t>
            </a:r>
            <a:r>
              <a:rPr lang="sv-SE" sz="3200" kern="0" dirty="0"/>
              <a:t>) + (</a:t>
            </a:r>
            <a:r>
              <a:rPr lang="sv-SE" sz="3200" kern="0" dirty="0" err="1"/>
              <a:t>col</a:t>
            </a:r>
            <a:r>
              <a:rPr lang="sv-SE" sz="3200" kern="0" dirty="0"/>
              <a:t>)] * 1 + </a:t>
            </a:r>
            <a:br>
              <a:rPr lang="sv-SE" sz="3200" kern="0" dirty="0"/>
            </a:br>
            <a:r>
              <a:rPr lang="sv-SE" sz="3200" kern="0" dirty="0"/>
              <a:t>		  </a:t>
            </a:r>
            <a:r>
              <a:rPr lang="sv-SE" sz="3200" kern="0" dirty="0" err="1"/>
              <a:t>grayImgPtr</a:t>
            </a:r>
            <a:r>
              <a:rPr lang="sv-SE" sz="3200" kern="0" dirty="0"/>
              <a:t>[</a:t>
            </a:r>
            <a:r>
              <a:rPr lang="sv-SE" sz="3200" kern="0" dirty="0" err="1"/>
              <a:t>imageWidthStep</a:t>
            </a:r>
            <a:r>
              <a:rPr lang="sv-SE" sz="3200" kern="0" dirty="0"/>
              <a:t> * (</a:t>
            </a:r>
            <a:r>
              <a:rPr lang="sv-SE" sz="3200" kern="0" dirty="0" err="1"/>
              <a:t>row</a:t>
            </a:r>
            <a:r>
              <a:rPr lang="sv-SE" sz="3200" kern="0" dirty="0"/>
              <a:t>) + (</a:t>
            </a:r>
            <a:r>
              <a:rPr lang="sv-SE" sz="3200" kern="0" dirty="0" err="1"/>
              <a:t>col</a:t>
            </a:r>
            <a:r>
              <a:rPr lang="sv-SE" sz="3200" kern="0" dirty="0"/>
              <a:t> +1)] * 1 +</a:t>
            </a:r>
            <a:br>
              <a:rPr lang="sv-SE" sz="3200" kern="0" dirty="0"/>
            </a:br>
            <a:r>
              <a:rPr lang="sv-SE" sz="3200" kern="0" dirty="0"/>
              <a:t>		  </a:t>
            </a:r>
            <a:r>
              <a:rPr lang="sv-SE" sz="3200" kern="0" dirty="0" err="1"/>
              <a:t>grayImgPtr</a:t>
            </a:r>
            <a:r>
              <a:rPr lang="sv-SE" sz="3200" kern="0" dirty="0"/>
              <a:t>[</a:t>
            </a:r>
            <a:r>
              <a:rPr lang="sv-SE" sz="3200" kern="0" dirty="0" err="1"/>
              <a:t>imageWidthStep</a:t>
            </a:r>
            <a:r>
              <a:rPr lang="sv-SE" sz="3200" kern="0" dirty="0"/>
              <a:t> * (row+1) + (col-1)] * 1 +</a:t>
            </a:r>
            <a:br>
              <a:rPr lang="sv-SE" sz="3200" kern="0" dirty="0"/>
            </a:br>
            <a:r>
              <a:rPr lang="sv-SE" sz="3200" kern="0" dirty="0"/>
              <a:t>		  </a:t>
            </a:r>
            <a:r>
              <a:rPr lang="sv-SE" sz="3200" kern="0" dirty="0" err="1"/>
              <a:t>grayImgPtr</a:t>
            </a:r>
            <a:r>
              <a:rPr lang="sv-SE" sz="3200" kern="0" dirty="0"/>
              <a:t>[</a:t>
            </a:r>
            <a:r>
              <a:rPr lang="sv-SE" sz="3200" kern="0" dirty="0" err="1"/>
              <a:t>imageWidthStep</a:t>
            </a:r>
            <a:r>
              <a:rPr lang="sv-SE" sz="3200" kern="0" dirty="0"/>
              <a:t> * (row+1) + (</a:t>
            </a:r>
            <a:r>
              <a:rPr lang="sv-SE" sz="3200" kern="0" dirty="0" err="1"/>
              <a:t>col</a:t>
            </a:r>
            <a:r>
              <a:rPr lang="sv-SE" sz="3200" kern="0" dirty="0"/>
              <a:t>)] * 1 +</a:t>
            </a:r>
            <a:br>
              <a:rPr lang="sv-SE" sz="3200" kern="0" dirty="0"/>
            </a:br>
            <a:r>
              <a:rPr lang="sv-SE" sz="3200" kern="0" dirty="0"/>
              <a:t>		  </a:t>
            </a:r>
            <a:r>
              <a:rPr lang="sv-SE" sz="3200" kern="0" dirty="0" err="1"/>
              <a:t>grayImgPtr</a:t>
            </a:r>
            <a:r>
              <a:rPr lang="sv-SE" sz="3200" kern="0" dirty="0"/>
              <a:t>[</a:t>
            </a:r>
            <a:r>
              <a:rPr lang="sv-SE" sz="3200" kern="0" dirty="0" err="1"/>
              <a:t>imageWidthStep</a:t>
            </a:r>
            <a:r>
              <a:rPr lang="sv-SE" sz="3200" kern="0" dirty="0"/>
              <a:t> * (row+1) + (</a:t>
            </a:r>
            <a:r>
              <a:rPr lang="sv-SE" sz="3200" kern="0" dirty="0" err="1"/>
              <a:t>col</a:t>
            </a:r>
            <a:r>
              <a:rPr lang="sv-SE" sz="3200" kern="0" dirty="0"/>
              <a:t> +1)] * 1);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3200" kern="0" dirty="0"/>
              <a:t>	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3200" kern="0" dirty="0"/>
              <a:t>		</a:t>
            </a:r>
            <a:r>
              <a:rPr lang="en-US" sz="3200" kern="0" dirty="0" err="1"/>
              <a:t>tmp_pix</a:t>
            </a:r>
            <a:r>
              <a:rPr lang="en-US" sz="3200" kern="0" dirty="0"/>
              <a:t> = </a:t>
            </a:r>
            <a:r>
              <a:rPr lang="en-US" sz="3200" kern="0" dirty="0" err="1"/>
              <a:t>tmp_pix</a:t>
            </a:r>
            <a:r>
              <a:rPr lang="en-US" sz="3200" kern="0" dirty="0"/>
              <a:t> / 9;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3200" kern="0" dirty="0"/>
              <a:t>		</a:t>
            </a:r>
            <a:r>
              <a:rPr lang="en-US" sz="3200" kern="0" dirty="0" err="1"/>
              <a:t>filterImage</a:t>
            </a:r>
            <a:r>
              <a:rPr lang="en-US" sz="3200" kern="0" dirty="0"/>
              <a:t>[row * </a:t>
            </a:r>
            <a:r>
              <a:rPr lang="en-US" sz="3200" kern="0" dirty="0" err="1"/>
              <a:t>imageWidthStep</a:t>
            </a:r>
            <a:r>
              <a:rPr lang="en-US" sz="3200" kern="0" dirty="0"/>
              <a:t> + </a:t>
            </a:r>
            <a:r>
              <a:rPr lang="en-US" sz="3200" kern="0" dirty="0" err="1"/>
              <a:t>col</a:t>
            </a:r>
            <a:r>
              <a:rPr lang="en-US" sz="3200" kern="0" dirty="0"/>
              <a:t>] = </a:t>
            </a:r>
            <a:r>
              <a:rPr lang="en-US" sz="3200" kern="0" dirty="0" err="1"/>
              <a:t>tmp_pix</a:t>
            </a:r>
            <a:r>
              <a:rPr lang="en-US" sz="3200" kern="0" dirty="0"/>
              <a:t>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3200" kern="0" dirty="0"/>
              <a:t>	}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3200" kern="0" dirty="0"/>
              <a:t>}</a:t>
            </a:r>
            <a:endParaRPr lang="sv-SE" sz="3200" kern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C5DC41-C1E1-4D18-B7FA-CA8C41402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kern="0" dirty="0">
                <a:solidFill>
                  <a:schemeClr val="tx2"/>
                </a:solidFill>
              </a:rPr>
              <a:t>Moving window in C# and OpenCV</a:t>
            </a:r>
            <a:br>
              <a:rPr lang="sv-SE" kern="0" dirty="0">
                <a:solidFill>
                  <a:schemeClr val="tx2"/>
                </a:solidFill>
              </a:rPr>
            </a:br>
            <a:endParaRPr lang="en-GB" dirty="0"/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8688388" y="19161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sv-SE"/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7815264" y="1520825"/>
            <a:ext cx="144597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Filter weights</a:t>
            </a:r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>
            <a:off x="8586788" y="1908175"/>
            <a:ext cx="450850" cy="808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sv-SE"/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5776914" y="4933950"/>
            <a:ext cx="21208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Sum of filter weights</a:t>
            </a:r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 flipH="1">
            <a:off x="5260976" y="5141913"/>
            <a:ext cx="5826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sv-SE"/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9002713" y="3551238"/>
            <a:ext cx="13885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Current pixel</a:t>
            </a:r>
          </a:p>
        </p:txBody>
      </p:sp>
      <p:sp>
        <p:nvSpPr>
          <p:cNvPr id="19466" name="Line 10"/>
          <p:cNvSpPr>
            <a:spLocks noChangeShapeType="1"/>
          </p:cNvSpPr>
          <p:nvPr/>
        </p:nvSpPr>
        <p:spPr bwMode="auto">
          <a:xfrm flipH="1">
            <a:off x="8693151" y="3749675"/>
            <a:ext cx="371475" cy="133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sv-SE"/>
          </a:p>
        </p:txBody>
      </p:sp>
      <p:sp>
        <p:nvSpPr>
          <p:cNvPr id="19467" name="AutoShape 11"/>
          <p:cNvSpPr>
            <a:spLocks/>
          </p:cNvSpPr>
          <p:nvPr/>
        </p:nvSpPr>
        <p:spPr bwMode="auto">
          <a:xfrm>
            <a:off x="9404350" y="2708276"/>
            <a:ext cx="203200" cy="684213"/>
          </a:xfrm>
          <a:prstGeom prst="rightBrace">
            <a:avLst>
              <a:gd name="adj1" fmla="val 3066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sv-SE"/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9048750" y="2052638"/>
            <a:ext cx="1619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/>
              <a:t>Row above current pixel</a:t>
            </a:r>
          </a:p>
        </p:txBody>
      </p:sp>
      <p:sp>
        <p:nvSpPr>
          <p:cNvPr id="19469" name="AutoShape 13"/>
          <p:cNvSpPr>
            <a:spLocks/>
          </p:cNvSpPr>
          <p:nvPr/>
        </p:nvSpPr>
        <p:spPr bwMode="auto">
          <a:xfrm flipH="1">
            <a:off x="3767138" y="3441701"/>
            <a:ext cx="207962" cy="612775"/>
          </a:xfrm>
          <a:prstGeom prst="rightBrace">
            <a:avLst>
              <a:gd name="adj1" fmla="val 3059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sv-SE"/>
          </a:p>
        </p:txBody>
      </p:sp>
      <p:sp>
        <p:nvSpPr>
          <p:cNvPr id="19470" name="AutoShape 14"/>
          <p:cNvSpPr>
            <a:spLocks/>
          </p:cNvSpPr>
          <p:nvPr/>
        </p:nvSpPr>
        <p:spPr bwMode="auto">
          <a:xfrm>
            <a:off x="9478963" y="4048126"/>
            <a:ext cx="215900" cy="792163"/>
          </a:xfrm>
          <a:prstGeom prst="rightBrace">
            <a:avLst>
              <a:gd name="adj1" fmla="val 3057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sv-SE"/>
          </a:p>
        </p:txBody>
      </p:sp>
      <p:sp>
        <p:nvSpPr>
          <p:cNvPr id="19471" name="Text Box 15"/>
          <p:cNvSpPr txBox="1">
            <a:spLocks noChangeArrowheads="1"/>
          </p:cNvSpPr>
          <p:nvPr/>
        </p:nvSpPr>
        <p:spPr bwMode="auto">
          <a:xfrm>
            <a:off x="8826500" y="4860925"/>
            <a:ext cx="16192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/>
              <a:t>Row below current pixel</a:t>
            </a:r>
          </a:p>
        </p:txBody>
      </p:sp>
      <p:sp>
        <p:nvSpPr>
          <p:cNvPr id="19472" name="Text Box 16"/>
          <p:cNvSpPr txBox="1">
            <a:spLocks noChangeArrowheads="1"/>
          </p:cNvSpPr>
          <p:nvPr/>
        </p:nvSpPr>
        <p:spPr bwMode="auto">
          <a:xfrm>
            <a:off x="2706688" y="3459163"/>
            <a:ext cx="11160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GB"/>
              <a:t>Current row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E24FE2-DB65-4131-9BD3-169C51B4B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position and orientation of object in the image </a:t>
            </a:r>
          </a:p>
        </p:txBody>
      </p:sp>
    </p:spTree>
    <p:extLst>
      <p:ext uri="{BB962C8B-B14F-4D97-AF65-F5344CB8AC3E}">
        <p14:creationId xmlns:p14="http://schemas.microsoft.com/office/powerpoint/2010/main" val="2815153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134781"/>
              </p:ext>
            </p:extLst>
          </p:nvPr>
        </p:nvGraphicFramePr>
        <p:xfrm>
          <a:off x="2745582" y="2694097"/>
          <a:ext cx="2617788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600" imgH="761760" progId="">
                  <p:embed/>
                </p:oleObj>
              </mc:Choice>
              <mc:Fallback>
                <p:oleObj name="Equation" r:id="rId2" imgW="1155600" imgH="761760" progId="">
                  <p:embed/>
                  <p:pic>
                    <p:nvPicPr>
                      <p:cNvPr id="205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5582" y="2694097"/>
                        <a:ext cx="2617788" cy="172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5"/>
          <p:cNvGraphicFramePr>
            <a:graphicFrameLocks noChangeAspect="1"/>
          </p:cNvGraphicFramePr>
          <p:nvPr/>
        </p:nvGraphicFramePr>
        <p:xfrm>
          <a:off x="7104064" y="2997201"/>
          <a:ext cx="2936875" cy="331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90360" imgH="1117440" progId="">
                  <p:embed/>
                </p:oleObj>
              </mc:Choice>
              <mc:Fallback>
                <p:oleObj name="Equation" r:id="rId4" imgW="990360" imgH="1117440" progId="">
                  <p:embed/>
                  <p:pic>
                    <p:nvPicPr>
                      <p:cNvPr id="20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64" y="2997201"/>
                        <a:ext cx="2936875" cy="3313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2279651" y="4941889"/>
            <a:ext cx="3960813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800"/>
              <a:t>A = the number of pixels ie ones (1) in the image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1066BA-3276-490A-929B-FD91D7A54B4E}"/>
              </a:ext>
            </a:extLst>
          </p:cNvPr>
          <p:cNvSpPr txBox="1"/>
          <p:nvPr/>
        </p:nvSpPr>
        <p:spPr>
          <a:xfrm>
            <a:off x="2279651" y="2263448"/>
            <a:ext cx="7390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 object size can be calculated with the zero-order moment (binary image)</a:t>
            </a:r>
          </a:p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58D4A5-D571-481B-B78A-E4BF5CB85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Size of object</a:t>
            </a:r>
          </a:p>
        </p:txBody>
      </p:sp>
    </p:spTree>
    <p:extLst>
      <p:ext uri="{BB962C8B-B14F-4D97-AF65-F5344CB8AC3E}">
        <p14:creationId xmlns:p14="http://schemas.microsoft.com/office/powerpoint/2010/main" val="1628731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Position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dirty="0"/>
              <a:t>Known background and distance between object and camera</a:t>
            </a:r>
          </a:p>
          <a:p>
            <a:pPr eaLnBrk="1" hangingPunct="1"/>
            <a:r>
              <a:rPr lang="en-GB" dirty="0"/>
              <a:t>Centre of area binary images is the same as centre of mass</a:t>
            </a:r>
          </a:p>
          <a:p>
            <a:pPr eaLnBrk="1" hangingPunct="1"/>
            <a:r>
              <a:rPr lang="en-GB" dirty="0"/>
              <a:t>The centre of area is relative insensitive against noise. </a:t>
            </a:r>
          </a:p>
        </p:txBody>
      </p:sp>
    </p:spTree>
    <p:extLst>
      <p:ext uri="{BB962C8B-B14F-4D97-AF65-F5344CB8AC3E}">
        <p14:creationId xmlns:p14="http://schemas.microsoft.com/office/powerpoint/2010/main" val="21812513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Position of object</a:t>
            </a:r>
          </a:p>
        </p:txBody>
      </p:sp>
      <p:graphicFrame>
        <p:nvGraphicFramePr>
          <p:cNvPr id="3075" name="Object 23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057172002"/>
              </p:ext>
            </p:extLst>
          </p:nvPr>
        </p:nvGraphicFramePr>
        <p:xfrm>
          <a:off x="5082392" y="4813152"/>
          <a:ext cx="3313112" cy="137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680" imgH="444240" progId="">
                  <p:embed/>
                </p:oleObj>
              </mc:Choice>
              <mc:Fallback>
                <p:oleObj name="Equation" r:id="rId2" imgW="1066680" imgH="444240" progId="">
                  <p:embed/>
                  <p:pic>
                    <p:nvPicPr>
                      <p:cNvPr id="3075" name="Object 2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2392" y="4813152"/>
                        <a:ext cx="3313112" cy="1379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3074989" y="1341438"/>
          <a:ext cx="4810125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41400" imgH="914400" progId="">
                  <p:embed/>
                </p:oleObj>
              </mc:Choice>
              <mc:Fallback>
                <p:oleObj name="Equation" r:id="rId4" imgW="1841400" imgH="914400" progId="">
                  <p:embed/>
                  <p:pic>
                    <p:nvPicPr>
                      <p:cNvPr id="307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4989" y="1341438"/>
                        <a:ext cx="4810125" cy="2387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9" name="Group 21"/>
          <p:cNvGrpSpPr>
            <a:grpSpLocks/>
          </p:cNvGrpSpPr>
          <p:nvPr/>
        </p:nvGrpSpPr>
        <p:grpSpPr bwMode="auto">
          <a:xfrm>
            <a:off x="2249496" y="3902087"/>
            <a:ext cx="8064500" cy="512764"/>
            <a:chOff x="457" y="2296"/>
            <a:chExt cx="5080" cy="323"/>
          </a:xfrm>
        </p:grpSpPr>
        <p:sp>
          <p:nvSpPr>
            <p:cNvPr id="3081" name="Text Box 5"/>
            <p:cNvSpPr txBox="1">
              <a:spLocks noChangeArrowheads="1"/>
            </p:cNvSpPr>
            <p:nvPr/>
          </p:nvSpPr>
          <p:spPr bwMode="auto">
            <a:xfrm>
              <a:off x="457" y="2296"/>
              <a:ext cx="508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2400" dirty="0"/>
                <a:t>Where     and</a:t>
              </a:r>
              <a:r>
                <a:rPr lang="en-GB" dirty="0"/>
                <a:t>      </a:t>
              </a:r>
              <a:r>
                <a:rPr lang="en-GB" sz="2400" dirty="0"/>
                <a:t>are the coordinates of the centre of the region</a:t>
              </a:r>
            </a:p>
          </p:txBody>
        </p:sp>
        <p:graphicFrame>
          <p:nvGraphicFramePr>
            <p:cNvPr id="3076" name="Object 19"/>
            <p:cNvGraphicFramePr>
              <a:graphicFrameLocks noChangeAspect="1"/>
            </p:cNvGraphicFramePr>
            <p:nvPr/>
          </p:nvGraphicFramePr>
          <p:xfrm>
            <a:off x="1050" y="2296"/>
            <a:ext cx="242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9680" imgH="164880" progId="">
                    <p:embed/>
                  </p:oleObj>
                </mc:Choice>
                <mc:Fallback>
                  <p:oleObj name="Equation" r:id="rId6" imgW="139680" imgH="164880" progId="">
                    <p:embed/>
                    <p:pic>
                      <p:nvPicPr>
                        <p:cNvPr id="3076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0" y="2296"/>
                          <a:ext cx="242" cy="2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7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6343205"/>
                </p:ext>
              </p:extLst>
            </p:nvPr>
          </p:nvGraphicFramePr>
          <p:xfrm>
            <a:off x="1561" y="2317"/>
            <a:ext cx="221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9680" imgH="190440" progId="">
                    <p:embed/>
                  </p:oleObj>
                </mc:Choice>
                <mc:Fallback>
                  <p:oleObj name="Equation" r:id="rId8" imgW="139680" imgH="190440" progId="">
                    <p:embed/>
                    <p:pic>
                      <p:nvPicPr>
                        <p:cNvPr id="3077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1" y="2317"/>
                          <a:ext cx="221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80" name="Text Box 24"/>
          <p:cNvSpPr txBox="1">
            <a:spLocks noChangeArrowheads="1"/>
          </p:cNvSpPr>
          <p:nvPr/>
        </p:nvSpPr>
        <p:spPr bwMode="auto">
          <a:xfrm>
            <a:off x="2332039" y="5272089"/>
            <a:ext cx="22827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/>
              <a:t>Remember that:</a:t>
            </a:r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71587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Position of object</a:t>
            </a:r>
          </a:p>
        </p:txBody>
      </p:sp>
      <p:graphicFrame>
        <p:nvGraphicFramePr>
          <p:cNvPr id="4098" name="Object 4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20032728"/>
              </p:ext>
            </p:extLst>
          </p:nvPr>
        </p:nvGraphicFramePr>
        <p:xfrm>
          <a:off x="2503632" y="3284467"/>
          <a:ext cx="6753140" cy="1679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01640" imgH="622080" progId="">
                  <p:embed/>
                </p:oleObj>
              </mc:Choice>
              <mc:Fallback>
                <p:oleObj name="Equation" r:id="rId2" imgW="2501640" imgH="622080" progId="">
                  <p:embed/>
                  <p:pic>
                    <p:nvPicPr>
                      <p:cNvPr id="409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3632" y="3284467"/>
                        <a:ext cx="6753140" cy="16797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Rectangle 10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390650" y="1893888"/>
            <a:ext cx="10801350" cy="4460875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en-GB"/>
          </a:p>
          <a:p>
            <a:pPr eaLnBrk="1" hangingPunct="1"/>
            <a:r>
              <a:rPr lang="en-GB"/>
              <a:t>These are the first-order moments</a:t>
            </a:r>
          </a:p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865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Example - position</a:t>
            </a:r>
          </a:p>
        </p:txBody>
      </p:sp>
      <p:graphicFrame>
        <p:nvGraphicFramePr>
          <p:cNvPr id="5122" name="Object 13"/>
          <p:cNvGraphicFramePr>
            <a:graphicFrameLocks noGrp="1" noChangeAspect="1"/>
          </p:cNvGraphicFramePr>
          <p:nvPr>
            <p:ph sz="half" idx="2"/>
          </p:nvPr>
        </p:nvGraphicFramePr>
        <p:xfrm>
          <a:off x="2208213" y="4997450"/>
          <a:ext cx="7777162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46240" imgH="444240" progId="">
                  <p:embed/>
                </p:oleObj>
              </mc:Choice>
              <mc:Fallback>
                <p:oleObj name="Equation" r:id="rId2" imgW="2946240" imgH="444240" progId="">
                  <p:embed/>
                  <p:pic>
                    <p:nvPicPr>
                      <p:cNvPr id="512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4997450"/>
                        <a:ext cx="7777162" cy="116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4" name="Picture 20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3000376" y="1341438"/>
            <a:ext cx="5521325" cy="3340100"/>
          </a:xfrm>
          <a:noFill/>
        </p:spPr>
      </p:pic>
    </p:spTree>
    <p:extLst>
      <p:ext uri="{BB962C8B-B14F-4D97-AF65-F5344CB8AC3E}">
        <p14:creationId xmlns:p14="http://schemas.microsoft.com/office/powerpoint/2010/main" val="3966996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Example - position</a:t>
            </a:r>
          </a:p>
        </p:txBody>
      </p:sp>
      <p:pic>
        <p:nvPicPr>
          <p:cNvPr id="7" name="Picture 20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407625" y="4556186"/>
            <a:ext cx="3141663" cy="1900237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1524000" y="1412777"/>
                <a:ext cx="8908914" cy="30881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sv-SE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</m:acc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𝒊</m:t>
                              </m:r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𝒎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sv-SE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sv-SE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𝒋</m:t>
                                  </m:r>
                                  <m:r>
                                    <a:rPr lang="sv-SE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=</m:t>
                                  </m:r>
                                  <m:r>
                                    <a:rPr lang="sv-SE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sv-SE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</m:sup>
                                <m:e>
                                  <m:r>
                                    <a:rPr lang="sv-SE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𝒋𝑩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sv-SE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sv-SE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𝒊</m:t>
                                      </m:r>
                                      <m:r>
                                        <a:rPr lang="sv-SE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,</m:t>
                                      </m:r>
                                      <m:r>
                                        <a:rPr lang="sv-SE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𝒋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nary>
                        </m:num>
                        <m:den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𝑨</m:t>
                          </m:r>
                        </m:den>
                      </m:f>
                      <m:r>
                        <a:rPr lang="sv-SE" b="1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sv-SE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𝟑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𝟒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𝟑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𝟒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  <m:r>
                            <a:rPr lang="sv-SE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+2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𝟑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𝟒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</m:num>
                        <m:den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𝟗</m:t>
                          </m:r>
                        </m:den>
                      </m:f>
                    </m:oMath>
                  </m:oMathPara>
                </a14:m>
                <a:endParaRPr lang="sv-SE" b="1" i="1" dirty="0">
                  <a:solidFill>
                    <a:srgbClr val="00000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</m:acc>
                      <m:r>
                        <a:rPr lang="en-GB" dirty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sv-SE" b="1" i="1" dirty="0">
                              <a:latin typeface="Cambria Math"/>
                              <a:ea typeface="Cambria Math"/>
                            </a:rPr>
                            <m:t>𝟐𝟕</m:t>
                          </m:r>
                        </m:num>
                        <m:den>
                          <m:r>
                            <a:rPr lang="sv-SE" b="1" i="1" dirty="0">
                              <a:latin typeface="Cambria Math"/>
                              <a:ea typeface="Cambria Math"/>
                            </a:rPr>
                            <m:t>𝟗</m:t>
                          </m:r>
                        </m:den>
                      </m:f>
                      <m:r>
                        <a:rPr lang="sv-SE" b="1" i="1" dirty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sv-SE" b="1" i="1" dirty="0">
                          <a:latin typeface="Cambria Math"/>
                          <a:ea typeface="Cambria Math"/>
                        </a:rPr>
                        <m:t>𝟑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𝒚</m:t>
                          </m:r>
                        </m:e>
                      </m:acc>
                      <m:r>
                        <a:rPr lang="sv-SE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𝒊</m:t>
                              </m:r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𝒎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sv-SE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sv-SE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𝒋</m:t>
                                  </m:r>
                                  <m:r>
                                    <a:rPr lang="sv-SE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=</m:t>
                                  </m:r>
                                  <m:r>
                                    <a:rPr lang="sv-SE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sv-SE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</m:sup>
                                <m:e>
                                  <m:r>
                                    <a:rPr lang="sv-SE" b="1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𝒊</m:t>
                                  </m:r>
                                  <m:r>
                                    <a:rPr lang="sv-SE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𝑩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sv-SE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sv-SE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𝒊</m:t>
                                      </m:r>
                                      <m:r>
                                        <a:rPr lang="sv-SE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,</m:t>
                                      </m:r>
                                      <m:r>
                                        <a:rPr lang="sv-SE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𝒋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nary>
                        </m:num>
                        <m:den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𝑨</m:t>
                          </m:r>
                        </m:den>
                      </m:f>
                      <m:r>
                        <a:rPr lang="sv-SE" i="1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𝟑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𝟑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𝟑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𝟒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𝟒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𝟒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𝟏</m:t>
                          </m:r>
                        </m:num>
                        <m:den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𝟗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b="1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𝒚</m:t>
                          </m:r>
                        </m:e>
                      </m:acc>
                      <m:r>
                        <a:rPr lang="en-GB" dirty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GB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sv-SE" i="1" dirty="0">
                              <a:latin typeface="Cambria Math"/>
                              <a:ea typeface="Cambria Math"/>
                            </a:rPr>
                            <m:t>𝟐𝟕</m:t>
                          </m:r>
                        </m:num>
                        <m:den>
                          <m:r>
                            <a:rPr lang="sv-SE" i="1" dirty="0">
                              <a:latin typeface="Cambria Math"/>
                              <a:ea typeface="Cambria Math"/>
                            </a:rPr>
                            <m:t>𝟗</m:t>
                          </m:r>
                        </m:den>
                      </m:f>
                      <m:r>
                        <a:rPr lang="sv-SE" i="1" dirty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sv-SE" i="1" dirty="0">
                          <a:latin typeface="Cambria Math"/>
                          <a:ea typeface="Cambria Math"/>
                        </a:rPr>
                        <m:t>𝟑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412777"/>
                <a:ext cx="8908914" cy="30881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48651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0">
            <a:extLst>
              <a:ext uri="{FF2B5EF4-FFF2-40B4-BE49-F238E27FC236}">
                <a16:creationId xmlns:a16="http://schemas.microsoft.com/office/drawing/2014/main" id="{DD53A53A-DBDA-4BB5-811F-D7DB37925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798638" y="1798638"/>
            <a:ext cx="4271962" cy="4491037"/>
          </a:xfrm>
          <a:prstGeom prst="rect">
            <a:avLst/>
          </a:prstGeom>
          <a:noFill/>
        </p:spPr>
      </p:pic>
      <p:pic>
        <p:nvPicPr>
          <p:cNvPr id="16" name="Picture 12">
            <a:extLst>
              <a:ext uri="{FF2B5EF4-FFF2-40B4-BE49-F238E27FC236}">
                <a16:creationId xmlns:a16="http://schemas.microsoft.com/office/drawing/2014/main" id="{4F035118-C97D-4A1E-A431-E339CFB78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798638" y="1798638"/>
            <a:ext cx="4271962" cy="4491037"/>
          </a:xfrm>
          <a:prstGeom prst="rect">
            <a:avLst/>
          </a:prstGeom>
          <a:noFill/>
        </p:spPr>
      </p:pic>
      <p:pic>
        <p:nvPicPr>
          <p:cNvPr id="17" name="Picture 15">
            <a:extLst>
              <a:ext uri="{FF2B5EF4-FFF2-40B4-BE49-F238E27FC236}">
                <a16:creationId xmlns:a16="http://schemas.microsoft.com/office/drawing/2014/main" id="{79F4DA48-6C8E-46ED-B5F6-84A8A333F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1798638" y="1798638"/>
            <a:ext cx="4271962" cy="4491037"/>
          </a:xfrm>
          <a:prstGeom prst="rect">
            <a:avLst/>
          </a:prstGeom>
          <a:noFill/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C3CECB70-58AD-42EC-B381-C62C8C813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1798638" y="1798638"/>
            <a:ext cx="4271962" cy="4491037"/>
          </a:xfrm>
          <a:prstGeom prst="rect">
            <a:avLst/>
          </a:prstGeom>
          <a:noFill/>
        </p:spPr>
      </p:pic>
      <p:pic>
        <p:nvPicPr>
          <p:cNvPr id="19" name="Picture 21">
            <a:extLst>
              <a:ext uri="{FF2B5EF4-FFF2-40B4-BE49-F238E27FC236}">
                <a16:creationId xmlns:a16="http://schemas.microsoft.com/office/drawing/2014/main" id="{29CF32B9-8EB8-4754-B0B0-AC5FE73C4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798638" y="1798638"/>
            <a:ext cx="4271962" cy="4491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22">
            <a:extLst>
              <a:ext uri="{FF2B5EF4-FFF2-40B4-BE49-F238E27FC236}">
                <a16:creationId xmlns:a16="http://schemas.microsoft.com/office/drawing/2014/main" id="{90BD8E5D-4FFD-4307-9659-559A64BD5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798638" y="1798638"/>
            <a:ext cx="4271962" cy="4491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3">
            <a:extLst>
              <a:ext uri="{FF2B5EF4-FFF2-40B4-BE49-F238E27FC236}">
                <a16:creationId xmlns:a16="http://schemas.microsoft.com/office/drawing/2014/main" id="{532D928A-A002-49C5-B312-B614595F1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798638" y="1798638"/>
            <a:ext cx="4271962" cy="4491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424">
            <a:extLst>
              <a:ext uri="{FF2B5EF4-FFF2-40B4-BE49-F238E27FC236}">
                <a16:creationId xmlns:a16="http://schemas.microsoft.com/office/drawing/2014/main" id="{A599386C-BB1D-455C-877C-B792A6646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798638" y="1798638"/>
            <a:ext cx="4271962" cy="4491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425">
            <a:extLst>
              <a:ext uri="{FF2B5EF4-FFF2-40B4-BE49-F238E27FC236}">
                <a16:creationId xmlns:a16="http://schemas.microsoft.com/office/drawing/2014/main" id="{15F25EA8-2BA6-41A9-B09B-FB7AA45F4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798638" y="1798638"/>
            <a:ext cx="4271962" cy="4491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426">
            <a:extLst>
              <a:ext uri="{FF2B5EF4-FFF2-40B4-BE49-F238E27FC236}">
                <a16:creationId xmlns:a16="http://schemas.microsoft.com/office/drawing/2014/main" id="{860CF121-07B0-4A03-867D-5F4B74891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798638" y="1798638"/>
            <a:ext cx="4271962" cy="4491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5" name="Object 469">
            <a:extLst>
              <a:ext uri="{FF2B5EF4-FFF2-40B4-BE49-F238E27FC236}">
                <a16:creationId xmlns:a16="http://schemas.microsoft.com/office/drawing/2014/main" id="{E80ED957-A547-489C-9808-D532616EF6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120" imgH="215640" progId="Equation.3">
                  <p:embed/>
                </p:oleObj>
              </mc:Choice>
              <mc:Fallback>
                <p:oleObj name="Equation" r:id="rId12" imgW="114120" imgH="215640" progId="Equation.3">
                  <p:embed/>
                  <p:pic>
                    <p:nvPicPr>
                      <p:cNvPr id="25" name="Object 469">
                        <a:extLst>
                          <a:ext uri="{FF2B5EF4-FFF2-40B4-BE49-F238E27FC236}">
                            <a16:creationId xmlns:a16="http://schemas.microsoft.com/office/drawing/2014/main" id="{E80ED957-A547-489C-9808-D532616EF6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16">
            <a:extLst>
              <a:ext uri="{FF2B5EF4-FFF2-40B4-BE49-F238E27FC236}">
                <a16:creationId xmlns:a16="http://schemas.microsoft.com/office/drawing/2014/main" id="{8FD76764-A70A-4D02-A063-96BE7340F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1394" y="3105944"/>
            <a:ext cx="1928812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/>
              <a:t>Known number of components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937FC5-5E79-4AAE-95FF-242B04ACB80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sv-SE" dirty="0" err="1"/>
              <a:t>Example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12272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Picture 1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2763" y="2460625"/>
            <a:ext cx="88138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28157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Orientation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/>
              <a:t>For some shapes (such as circles), orientation is not unique</a:t>
            </a:r>
          </a:p>
          <a:p>
            <a:pPr eaLnBrk="1" hangingPunct="1">
              <a:lnSpc>
                <a:spcPct val="90000"/>
              </a:lnSpc>
            </a:pPr>
            <a:r>
              <a:rPr lang="en-GB"/>
              <a:t>To define unique orientation, an object must be elongated</a:t>
            </a:r>
          </a:p>
          <a:p>
            <a:pPr eaLnBrk="1" hangingPunct="1">
              <a:lnSpc>
                <a:spcPct val="90000"/>
              </a:lnSpc>
            </a:pPr>
            <a:r>
              <a:rPr lang="en-GB"/>
              <a:t>The axis of the elongation can be used to define the orientation</a:t>
            </a:r>
          </a:p>
          <a:p>
            <a:pPr eaLnBrk="1" hangingPunct="1">
              <a:lnSpc>
                <a:spcPct val="90000"/>
              </a:lnSpc>
            </a:pPr>
            <a:r>
              <a:rPr lang="en-GB"/>
              <a:t>The axis of least second moment (in 2D equivalent to the axis of least inertia) is used as the axis of elongation</a:t>
            </a:r>
          </a:p>
        </p:txBody>
      </p:sp>
    </p:spTree>
    <p:extLst>
      <p:ext uri="{BB962C8B-B14F-4D97-AF65-F5344CB8AC3E}">
        <p14:creationId xmlns:p14="http://schemas.microsoft.com/office/powerpoint/2010/main" val="8240978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13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2392272" y="2094739"/>
            <a:ext cx="6378865" cy="2668522"/>
          </a:xfrm>
          <a:noFill/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4AC9A4-9668-4ECA-8912-73DC53EC34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196" name="Rectangle 11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GB"/>
              <a:t>Elongation axis</a:t>
            </a:r>
          </a:p>
        </p:txBody>
      </p:sp>
      <p:sp>
        <p:nvSpPr>
          <p:cNvPr id="8197" name="Line 12"/>
          <p:cNvSpPr>
            <a:spLocks noChangeShapeType="1"/>
          </p:cNvSpPr>
          <p:nvPr/>
        </p:nvSpPr>
        <p:spPr bwMode="auto">
          <a:xfrm flipV="1">
            <a:off x="2919369" y="2290193"/>
            <a:ext cx="4681057" cy="22230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194" name="Object 16"/>
          <p:cNvGraphicFramePr>
            <a:graphicFrameLocks noChangeAspect="1"/>
          </p:cNvGraphicFramePr>
          <p:nvPr/>
        </p:nvGraphicFramePr>
        <p:xfrm>
          <a:off x="4513263" y="4941889"/>
          <a:ext cx="316865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04840" imgH="444240" progId="">
                  <p:embed/>
                </p:oleObj>
              </mc:Choice>
              <mc:Fallback>
                <p:oleObj name="Equation" r:id="rId3" imgW="1104840" imgH="444240" progId="">
                  <p:embed/>
                  <p:pic>
                    <p:nvPicPr>
                      <p:cNvPr id="819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263" y="4941889"/>
                        <a:ext cx="3168650" cy="1273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64922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Line 6"/>
          <p:cNvSpPr>
            <a:spLocks noChangeShapeType="1"/>
          </p:cNvSpPr>
          <p:nvPr/>
        </p:nvSpPr>
        <p:spPr bwMode="auto">
          <a:xfrm>
            <a:off x="3359151" y="5589588"/>
            <a:ext cx="6049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56" name="Line 7"/>
          <p:cNvSpPr>
            <a:spLocks noChangeShapeType="1"/>
          </p:cNvSpPr>
          <p:nvPr/>
        </p:nvSpPr>
        <p:spPr bwMode="auto">
          <a:xfrm flipV="1">
            <a:off x="3359150" y="1989138"/>
            <a:ext cx="0" cy="3600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57" name="Line 8"/>
          <p:cNvSpPr>
            <a:spLocks noChangeShapeType="1"/>
          </p:cNvSpPr>
          <p:nvPr/>
        </p:nvSpPr>
        <p:spPr bwMode="auto">
          <a:xfrm>
            <a:off x="3071814" y="2420939"/>
            <a:ext cx="6048375" cy="3311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58" name="Text Box 9"/>
          <p:cNvSpPr txBox="1">
            <a:spLocks noChangeArrowheads="1"/>
          </p:cNvSpPr>
          <p:nvPr/>
        </p:nvSpPr>
        <p:spPr bwMode="auto">
          <a:xfrm>
            <a:off x="9264650" y="5589588"/>
            <a:ext cx="28405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x</a:t>
            </a:r>
          </a:p>
        </p:txBody>
      </p:sp>
      <p:sp>
        <p:nvSpPr>
          <p:cNvPr id="23560" name="Line 11"/>
          <p:cNvSpPr>
            <a:spLocks noChangeShapeType="1"/>
          </p:cNvSpPr>
          <p:nvPr/>
        </p:nvSpPr>
        <p:spPr bwMode="auto">
          <a:xfrm flipV="1">
            <a:off x="3359151" y="3357564"/>
            <a:ext cx="1368425" cy="2232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1" name="Line 12"/>
          <p:cNvSpPr>
            <a:spLocks noChangeShapeType="1"/>
          </p:cNvSpPr>
          <p:nvPr/>
        </p:nvSpPr>
        <p:spPr bwMode="auto">
          <a:xfrm>
            <a:off x="4656138" y="3500439"/>
            <a:ext cx="144462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2" name="Line 13"/>
          <p:cNvSpPr>
            <a:spLocks noChangeShapeType="1"/>
          </p:cNvSpPr>
          <p:nvPr/>
        </p:nvSpPr>
        <p:spPr bwMode="auto">
          <a:xfrm flipV="1">
            <a:off x="4800600" y="3429001"/>
            <a:ext cx="71438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3" name="Freeform 14"/>
          <p:cNvSpPr>
            <a:spLocks/>
          </p:cNvSpPr>
          <p:nvPr/>
        </p:nvSpPr>
        <p:spPr bwMode="auto">
          <a:xfrm>
            <a:off x="3648075" y="5084764"/>
            <a:ext cx="215900" cy="504825"/>
          </a:xfrm>
          <a:custGeom>
            <a:avLst/>
            <a:gdLst>
              <a:gd name="T0" fmla="*/ 0 w 136"/>
              <a:gd name="T1" fmla="*/ 0 h 318"/>
              <a:gd name="T2" fmla="*/ 128587 w 136"/>
              <a:gd name="T3" fmla="*/ 184150 h 318"/>
              <a:gd name="T4" fmla="*/ 184150 w 136"/>
              <a:gd name="T5" fmla="*/ 336550 h 318"/>
              <a:gd name="T6" fmla="*/ 215900 w 136"/>
              <a:gd name="T7" fmla="*/ 504825 h 318"/>
              <a:gd name="T8" fmla="*/ 0 60000 65536"/>
              <a:gd name="T9" fmla="*/ 0 60000 65536"/>
              <a:gd name="T10" fmla="*/ 0 60000 65536"/>
              <a:gd name="T11" fmla="*/ 0 60000 65536"/>
              <a:gd name="T12" fmla="*/ 0 w 136"/>
              <a:gd name="T13" fmla="*/ 0 h 318"/>
              <a:gd name="T14" fmla="*/ 136 w 136"/>
              <a:gd name="T15" fmla="*/ 318 h 3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6" h="318">
                <a:moveTo>
                  <a:pt x="0" y="0"/>
                </a:moveTo>
                <a:cubicBezTo>
                  <a:pt x="14" y="19"/>
                  <a:pt x="62" y="81"/>
                  <a:pt x="81" y="116"/>
                </a:cubicBezTo>
                <a:cubicBezTo>
                  <a:pt x="100" y="151"/>
                  <a:pt x="107" y="178"/>
                  <a:pt x="116" y="212"/>
                </a:cubicBezTo>
                <a:cubicBezTo>
                  <a:pt x="125" y="246"/>
                  <a:pt x="132" y="296"/>
                  <a:pt x="136" y="31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sv-SE"/>
          </a:p>
        </p:txBody>
      </p:sp>
      <p:sp>
        <p:nvSpPr>
          <p:cNvPr id="23564" name="Text Box 15"/>
          <p:cNvSpPr txBox="1">
            <a:spLocks noChangeArrowheads="1"/>
          </p:cNvSpPr>
          <p:nvPr/>
        </p:nvSpPr>
        <p:spPr bwMode="auto">
          <a:xfrm>
            <a:off x="3863976" y="5013326"/>
            <a:ext cx="3032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>
                <a:sym typeface="Symbol" pitchFamily="18" charset="2"/>
              </a:rPr>
              <a:t></a:t>
            </a:r>
          </a:p>
        </p:txBody>
      </p:sp>
      <p:sp>
        <p:nvSpPr>
          <p:cNvPr id="23565" name="Text Box 16"/>
          <p:cNvSpPr txBox="1">
            <a:spLocks noChangeArrowheads="1"/>
          </p:cNvSpPr>
          <p:nvPr/>
        </p:nvSpPr>
        <p:spPr bwMode="auto">
          <a:xfrm>
            <a:off x="5159375" y="3187700"/>
            <a:ext cx="201786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000">
                <a:sym typeface="Symbol" pitchFamily="18" charset="2"/>
              </a:rPr>
              <a:t>=xcos()+ysin()</a:t>
            </a:r>
          </a:p>
        </p:txBody>
      </p:sp>
      <p:sp>
        <p:nvSpPr>
          <p:cNvPr id="23566" name="Text Box 17"/>
          <p:cNvSpPr txBox="1">
            <a:spLocks noChangeArrowheads="1"/>
          </p:cNvSpPr>
          <p:nvPr/>
        </p:nvSpPr>
        <p:spPr bwMode="auto">
          <a:xfrm>
            <a:off x="3863976" y="4005263"/>
            <a:ext cx="3095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>
                <a:sym typeface="Symbol" pitchFamily="18" charset="2"/>
              </a:rPr>
              <a:t>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6561B1-175E-4BFC-9157-95F8D7AA5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Polar representation of a straight line</a:t>
            </a:r>
          </a:p>
        </p:txBody>
      </p:sp>
    </p:spTree>
    <p:extLst>
      <p:ext uri="{BB962C8B-B14F-4D97-AF65-F5344CB8AC3E}">
        <p14:creationId xmlns:p14="http://schemas.microsoft.com/office/powerpoint/2010/main" val="18976382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Orientation of object</a:t>
            </a:r>
          </a:p>
        </p:txBody>
      </p:sp>
      <p:graphicFrame>
        <p:nvGraphicFramePr>
          <p:cNvPr id="9218" name="Object 5"/>
          <p:cNvGraphicFramePr>
            <a:graphicFrameLocks noChangeAspect="1"/>
          </p:cNvGraphicFramePr>
          <p:nvPr/>
        </p:nvGraphicFramePr>
        <p:xfrm>
          <a:off x="5375276" y="1628776"/>
          <a:ext cx="2663825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8840" imgH="393480" progId="">
                  <p:embed/>
                </p:oleObj>
              </mc:Choice>
              <mc:Fallback>
                <p:oleObj name="Equation" r:id="rId2" imgW="888840" imgH="393480" progId="">
                  <p:embed/>
                  <p:pic>
                    <p:nvPicPr>
                      <p:cNvPr id="921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6" y="1628776"/>
                        <a:ext cx="2663825" cy="1179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152892" y="1980406"/>
            <a:ext cx="5384800" cy="4525963"/>
          </a:xfrm>
        </p:spPr>
        <p:txBody>
          <a:bodyPr/>
          <a:lstStyle/>
          <a:p>
            <a:pPr eaLnBrk="1" hangingPunct="1"/>
            <a:r>
              <a:rPr lang="en-GB" dirty="0"/>
              <a:t>Orientation</a:t>
            </a:r>
          </a:p>
          <a:p>
            <a:pPr eaLnBrk="1" hangingPunct="1">
              <a:buFontTx/>
              <a:buNone/>
            </a:pPr>
            <a:endParaRPr lang="en-GB" dirty="0"/>
          </a:p>
          <a:p>
            <a:pPr eaLnBrk="1" hangingPunct="1">
              <a:buFontTx/>
              <a:buNone/>
            </a:pPr>
            <a:endParaRPr lang="en-GB" dirty="0"/>
          </a:p>
          <a:p>
            <a:pPr eaLnBrk="1" hangingPunct="1">
              <a:buFontTx/>
              <a:buNone/>
            </a:pPr>
            <a:r>
              <a:rPr lang="en-GB" dirty="0"/>
              <a:t>where</a:t>
            </a:r>
          </a:p>
        </p:txBody>
      </p:sp>
      <p:graphicFrame>
        <p:nvGraphicFramePr>
          <p:cNvPr id="9219" name="Object 6"/>
          <p:cNvGraphicFramePr>
            <a:graphicFrameLocks noChangeAspect="1"/>
          </p:cNvGraphicFramePr>
          <p:nvPr/>
        </p:nvGraphicFramePr>
        <p:xfrm>
          <a:off x="5097464" y="3141663"/>
          <a:ext cx="3870325" cy="337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74640" imgH="1371600" progId="">
                  <p:embed/>
                </p:oleObj>
              </mc:Choice>
              <mc:Fallback>
                <p:oleObj name="Equation" r:id="rId4" imgW="1574640" imgH="1371600" progId="">
                  <p:embed/>
                  <p:pic>
                    <p:nvPicPr>
                      <p:cNvPr id="921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7464" y="3141663"/>
                        <a:ext cx="3870325" cy="3370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8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261982546"/>
              </p:ext>
            </p:extLst>
          </p:nvPr>
        </p:nvGraphicFramePr>
        <p:xfrm>
          <a:off x="2152892" y="4170752"/>
          <a:ext cx="2037183" cy="1312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49160" imgH="482400" progId="Equation.3">
                  <p:embed/>
                </p:oleObj>
              </mc:Choice>
              <mc:Fallback>
                <p:oleObj name="Equation" r:id="rId6" imgW="749160" imgH="482400" progId="Equation.3">
                  <p:embed/>
                  <p:pic>
                    <p:nvPicPr>
                      <p:cNvPr id="92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892" y="4170752"/>
                        <a:ext cx="2037183" cy="13120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38133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Limitations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dirty="0"/>
              <a:t>If b = 0 and a = c, the object does not have a unique axis of orientation</a:t>
            </a:r>
          </a:p>
          <a:p>
            <a:pPr eaLnBrk="1" hangingPunct="1"/>
            <a:r>
              <a:rPr lang="en-GB" dirty="0"/>
              <a:t>The elongation </a:t>
            </a:r>
            <a:r>
              <a:rPr lang="en-GB" i="1" dirty="0"/>
              <a:t>E </a:t>
            </a:r>
            <a:r>
              <a:rPr lang="en-GB" dirty="0"/>
              <a:t>of the object is the ratio of the largest to the smallest value for </a:t>
            </a:r>
            <a:r>
              <a:rPr lang="en-GB" i="1" dirty="0"/>
              <a:t>X</a:t>
            </a:r>
            <a:r>
              <a:rPr lang="en-GB" dirty="0"/>
              <a:t>  </a:t>
            </a:r>
          </a:p>
          <a:p>
            <a:pPr eaLnBrk="1" hangingPunct="1"/>
            <a:r>
              <a:rPr lang="en-GB" dirty="0"/>
              <a:t>Not that the elongation is 1 for a circle and a square </a:t>
            </a:r>
          </a:p>
        </p:txBody>
      </p:sp>
    </p:spTree>
    <p:extLst>
      <p:ext uri="{BB962C8B-B14F-4D97-AF65-F5344CB8AC3E}">
        <p14:creationId xmlns:p14="http://schemas.microsoft.com/office/powerpoint/2010/main" val="27491620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GB"/>
              <a:t>Example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E6601D-9D56-451A-82C6-53008D0F1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25603" name="Picture 5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tretch>
            <a:fillRect/>
          </a:stretch>
        </p:blipFill>
        <p:spPr>
          <a:xfrm>
            <a:off x="3836722" y="3034676"/>
            <a:ext cx="4804306" cy="2009439"/>
          </a:xfrm>
          <a:prstGeom prst="rect">
            <a:avLst/>
          </a:prstGeom>
          <a:noFill/>
        </p:spPr>
      </p:pic>
      <p:sp>
        <p:nvSpPr>
          <p:cNvPr id="25604" name="Text Box 8"/>
          <p:cNvSpPr txBox="1">
            <a:spLocks noChangeArrowheads="1"/>
          </p:cNvSpPr>
          <p:nvPr/>
        </p:nvSpPr>
        <p:spPr bwMode="auto">
          <a:xfrm>
            <a:off x="5310296" y="5044115"/>
            <a:ext cx="20448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Image starts in [1,1]</a:t>
            </a:r>
          </a:p>
        </p:txBody>
      </p:sp>
    </p:spTree>
    <p:extLst>
      <p:ext uri="{BB962C8B-B14F-4D97-AF65-F5344CB8AC3E}">
        <p14:creationId xmlns:p14="http://schemas.microsoft.com/office/powerpoint/2010/main" val="8203683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Answer</a:t>
            </a:r>
          </a:p>
        </p:txBody>
      </p:sp>
      <p:graphicFrame>
        <p:nvGraphicFramePr>
          <p:cNvPr id="10242" name="Object 4"/>
          <p:cNvGraphicFramePr>
            <a:graphicFrameLocks noChangeAspect="1"/>
          </p:cNvGraphicFramePr>
          <p:nvPr/>
        </p:nvGraphicFramePr>
        <p:xfrm>
          <a:off x="2855914" y="2192339"/>
          <a:ext cx="6264275" cy="368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280" imgH="888840" progId="">
                  <p:embed/>
                </p:oleObj>
              </mc:Choice>
              <mc:Fallback>
                <p:oleObj name="Equation" r:id="rId2" imgW="1511280" imgH="888840" progId="">
                  <p:embed/>
                  <p:pic>
                    <p:nvPicPr>
                      <p:cNvPr id="1024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2192339"/>
                        <a:ext cx="6264275" cy="3684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66323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E24FE2-DB65-4131-9BD3-169C51B4B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unique object in the image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5D3337-D225-4E28-9D2C-7B2C8EC32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7836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Connect Component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/>
              <a:t>Used for identification of different objects in an image if several objects exists in the image</a:t>
            </a:r>
          </a:p>
          <a:p>
            <a:pPr eaLnBrk="1" hangingPunct="1">
              <a:lnSpc>
                <a:spcPct val="90000"/>
              </a:lnSpc>
            </a:pPr>
            <a:r>
              <a:rPr lang="en-GB"/>
              <a:t>One of the most common operations in machine vision</a:t>
            </a:r>
          </a:p>
          <a:p>
            <a:pPr eaLnBrk="1" hangingPunct="1">
              <a:lnSpc>
                <a:spcPct val="90000"/>
              </a:lnSpc>
            </a:pPr>
            <a:r>
              <a:rPr lang="en-GB"/>
              <a:t>Are a bottleneck in the vision system due to global operation</a:t>
            </a:r>
          </a:p>
          <a:p>
            <a:pPr eaLnBrk="1" hangingPunct="1">
              <a:lnSpc>
                <a:spcPct val="90000"/>
              </a:lnSpc>
            </a:pPr>
            <a:r>
              <a:rPr lang="en-GB"/>
              <a:t>Finds all objects and assigns a unique label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Connect Component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/>
              <a:t>Recursive algorithm</a:t>
            </a:r>
          </a:p>
          <a:p>
            <a:pPr lvl="1" eaLnBrk="1" hangingPunct="1">
              <a:lnSpc>
                <a:spcPct val="90000"/>
              </a:lnSpc>
            </a:pPr>
            <a:r>
              <a:rPr lang="en-GB"/>
              <a:t>Inefficient on sequential processors </a:t>
            </a:r>
          </a:p>
          <a:p>
            <a:pPr lvl="1" eaLnBrk="1" hangingPunct="1">
              <a:lnSpc>
                <a:spcPct val="90000"/>
              </a:lnSpc>
            </a:pPr>
            <a:r>
              <a:rPr lang="en-GB"/>
              <a:t>Commonly used on parallel machines</a:t>
            </a:r>
          </a:p>
          <a:p>
            <a:pPr eaLnBrk="1" hangingPunct="1">
              <a:lnSpc>
                <a:spcPct val="90000"/>
              </a:lnSpc>
            </a:pPr>
            <a:r>
              <a:rPr lang="en-GB"/>
              <a:t>Sequential algorithm</a:t>
            </a:r>
          </a:p>
          <a:p>
            <a:pPr lvl="1" eaLnBrk="1" hangingPunct="1">
              <a:lnSpc>
                <a:spcPct val="90000"/>
              </a:lnSpc>
            </a:pPr>
            <a:r>
              <a:rPr lang="en-GB"/>
              <a:t>Requires two passes over the image</a:t>
            </a:r>
          </a:p>
          <a:p>
            <a:pPr lvl="1" eaLnBrk="1" hangingPunct="1">
              <a:lnSpc>
                <a:spcPct val="90000"/>
              </a:lnSpc>
            </a:pPr>
            <a:r>
              <a:rPr lang="en-GB"/>
              <a:t>Look at the neighbour to the left and above</a:t>
            </a:r>
          </a:p>
          <a:p>
            <a:pPr lvl="1" eaLnBrk="1" hangingPunct="1">
              <a:lnSpc>
                <a:spcPct val="90000"/>
              </a:lnSpc>
            </a:pPr>
            <a:r>
              <a:rPr lang="en-GB"/>
              <a:t>Assign a unique label to each new object </a:t>
            </a:r>
          </a:p>
          <a:p>
            <a:pPr lvl="1" eaLnBrk="1" hangingPunct="1">
              <a:lnSpc>
                <a:spcPct val="90000"/>
              </a:lnSpc>
            </a:pPr>
            <a:r>
              <a:rPr lang="en-GB"/>
              <a:t>Store information about unique labels in a table</a:t>
            </a:r>
          </a:p>
          <a:p>
            <a:pPr lvl="1" eaLnBrk="1" hangingPunct="1">
              <a:lnSpc>
                <a:spcPct val="90000"/>
              </a:lnSpc>
            </a:pPr>
            <a:r>
              <a:rPr lang="en-GB"/>
              <a:t>First run assign unique labels to objects </a:t>
            </a:r>
          </a:p>
          <a:p>
            <a:pPr lvl="1" eaLnBrk="1" hangingPunct="1">
              <a:lnSpc>
                <a:spcPct val="90000"/>
              </a:lnSpc>
            </a:pPr>
            <a:r>
              <a:rPr lang="en-GB"/>
              <a:t>Second run, one label are assigned to all pixels in the object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Connect Component - algorithm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609600" indent="-609600">
              <a:buFontTx/>
              <a:buAutoNum type="arabicPeriod"/>
            </a:pPr>
            <a:r>
              <a:rPr lang="en-GB"/>
              <a:t>Scan the image left to right, top to bottom</a:t>
            </a:r>
          </a:p>
          <a:p>
            <a:pPr marL="609600" indent="-609600">
              <a:buFontTx/>
              <a:buAutoNum type="arabicPeriod"/>
            </a:pPr>
            <a:r>
              <a:rPr lang="en-GB"/>
              <a:t>If the pixel is 1 then</a:t>
            </a:r>
          </a:p>
          <a:p>
            <a:pPr marL="990600" lvl="1" indent="-533400">
              <a:buFontTx/>
              <a:buAutoNum type="alphaLcParenR"/>
            </a:pPr>
            <a:r>
              <a:rPr lang="en-GB"/>
              <a:t>If only one of its upper and left neighbours has a label, then copy the label</a:t>
            </a:r>
          </a:p>
          <a:p>
            <a:pPr marL="990600" lvl="1" indent="-533400">
              <a:buFontTx/>
              <a:buAutoNum type="alphaLcParenR"/>
            </a:pPr>
            <a:r>
              <a:rPr lang="en-GB"/>
              <a:t>If both has the same label, copy the label</a:t>
            </a:r>
          </a:p>
          <a:p>
            <a:pPr marL="990600" lvl="1" indent="-533400">
              <a:buFontTx/>
              <a:buAutoNum type="alphaLcParenR"/>
            </a:pPr>
            <a:r>
              <a:rPr lang="en-GB"/>
              <a:t>If both have different labels, then copy the upper’s label and enter the label in the equivalence table as equivalent labels</a:t>
            </a:r>
          </a:p>
          <a:p>
            <a:pPr marL="990600" lvl="1" indent="-533400">
              <a:buFontTx/>
              <a:buAutoNum type="alphaLcParenR"/>
            </a:pPr>
            <a:r>
              <a:rPr lang="en-GB"/>
              <a:t>Otherwise assign a new label to this pixel and enter this label in the equivalent table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Connect Component - algorithm</a:t>
            </a:r>
            <a:endParaRPr lang="sv-SE"/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609600" indent="-609600">
              <a:buFontTx/>
              <a:buAutoNum type="arabicPeriod" startAt="3"/>
            </a:pPr>
            <a:r>
              <a:rPr lang="en-GB"/>
              <a:t>If there are more pixels to consider, the go to step 2</a:t>
            </a:r>
          </a:p>
          <a:p>
            <a:pPr marL="609600" indent="-609600">
              <a:buFontTx/>
              <a:buAutoNum type="arabicPeriod" startAt="3"/>
            </a:pPr>
            <a:r>
              <a:rPr lang="en-GB"/>
              <a:t>Find the lowest label for each equivalent set in the equivalence table</a:t>
            </a:r>
          </a:p>
          <a:p>
            <a:pPr marL="609600" indent="-609600">
              <a:buFontTx/>
              <a:buAutoNum type="arabicPeriod" startAt="3"/>
            </a:pPr>
            <a:r>
              <a:rPr lang="en-GB"/>
              <a:t>Scan the picture. Replace each label by the lowest label in its equivalent set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88" name="Picture 35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83001" y="719139"/>
            <a:ext cx="5495925" cy="562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489" name="Picture 35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83001" y="719139"/>
            <a:ext cx="5495925" cy="562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490" name="Picture 35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83001" y="719139"/>
            <a:ext cx="5495925" cy="562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492" name="Picture 35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83001" y="719139"/>
            <a:ext cx="5495925" cy="562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493" name="Picture 35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683001" y="719139"/>
            <a:ext cx="5495925" cy="562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494" name="Picture 35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683001" y="719139"/>
            <a:ext cx="5495925" cy="562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496" name="Picture 36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683001" y="719139"/>
            <a:ext cx="5495925" cy="562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497" name="Picture 36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683001" y="719139"/>
            <a:ext cx="5495925" cy="562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499" name="Picture 363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683001" y="719139"/>
            <a:ext cx="5495925" cy="562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911" name="Picture 775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683001" y="719139"/>
            <a:ext cx="5495925" cy="562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912" name="Picture 776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683001" y="719139"/>
            <a:ext cx="5495925" cy="562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913" name="Picture 777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683001" y="719139"/>
            <a:ext cx="5495925" cy="562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70" name="Text Box 778"/>
          <p:cNvSpPr txBox="1">
            <a:spLocks noChangeArrowheads="1"/>
          </p:cNvSpPr>
          <p:nvPr/>
        </p:nvSpPr>
        <p:spPr bwMode="auto">
          <a:xfrm>
            <a:off x="1847850" y="1628775"/>
            <a:ext cx="13080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Input image</a:t>
            </a:r>
          </a:p>
        </p:txBody>
      </p:sp>
      <p:sp>
        <p:nvSpPr>
          <p:cNvPr id="19471" name="Text Box 779"/>
          <p:cNvSpPr txBox="1">
            <a:spLocks noChangeArrowheads="1"/>
          </p:cNvSpPr>
          <p:nvPr/>
        </p:nvSpPr>
        <p:spPr bwMode="auto">
          <a:xfrm>
            <a:off x="1919288" y="4652963"/>
            <a:ext cx="14795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Output image</a:t>
            </a:r>
          </a:p>
        </p:txBody>
      </p:sp>
      <p:sp>
        <p:nvSpPr>
          <p:cNvPr id="19472" name="Text Box 780"/>
          <p:cNvSpPr txBox="1">
            <a:spLocks noChangeArrowheads="1"/>
          </p:cNvSpPr>
          <p:nvPr/>
        </p:nvSpPr>
        <p:spPr bwMode="auto">
          <a:xfrm>
            <a:off x="8183563" y="685800"/>
            <a:ext cx="67961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Table</a:t>
            </a:r>
          </a:p>
        </p:txBody>
      </p:sp>
      <p:pic>
        <p:nvPicPr>
          <p:cNvPr id="91917" name="Picture 78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683001" y="719139"/>
            <a:ext cx="5495925" cy="562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0632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6789516" cy="1158875"/>
          </a:xfrm>
        </p:spPr>
        <p:txBody>
          <a:bodyPr/>
          <a:lstStyle/>
          <a:p>
            <a:pPr eaLnBrk="1" hangingPunct="1"/>
            <a:r>
              <a:rPr lang="en-GB" dirty="0"/>
              <a:t>Connected component example</a:t>
            </a:r>
          </a:p>
        </p:txBody>
      </p:sp>
      <p:pic>
        <p:nvPicPr>
          <p:cNvPr id="26628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119897" y="1285081"/>
            <a:ext cx="8064500" cy="428783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v-SE"/>
              <a:t>After step 3</a:t>
            </a:r>
          </a:p>
        </p:txBody>
      </p:sp>
      <p:pic>
        <p:nvPicPr>
          <p:cNvPr id="27652" name="Picture 3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3229337" y="5600303"/>
            <a:ext cx="5465763" cy="669925"/>
          </a:xfrm>
          <a:prstGeom prst="rect">
            <a:avLst/>
          </a:prstGeom>
          <a:noFill/>
        </p:spPr>
      </p:pic>
      <p:pic>
        <p:nvPicPr>
          <p:cNvPr id="27653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2171700" y="1342231"/>
            <a:ext cx="7848600" cy="4173538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Final coding</a:t>
            </a:r>
          </a:p>
        </p:txBody>
      </p:sp>
      <p:pic>
        <p:nvPicPr>
          <p:cNvPr id="28676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471069" y="5883275"/>
            <a:ext cx="5249862" cy="642938"/>
          </a:xfrm>
          <a:noFill/>
        </p:spPr>
      </p:pic>
      <p:pic>
        <p:nvPicPr>
          <p:cNvPr id="28677" name="Picture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099469" y="1633537"/>
            <a:ext cx="7993062" cy="4249738"/>
          </a:xfrm>
        </p:spPr>
      </p:pic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Memory allocation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GB" dirty="0"/>
              <a:t>Memory must be allocated for temporary arrays due to unknown image size</a:t>
            </a:r>
            <a:r>
              <a:rPr lang="en-GB" sz="2000" dirty="0">
                <a:latin typeface="Courier New" pitchFamily="49" charset="0"/>
              </a:rPr>
              <a:t> </a:t>
            </a:r>
          </a:p>
          <a:p>
            <a:pPr lvl="1">
              <a:lnSpc>
                <a:spcPct val="80000"/>
              </a:lnSpc>
              <a:buNone/>
            </a:pPr>
            <a:r>
              <a:rPr lang="en-GB" sz="2000" dirty="0">
                <a:latin typeface="Courier New" pitchFamily="49" charset="0"/>
              </a:rPr>
              <a:t>unsigned int *</a:t>
            </a:r>
            <a:r>
              <a:rPr lang="en-GB" sz="2000" dirty="0" err="1">
                <a:latin typeface="Courier New" pitchFamily="49" charset="0"/>
              </a:rPr>
              <a:t>obj_code</a:t>
            </a:r>
            <a:r>
              <a:rPr lang="en-GB" sz="2000" dirty="0">
                <a:latin typeface="Courier New" pitchFamily="49" charset="0"/>
              </a:rPr>
              <a:t>;   </a:t>
            </a:r>
          </a:p>
          <a:p>
            <a:pPr lvl="1">
              <a:lnSpc>
                <a:spcPct val="80000"/>
              </a:lnSpc>
              <a:buNone/>
            </a:pPr>
            <a:endParaRPr lang="en-GB" sz="2000" dirty="0">
              <a:latin typeface="Courier New" pitchFamily="49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en-GB" sz="2000" dirty="0">
                <a:latin typeface="Courier New" pitchFamily="49" charset="0"/>
              </a:rPr>
              <a:t>if ((</a:t>
            </a:r>
            <a:r>
              <a:rPr lang="en-GB" sz="2000" dirty="0" err="1">
                <a:latin typeface="Courier New" pitchFamily="49" charset="0"/>
              </a:rPr>
              <a:t>obj_code</a:t>
            </a:r>
            <a:r>
              <a:rPr lang="en-GB" sz="2000" dirty="0">
                <a:latin typeface="Courier New" pitchFamily="49" charset="0"/>
              </a:rPr>
              <a:t>=(unsigned int *) malloc(h*w* </a:t>
            </a:r>
            <a:br>
              <a:rPr lang="en-GB" sz="2000" dirty="0">
                <a:latin typeface="Courier New" pitchFamily="49" charset="0"/>
              </a:rPr>
            </a:br>
            <a:r>
              <a:rPr lang="en-GB" sz="2000" dirty="0">
                <a:latin typeface="Courier New" pitchFamily="49" charset="0"/>
              </a:rPr>
              <a:t>     </a:t>
            </a:r>
            <a:r>
              <a:rPr lang="en-GB" sz="2000" dirty="0" err="1">
                <a:latin typeface="Courier New" pitchFamily="49" charset="0"/>
              </a:rPr>
              <a:t>sizeof</a:t>
            </a:r>
            <a:r>
              <a:rPr lang="en-GB" sz="2000" dirty="0">
                <a:latin typeface="Courier New" pitchFamily="49" charset="0"/>
              </a:rPr>
              <a:t>(unsigned int)))==NULL)</a:t>
            </a:r>
          </a:p>
          <a:p>
            <a:pPr lvl="1">
              <a:lnSpc>
                <a:spcPct val="80000"/>
              </a:lnSpc>
              <a:buNone/>
            </a:pPr>
            <a:r>
              <a:rPr lang="en-GB" sz="2000" dirty="0">
                <a:latin typeface="Courier New" pitchFamily="49" charset="0"/>
              </a:rPr>
              <a:t>{</a:t>
            </a:r>
            <a:br>
              <a:rPr lang="en-GB" sz="2000" dirty="0">
                <a:latin typeface="Courier New" pitchFamily="49" charset="0"/>
              </a:rPr>
            </a:br>
            <a:r>
              <a:rPr lang="en-GB" sz="2000" dirty="0" err="1">
                <a:latin typeface="Courier New" pitchFamily="49" charset="0"/>
              </a:rPr>
              <a:t>printf</a:t>
            </a:r>
            <a:r>
              <a:rPr lang="en-GB" sz="2000" dirty="0">
                <a:latin typeface="Courier New" pitchFamily="49" charset="0"/>
              </a:rPr>
              <a:t>("Not enough memory to allocate buffer\n");</a:t>
            </a:r>
            <a:br>
              <a:rPr lang="en-GB" sz="2000" dirty="0">
                <a:latin typeface="Courier New" pitchFamily="49" charset="0"/>
              </a:rPr>
            </a:br>
            <a:r>
              <a:rPr lang="en-GB" sz="2000" dirty="0">
                <a:latin typeface="Courier New" pitchFamily="49" charset="0"/>
              </a:rPr>
              <a:t>return;  /* terminate program if out of memory */</a:t>
            </a:r>
          </a:p>
          <a:p>
            <a:pPr lvl="1">
              <a:lnSpc>
                <a:spcPct val="80000"/>
              </a:lnSpc>
              <a:buNone/>
            </a:pPr>
            <a:r>
              <a:rPr lang="en-GB" sz="2000" dirty="0">
                <a:latin typeface="Courier New" pitchFamily="49" charset="0"/>
              </a:rPr>
              <a:t>}</a:t>
            </a:r>
            <a:br>
              <a:rPr lang="en-GB" sz="1600" dirty="0">
                <a:latin typeface="Courier New" pitchFamily="49" charset="0"/>
              </a:rPr>
            </a:br>
            <a:endParaRPr lang="en-GB" sz="1600" dirty="0"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GB" dirty="0"/>
              <a:t>Don’t forget to free the memory</a:t>
            </a:r>
            <a:r>
              <a:rPr lang="en-GB" dirty="0">
                <a:latin typeface="Courier New" pitchFamily="49" charset="0"/>
              </a:rPr>
              <a:t> </a:t>
            </a:r>
          </a:p>
          <a:p>
            <a:pPr lvl="1">
              <a:lnSpc>
                <a:spcPct val="80000"/>
              </a:lnSpc>
              <a:buNone/>
            </a:pPr>
            <a:r>
              <a:rPr lang="en-GB" sz="1800" dirty="0">
                <a:latin typeface="Courier New" pitchFamily="49" charset="0"/>
              </a:rPr>
              <a:t>free(</a:t>
            </a:r>
            <a:r>
              <a:rPr lang="en-GB" sz="1800" dirty="0" err="1">
                <a:latin typeface="Courier New" pitchFamily="49" charset="0"/>
              </a:rPr>
              <a:t>obj_code</a:t>
            </a:r>
            <a:r>
              <a:rPr lang="en-GB" sz="1800" dirty="0">
                <a:latin typeface="Courier New" pitchFamily="49" charset="0"/>
              </a:rPr>
              <a:t>);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endParaRPr lang="en-GB" sz="2000" dirty="0"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sz="2000" dirty="0"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sz="2000" dirty="0">
                <a:latin typeface="Courier New" pitchFamily="49" charset="0"/>
              </a:rPr>
              <a:t>for (</a:t>
            </a:r>
            <a:r>
              <a:rPr lang="en-GB" sz="2000" dirty="0" err="1">
                <a:latin typeface="Courier New" pitchFamily="49" charset="0"/>
              </a:rPr>
              <a:t>i</a:t>
            </a:r>
            <a:r>
              <a:rPr lang="en-GB" sz="2000" dirty="0">
                <a:latin typeface="Courier New" pitchFamily="49" charset="0"/>
              </a:rPr>
              <a:t>=1; </a:t>
            </a:r>
            <a:r>
              <a:rPr lang="en-GB" sz="2000" dirty="0" err="1">
                <a:latin typeface="Courier New" pitchFamily="49" charset="0"/>
              </a:rPr>
              <a:t>i</a:t>
            </a:r>
            <a:r>
              <a:rPr lang="en-GB" sz="2000" dirty="0">
                <a:latin typeface="Courier New" pitchFamily="49" charset="0"/>
              </a:rPr>
              <a:t>&lt;=</a:t>
            </a:r>
            <a:r>
              <a:rPr lang="en-GB" sz="2000" dirty="0" err="1">
                <a:latin typeface="Courier New" pitchFamily="49" charset="0"/>
              </a:rPr>
              <a:t>nb</a:t>
            </a:r>
            <a:r>
              <a:rPr lang="en-GB" sz="2000" dirty="0">
                <a:latin typeface="Courier New" pitchFamily="49" charset="0"/>
              </a:rPr>
              <a:t>; </a:t>
            </a:r>
            <a:r>
              <a:rPr lang="en-GB" sz="2000" dirty="0" err="1">
                <a:latin typeface="Courier New" pitchFamily="49" charset="0"/>
              </a:rPr>
              <a:t>i</a:t>
            </a:r>
            <a:r>
              <a:rPr lang="en-GB" sz="2000" dirty="0">
                <a:latin typeface="Courier New" pitchFamily="49" charset="0"/>
              </a:rPr>
              <a:t>++)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sz="2000" dirty="0">
                <a:latin typeface="Courier New" pitchFamily="49" charset="0"/>
              </a:rPr>
              <a:t>{   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sz="2000" dirty="0">
                <a:latin typeface="Courier New" pitchFamily="49" charset="0"/>
              </a:rPr>
              <a:t>  k=</a:t>
            </a:r>
            <a:r>
              <a:rPr lang="en-GB" sz="2000" dirty="0" err="1">
                <a:latin typeface="Courier New" pitchFamily="49" charset="0"/>
              </a:rPr>
              <a:t>i</a:t>
            </a:r>
            <a:r>
              <a:rPr lang="en-GB" sz="2000" dirty="0">
                <a:latin typeface="Courier New" pitchFamily="49" charset="0"/>
              </a:rPr>
              <a:t>;   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sz="2000" dirty="0">
                <a:latin typeface="Courier New" pitchFamily="49" charset="0"/>
              </a:rPr>
              <a:t>  if (</a:t>
            </a:r>
            <a:r>
              <a:rPr lang="en-GB" sz="2000" dirty="0" err="1">
                <a:latin typeface="Courier New" pitchFamily="49" charset="0"/>
              </a:rPr>
              <a:t>corresp</a:t>
            </a:r>
            <a:r>
              <a:rPr lang="en-GB" sz="2000" dirty="0">
                <a:latin typeface="Courier New" pitchFamily="49" charset="0"/>
              </a:rPr>
              <a:t>[k]!=k)   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sz="2000" dirty="0">
                <a:latin typeface="Courier New" pitchFamily="49" charset="0"/>
              </a:rPr>
              <a:t>  {     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sz="2000" dirty="0">
                <a:latin typeface="Courier New" pitchFamily="49" charset="0"/>
              </a:rPr>
              <a:t>    k=</a:t>
            </a:r>
            <a:r>
              <a:rPr lang="en-GB" sz="2000" dirty="0" err="1">
                <a:latin typeface="Courier New" pitchFamily="49" charset="0"/>
              </a:rPr>
              <a:t>corresp</a:t>
            </a:r>
            <a:r>
              <a:rPr lang="en-GB" sz="2000" dirty="0">
                <a:latin typeface="Courier New" pitchFamily="49" charset="0"/>
              </a:rPr>
              <a:t>[k];    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sz="2000" dirty="0">
                <a:latin typeface="Courier New" pitchFamily="49" charset="0"/>
              </a:rPr>
              <a:t>    </a:t>
            </a:r>
            <a:r>
              <a:rPr lang="en-GB" sz="2000" dirty="0" err="1">
                <a:latin typeface="Courier New" pitchFamily="49" charset="0"/>
              </a:rPr>
              <a:t>corresp</a:t>
            </a:r>
            <a:r>
              <a:rPr lang="en-GB" sz="2000" dirty="0">
                <a:latin typeface="Courier New" pitchFamily="49" charset="0"/>
              </a:rPr>
              <a:t>[</a:t>
            </a:r>
            <a:r>
              <a:rPr lang="en-GB" sz="2000" dirty="0" err="1">
                <a:latin typeface="Courier New" pitchFamily="49" charset="0"/>
              </a:rPr>
              <a:t>i</a:t>
            </a:r>
            <a:r>
              <a:rPr lang="en-GB" sz="2000" dirty="0">
                <a:latin typeface="Courier New" pitchFamily="49" charset="0"/>
              </a:rPr>
              <a:t>]=</a:t>
            </a:r>
            <a:r>
              <a:rPr lang="en-GB" sz="2000" dirty="0" err="1">
                <a:latin typeface="Courier New" pitchFamily="49" charset="0"/>
              </a:rPr>
              <a:t>corresp</a:t>
            </a:r>
            <a:r>
              <a:rPr lang="en-GB" sz="2000" dirty="0">
                <a:latin typeface="Courier New" pitchFamily="49" charset="0"/>
              </a:rPr>
              <a:t>[k];   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sz="2000" dirty="0">
                <a:latin typeface="Courier New" pitchFamily="49" charset="0"/>
              </a:rPr>
              <a:t>    ne=ne+1;  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sz="2000" dirty="0">
                <a:latin typeface="Courier New" pitchFamily="49" charset="0"/>
              </a:rPr>
              <a:t>  } 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sz="2000" dirty="0">
                <a:latin typeface="Courier New" pitchFamily="49" charset="0"/>
              </a:rPr>
              <a:t>}</a:t>
            </a:r>
            <a:br>
              <a:rPr lang="en-GB" sz="2000" dirty="0">
                <a:latin typeface="Courier New" pitchFamily="49" charset="0"/>
              </a:rPr>
            </a:br>
            <a:endParaRPr lang="en-GB" sz="2000" dirty="0">
              <a:latin typeface="Courier New" pitchFamily="49" charset="0"/>
            </a:endParaRPr>
          </a:p>
        </p:txBody>
      </p:sp>
      <p:sp>
        <p:nvSpPr>
          <p:cNvPr id="30725" name="Rectangle 4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endParaRPr lang="en-GB" dirty="0"/>
          </a:p>
          <a:p>
            <a:pPr eaLnBrk="1" hangingPunct="1"/>
            <a:r>
              <a:rPr lang="en-GB" dirty="0" err="1"/>
              <a:t>corresp</a:t>
            </a:r>
            <a:r>
              <a:rPr lang="en-GB" dirty="0"/>
              <a:t>= correspond list </a:t>
            </a:r>
          </a:p>
          <a:p>
            <a:pPr eaLnBrk="1" hangingPunct="1"/>
            <a:r>
              <a:rPr lang="en-GB" dirty="0" err="1"/>
              <a:t>i</a:t>
            </a:r>
            <a:r>
              <a:rPr lang="en-GB" dirty="0"/>
              <a:t> counter</a:t>
            </a:r>
          </a:p>
          <a:p>
            <a:pPr eaLnBrk="1" hangingPunct="1"/>
            <a:r>
              <a:rPr lang="en-GB" dirty="0"/>
              <a:t>k counter</a:t>
            </a:r>
          </a:p>
          <a:p>
            <a:pPr eaLnBrk="1" hangingPunct="1"/>
            <a:r>
              <a:rPr lang="en-GB" dirty="0" err="1"/>
              <a:t>nb</a:t>
            </a:r>
            <a:r>
              <a:rPr lang="en-GB" dirty="0"/>
              <a:t> number of objects</a:t>
            </a:r>
          </a:p>
          <a:p>
            <a:pPr eaLnBrk="1" hangingPunct="1"/>
            <a:r>
              <a:rPr lang="en-GB" dirty="0"/>
              <a:t>ne corrected number of objects   </a:t>
            </a: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Correspondence list correction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Final coding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da-DK" sz="2400"/>
              <a:t>Run through the object code image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sz="2400">
                <a:latin typeface="Courier New" pitchFamily="49" charset="0"/>
              </a:rPr>
              <a:t>for (i=1; i&lt;height-1; i++)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sz="2400">
                <a:latin typeface="Courier New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sz="2400">
                <a:latin typeface="Courier New" pitchFamily="49" charset="0"/>
              </a:rPr>
              <a:t>	for(j=1; j&lt;width-1; j++)</a:t>
            </a:r>
            <a:br>
              <a:rPr lang="en-GB" sz="2400">
                <a:latin typeface="Courier New" pitchFamily="49" charset="0"/>
              </a:rPr>
            </a:br>
            <a:r>
              <a:rPr lang="en-GB" sz="2400">
                <a:latin typeface="Courier New" pitchFamily="49" charset="0"/>
              </a:rPr>
              <a:t>{</a:t>
            </a:r>
            <a:br>
              <a:rPr lang="en-GB" sz="2400">
                <a:latin typeface="Courier New" pitchFamily="49" charset="0"/>
              </a:rPr>
            </a:br>
            <a:r>
              <a:rPr lang="en-GB" sz="2400">
                <a:latin typeface="Courier New" pitchFamily="49" charset="0"/>
              </a:rPr>
              <a:t>  if (obj_code[width*i+j]!=0)</a:t>
            </a:r>
            <a:br>
              <a:rPr lang="en-GB" sz="2400">
                <a:latin typeface="Courier New" pitchFamily="49" charset="0"/>
              </a:rPr>
            </a:br>
            <a:r>
              <a:rPr lang="en-GB" sz="2400">
                <a:latin typeface="Courier New" pitchFamily="49" charset="0"/>
              </a:rPr>
              <a:t>  {</a:t>
            </a:r>
            <a:br>
              <a:rPr lang="en-GB" sz="2400">
                <a:latin typeface="Courier New" pitchFamily="49" charset="0"/>
              </a:rPr>
            </a:br>
            <a:r>
              <a:rPr lang="en-GB" sz="2400">
                <a:latin typeface="Courier New" pitchFamily="49" charset="0"/>
              </a:rPr>
              <a:t>    c=obj_code[width*i+j];</a:t>
            </a:r>
            <a:br>
              <a:rPr lang="en-GB" sz="2400">
                <a:latin typeface="Courier New" pitchFamily="49" charset="0"/>
              </a:rPr>
            </a:br>
            <a:r>
              <a:rPr lang="en-GB" sz="2400">
                <a:latin typeface="Courier New" pitchFamily="49" charset="0"/>
              </a:rPr>
              <a:t>    obj_code[width*i+j]=corresp[c];</a:t>
            </a:r>
            <a:br>
              <a:rPr lang="en-GB" sz="2400">
                <a:latin typeface="Courier New" pitchFamily="49" charset="0"/>
              </a:rPr>
            </a:br>
            <a:r>
              <a:rPr lang="en-GB" sz="2400">
                <a:latin typeface="Courier New" pitchFamily="49" charset="0"/>
              </a:rPr>
              <a:t>  }</a:t>
            </a:r>
            <a:br>
              <a:rPr lang="en-GB" sz="2400">
                <a:latin typeface="Courier New" pitchFamily="49" charset="0"/>
              </a:rPr>
            </a:br>
            <a:r>
              <a:rPr lang="en-GB" sz="2400">
                <a:latin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sz="2400">
                <a:latin typeface="Courier New" pitchFamily="49" charset="0"/>
              </a:rPr>
              <a:t>}</a:t>
            </a:r>
            <a:br>
              <a:rPr lang="en-GB" sz="2400">
                <a:latin typeface="Courier New" pitchFamily="49" charset="0"/>
              </a:rPr>
            </a:br>
            <a:endParaRPr lang="da-DK" sz="240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kaels HV Eng mall.potx" id="{01CC7A3E-3EB7-42D8-A531-55C5F3FB8D50}" vid="{609F412A-B0E9-4730-BB39-A809CCF969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Mikaels HV Eng mall</Template>
  <TotalTime>463</TotalTime>
  <Words>1631</Words>
  <Application>Microsoft Office PowerPoint</Application>
  <PresentationFormat>Widescreen</PresentationFormat>
  <Paragraphs>243</Paragraphs>
  <Slides>51</Slides>
  <Notes>21</Notes>
  <HiddenSlides>4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Calibri</vt:lpstr>
      <vt:lpstr>Calibri Light</vt:lpstr>
      <vt:lpstr>Cambria Math</vt:lpstr>
      <vt:lpstr>Courier New</vt:lpstr>
      <vt:lpstr>Office Theme</vt:lpstr>
      <vt:lpstr>Equation</vt:lpstr>
      <vt:lpstr>Machine Vision lecture 3</vt:lpstr>
      <vt:lpstr>Edge detection</vt:lpstr>
      <vt:lpstr>Edges in image</vt:lpstr>
      <vt:lpstr>Edge filters - example</vt:lpstr>
      <vt:lpstr>Sobel operator</vt:lpstr>
      <vt:lpstr>Sobel filter - example</vt:lpstr>
      <vt:lpstr>Sobel filter</vt:lpstr>
      <vt:lpstr>Second derivative edge filter</vt:lpstr>
      <vt:lpstr>Laplacian of Gaussian (LoG)</vt:lpstr>
      <vt:lpstr>Mexican hat operator (LoG)</vt:lpstr>
      <vt:lpstr>Canny edge detection</vt:lpstr>
      <vt:lpstr>Gaussian smoothing</vt:lpstr>
      <vt:lpstr>Gaussian separability</vt:lpstr>
      <vt:lpstr>Advantages of separability</vt:lpstr>
      <vt:lpstr>Separability</vt:lpstr>
      <vt:lpstr>Advantages Gaussian</vt:lpstr>
      <vt:lpstr>Design Gaussian filter</vt:lpstr>
      <vt:lpstr>Design Gaussian filter</vt:lpstr>
      <vt:lpstr>Design Gaussian filter</vt:lpstr>
      <vt:lpstr>Design Gaussian filter</vt:lpstr>
      <vt:lpstr>Design Gaussian filter</vt:lpstr>
      <vt:lpstr>Design Gaussian filter</vt:lpstr>
      <vt:lpstr>Moving window in C# and OpenCV </vt:lpstr>
      <vt:lpstr>Find position and orientation of object in the image </vt:lpstr>
      <vt:lpstr>Size of object</vt:lpstr>
      <vt:lpstr>Position</vt:lpstr>
      <vt:lpstr>Position of object</vt:lpstr>
      <vt:lpstr>Position of object</vt:lpstr>
      <vt:lpstr>Example - position</vt:lpstr>
      <vt:lpstr>Example - position</vt:lpstr>
      <vt:lpstr>Example</vt:lpstr>
      <vt:lpstr>Example</vt:lpstr>
      <vt:lpstr>Orientation</vt:lpstr>
      <vt:lpstr>Elongation axis</vt:lpstr>
      <vt:lpstr>Polar representation of a straight line</vt:lpstr>
      <vt:lpstr>Orientation of object</vt:lpstr>
      <vt:lpstr>Limitations</vt:lpstr>
      <vt:lpstr>Example</vt:lpstr>
      <vt:lpstr>Answer</vt:lpstr>
      <vt:lpstr>Find unique object in the image </vt:lpstr>
      <vt:lpstr>Connect Component</vt:lpstr>
      <vt:lpstr>Connect Component</vt:lpstr>
      <vt:lpstr>Connect Component - algorithm</vt:lpstr>
      <vt:lpstr>Connect Component - algorithm</vt:lpstr>
      <vt:lpstr>PowerPoint Presentation</vt:lpstr>
      <vt:lpstr>Connected component example</vt:lpstr>
      <vt:lpstr>After step 3</vt:lpstr>
      <vt:lpstr>Final coding</vt:lpstr>
      <vt:lpstr>Memory allocation</vt:lpstr>
      <vt:lpstr>Correspondence list correction</vt:lpstr>
      <vt:lpstr>Final coding</vt:lpstr>
    </vt:vector>
  </TitlesOfParts>
  <Company>University West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Vision lecture 3</dc:title>
  <dc:creator>Mikael Ericsson (HV)</dc:creator>
  <cp:lastModifiedBy>Mikael Ericsson (HV)</cp:lastModifiedBy>
  <cp:revision>22</cp:revision>
  <dcterms:created xsi:type="dcterms:W3CDTF">2018-11-27T21:51:17Z</dcterms:created>
  <dcterms:modified xsi:type="dcterms:W3CDTF">2023-11-29T13:36:24Z</dcterms:modified>
</cp:coreProperties>
</file>