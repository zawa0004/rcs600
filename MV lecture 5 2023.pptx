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8"/>
  </p:notesMasterIdLst>
  <p:handoutMasterIdLst>
    <p:handoutMasterId r:id="rId59"/>
  </p:handoutMasterIdLst>
  <p:sldIdLst>
    <p:sldId id="256" r:id="rId2"/>
    <p:sldId id="258" r:id="rId3"/>
    <p:sldId id="271" r:id="rId4"/>
    <p:sldId id="272" r:id="rId5"/>
    <p:sldId id="273" r:id="rId6"/>
    <p:sldId id="280" r:id="rId7"/>
    <p:sldId id="295" r:id="rId8"/>
    <p:sldId id="274" r:id="rId9"/>
    <p:sldId id="275" r:id="rId10"/>
    <p:sldId id="276" r:id="rId11"/>
    <p:sldId id="277" r:id="rId12"/>
    <p:sldId id="281" r:id="rId13"/>
    <p:sldId id="282" r:id="rId14"/>
    <p:sldId id="283" r:id="rId15"/>
    <p:sldId id="293" r:id="rId16"/>
    <p:sldId id="294" r:id="rId17"/>
    <p:sldId id="325" r:id="rId18"/>
    <p:sldId id="324" r:id="rId19"/>
    <p:sldId id="508" r:id="rId20"/>
    <p:sldId id="509" r:id="rId21"/>
    <p:sldId id="299" r:id="rId22"/>
    <p:sldId id="445" r:id="rId23"/>
    <p:sldId id="446" r:id="rId24"/>
    <p:sldId id="441" r:id="rId25"/>
    <p:sldId id="442" r:id="rId26"/>
    <p:sldId id="443" r:id="rId27"/>
    <p:sldId id="444" r:id="rId28"/>
    <p:sldId id="302" r:id="rId29"/>
    <p:sldId id="301" r:id="rId30"/>
    <p:sldId id="300" r:id="rId31"/>
    <p:sldId id="447" r:id="rId32"/>
    <p:sldId id="448" r:id="rId33"/>
    <p:sldId id="343" r:id="rId34"/>
    <p:sldId id="320" r:id="rId35"/>
    <p:sldId id="321" r:id="rId36"/>
    <p:sldId id="322" r:id="rId37"/>
    <p:sldId id="307" r:id="rId38"/>
    <p:sldId id="309" r:id="rId39"/>
    <p:sldId id="308" r:id="rId40"/>
    <p:sldId id="310" r:id="rId41"/>
    <p:sldId id="450" r:id="rId42"/>
    <p:sldId id="451" r:id="rId43"/>
    <p:sldId id="452" r:id="rId44"/>
    <p:sldId id="311" r:id="rId45"/>
    <p:sldId id="313" r:id="rId46"/>
    <p:sldId id="312" r:id="rId47"/>
    <p:sldId id="314" r:id="rId48"/>
    <p:sldId id="315" r:id="rId49"/>
    <p:sldId id="507" r:id="rId50"/>
    <p:sldId id="316" r:id="rId51"/>
    <p:sldId id="318" r:id="rId52"/>
    <p:sldId id="319" r:id="rId53"/>
    <p:sldId id="506" r:id="rId54"/>
    <p:sldId id="496" r:id="rId55"/>
    <p:sldId id="317" r:id="rId56"/>
    <p:sldId id="357" r:id="rId57"/>
  </p:sldIdLst>
  <p:sldSz cx="12192000" cy="6858000"/>
  <p:notesSz cx="6858000" cy="9144000"/>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CA7D8"/>
    <a:srgbClr val="EEEDEA"/>
    <a:srgbClr val="ABA49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7570647-1D2B-4428-85C6-BC6061C3FF4A}" v="2" dt="2023-12-14T06:32:50.68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08" d="100"/>
          <a:sy n="108" d="100"/>
        </p:scale>
        <p:origin x="630" y="102"/>
      </p:cViewPr>
      <p:guideLst/>
    </p:cSldViewPr>
  </p:slideViewPr>
  <p:notesTextViewPr>
    <p:cViewPr>
      <p:scale>
        <a:sx n="3" d="2"/>
        <a:sy n="3" d="2"/>
      </p:scale>
      <p:origin x="0" y="0"/>
    </p:cViewPr>
  </p:notesTextViewPr>
  <p:notesViewPr>
    <p:cSldViewPr snapToGrid="0">
      <p:cViewPr varScale="1">
        <p:scale>
          <a:sx n="66" d="100"/>
          <a:sy n="66" d="100"/>
        </p:scale>
        <p:origin x="3134" y="43"/>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65"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kael Ericsson (HV)" userId="8506a6f4-de41-4831-9818-e418b33149bf" providerId="ADAL" clId="{F7570647-1D2B-4428-85C6-BC6061C3FF4A}"/>
    <pc:docChg chg="custSel addSld modSld sldOrd">
      <pc:chgData name="Mikael Ericsson (HV)" userId="8506a6f4-de41-4831-9818-e418b33149bf" providerId="ADAL" clId="{F7570647-1D2B-4428-85C6-BC6061C3FF4A}" dt="2023-12-14T06:33:05.299" v="10" actId="27614"/>
      <pc:docMkLst>
        <pc:docMk/>
      </pc:docMkLst>
      <pc:sldChg chg="addSp delSp modSp new mod ord modClrScheme modAnim chgLayout">
        <pc:chgData name="Mikael Ericsson (HV)" userId="8506a6f4-de41-4831-9818-e418b33149bf" providerId="ADAL" clId="{F7570647-1D2B-4428-85C6-BC6061C3FF4A}" dt="2023-12-14T06:33:04.773" v="9"/>
        <pc:sldMkLst>
          <pc:docMk/>
          <pc:sldMk cId="4145107964" sldId="508"/>
        </pc:sldMkLst>
        <pc:spChg chg="del">
          <ac:chgData name="Mikael Ericsson (HV)" userId="8506a6f4-de41-4831-9818-e418b33149bf" providerId="ADAL" clId="{F7570647-1D2B-4428-85C6-BC6061C3FF4A}" dt="2023-12-14T06:32:27.864" v="3" actId="26606"/>
          <ac:spMkLst>
            <pc:docMk/>
            <pc:sldMk cId="4145107964" sldId="508"/>
            <ac:spMk id="2" creationId="{46927F9E-E1D4-DB56-34CF-DA0DBD2F609E}"/>
          </ac:spMkLst>
        </pc:spChg>
        <pc:spChg chg="del">
          <ac:chgData name="Mikael Ericsson (HV)" userId="8506a6f4-de41-4831-9818-e418b33149bf" providerId="ADAL" clId="{F7570647-1D2B-4428-85C6-BC6061C3FF4A}" dt="2023-12-14T06:32:27.864" v="3" actId="26606"/>
          <ac:spMkLst>
            <pc:docMk/>
            <pc:sldMk cId="4145107964" sldId="508"/>
            <ac:spMk id="3" creationId="{31BD3A54-FD71-EFEF-EAA0-EB86CD7E221B}"/>
          </ac:spMkLst>
        </pc:spChg>
        <pc:picChg chg="add mod">
          <ac:chgData name="Mikael Ericsson (HV)" userId="8506a6f4-de41-4831-9818-e418b33149bf" providerId="ADAL" clId="{F7570647-1D2B-4428-85C6-BC6061C3FF4A}" dt="2023-12-14T06:32:34.497" v="4" actId="27614"/>
          <ac:picMkLst>
            <pc:docMk/>
            <pc:sldMk cId="4145107964" sldId="508"/>
            <ac:picMk id="4" creationId="{EAE7D08C-6612-43DA-E4E4-0E106B51CCA1}"/>
          </ac:picMkLst>
        </pc:picChg>
      </pc:sldChg>
      <pc:sldChg chg="addSp delSp modSp new mod modClrScheme modAnim chgLayout">
        <pc:chgData name="Mikael Ericsson (HV)" userId="8506a6f4-de41-4831-9818-e418b33149bf" providerId="ADAL" clId="{F7570647-1D2B-4428-85C6-BC6061C3FF4A}" dt="2023-12-14T06:33:05.299" v="10" actId="27614"/>
        <pc:sldMkLst>
          <pc:docMk/>
          <pc:sldMk cId="1061727077" sldId="509"/>
        </pc:sldMkLst>
        <pc:spChg chg="del">
          <ac:chgData name="Mikael Ericsson (HV)" userId="8506a6f4-de41-4831-9818-e418b33149bf" providerId="ADAL" clId="{F7570647-1D2B-4428-85C6-BC6061C3FF4A}" dt="2023-12-14T06:32:53.936" v="7" actId="26606"/>
          <ac:spMkLst>
            <pc:docMk/>
            <pc:sldMk cId="1061727077" sldId="509"/>
            <ac:spMk id="2" creationId="{9ED057B7-3667-93CE-F68F-62ABDE8365F8}"/>
          </ac:spMkLst>
        </pc:spChg>
        <pc:spChg chg="del">
          <ac:chgData name="Mikael Ericsson (HV)" userId="8506a6f4-de41-4831-9818-e418b33149bf" providerId="ADAL" clId="{F7570647-1D2B-4428-85C6-BC6061C3FF4A}" dt="2023-12-14T06:32:53.936" v="7" actId="26606"/>
          <ac:spMkLst>
            <pc:docMk/>
            <pc:sldMk cId="1061727077" sldId="509"/>
            <ac:spMk id="3" creationId="{A439933E-183F-7AF1-24C7-E11F4796019F}"/>
          </ac:spMkLst>
        </pc:spChg>
        <pc:picChg chg="add mod">
          <ac:chgData name="Mikael Ericsson (HV)" userId="8506a6f4-de41-4831-9818-e418b33149bf" providerId="ADAL" clId="{F7570647-1D2B-4428-85C6-BC6061C3FF4A}" dt="2023-12-14T06:33:05.299" v="10" actId="27614"/>
          <ac:picMkLst>
            <pc:docMk/>
            <pc:sldMk cId="1061727077" sldId="509"/>
            <ac:picMk id="4" creationId="{0DCAAC19-1327-AB87-3D50-DCB44456D5B5}"/>
          </ac:picMkLst>
        </pc:picChg>
      </pc:sldChg>
    </pc:docChg>
  </pc:docChgLst>
  <pc:docChgLst>
    <pc:chgData name="Mikael Ericsson (HV)" userId="8506a6f4-de41-4831-9818-e418b33149bf" providerId="ADAL" clId="{422CC304-2C38-432F-BD69-F35670797D05}"/>
    <pc:docChg chg="addSld modSld">
      <pc:chgData name="Mikael Ericsson (HV)" userId="8506a6f4-de41-4831-9818-e418b33149bf" providerId="ADAL" clId="{422CC304-2C38-432F-BD69-F35670797D05}" dt="2023-05-31T13:50:20.665" v="1" actId="729"/>
      <pc:docMkLst>
        <pc:docMk/>
      </pc:docMkLst>
      <pc:sldChg chg="mod modShow">
        <pc:chgData name="Mikael Ericsson (HV)" userId="8506a6f4-de41-4831-9818-e418b33149bf" providerId="ADAL" clId="{422CC304-2C38-432F-BD69-F35670797D05}" dt="2023-05-31T13:50:20.665" v="1" actId="729"/>
        <pc:sldMkLst>
          <pc:docMk/>
          <pc:sldMk cId="1245604639" sldId="315"/>
        </pc:sldMkLst>
      </pc:sldChg>
      <pc:sldChg chg="add">
        <pc:chgData name="Mikael Ericsson (HV)" userId="8506a6f4-de41-4831-9818-e418b33149bf" providerId="ADAL" clId="{422CC304-2C38-432F-BD69-F35670797D05}" dt="2023-05-31T13:50:09.758" v="0"/>
        <pc:sldMkLst>
          <pc:docMk/>
          <pc:sldMk cId="4066701542" sldId="50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64E0004-B523-456F-8AC7-939D8383A82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EB42EF5B-388E-4E86-8C56-1A81C49E24D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98F77A5-5E42-4F98-A643-33BAEE904C7F}" type="datetimeFigureOut">
              <a:rPr lang="en-GB" smtClean="0"/>
              <a:t>14/12/2023</a:t>
            </a:fld>
            <a:endParaRPr lang="en-GB"/>
          </a:p>
        </p:txBody>
      </p:sp>
      <p:sp>
        <p:nvSpPr>
          <p:cNvPr id="4" name="Footer Placeholder 3">
            <a:extLst>
              <a:ext uri="{FF2B5EF4-FFF2-40B4-BE49-F238E27FC236}">
                <a16:creationId xmlns:a16="http://schemas.microsoft.com/office/drawing/2014/main" id="{32F5ECF8-B044-4644-AD5E-4556537580F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F00CF29D-6C23-4296-8438-920C7DED3C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5740CDA-AD7C-44DC-87B6-55048261C9A4}" type="slidenum">
              <a:rPr lang="en-GB" smtClean="0"/>
              <a:t>‹#›</a:t>
            </a:fld>
            <a:endParaRPr lang="en-GB"/>
          </a:p>
        </p:txBody>
      </p:sp>
    </p:spTree>
    <p:extLst>
      <p:ext uri="{BB962C8B-B14F-4D97-AF65-F5344CB8AC3E}">
        <p14:creationId xmlns:p14="http://schemas.microsoft.com/office/powerpoint/2010/main" val="39307415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479A5A-015C-4BBE-BC02-E041E6D29670}" type="datetimeFigureOut">
              <a:rPr lang="en-GB" smtClean="0"/>
              <a:t>14/12/2023</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6E4546-4F75-4D59-9A6B-CB6D495C5ACC}" type="slidenum">
              <a:rPr lang="en-GB" smtClean="0"/>
              <a:t>‹#›</a:t>
            </a:fld>
            <a:endParaRPr lang="en-GB"/>
          </a:p>
        </p:txBody>
      </p:sp>
    </p:spTree>
    <p:extLst>
      <p:ext uri="{BB962C8B-B14F-4D97-AF65-F5344CB8AC3E}">
        <p14:creationId xmlns:p14="http://schemas.microsoft.com/office/powerpoint/2010/main" val="23702231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17E5CE2-D29B-49CC-A5BC-E0E3DE21B8D2}" type="slidenum">
              <a:rPr lang="en-GB"/>
              <a:pPr/>
              <a:t>34</a:t>
            </a:fld>
            <a:endParaRPr lang="en-GB"/>
          </a:p>
        </p:txBody>
      </p:sp>
      <p:sp>
        <p:nvSpPr>
          <p:cNvPr id="131074" name="Rectangle 2"/>
          <p:cNvSpPr>
            <a:spLocks noGrp="1" noRot="1" noChangeAspect="1" noChangeArrowheads="1" noTextEdit="1"/>
          </p:cNvSpPr>
          <p:nvPr>
            <p:ph type="sldImg"/>
          </p:nvPr>
        </p:nvSpPr>
        <p:spPr>
          <a:xfrm>
            <a:off x="139700" y="768350"/>
            <a:ext cx="6819900" cy="3836988"/>
          </a:xfrm>
          <a:ln/>
        </p:spPr>
      </p:sp>
      <p:sp>
        <p:nvSpPr>
          <p:cNvPr id="13107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9092A2E-E037-4113-8998-92769A4879C1}" type="slidenum">
              <a:rPr lang="en-GB"/>
              <a:pPr/>
              <a:t>35</a:t>
            </a:fld>
            <a:endParaRPr lang="en-GB"/>
          </a:p>
        </p:txBody>
      </p:sp>
      <p:sp>
        <p:nvSpPr>
          <p:cNvPr id="132098" name="Rectangle 2"/>
          <p:cNvSpPr>
            <a:spLocks noGrp="1" noRot="1" noChangeAspect="1" noChangeArrowheads="1" noTextEdit="1"/>
          </p:cNvSpPr>
          <p:nvPr>
            <p:ph type="sldImg"/>
          </p:nvPr>
        </p:nvSpPr>
        <p:spPr>
          <a:xfrm>
            <a:off x="139700" y="768350"/>
            <a:ext cx="6819900" cy="3836988"/>
          </a:xfrm>
          <a:ln/>
        </p:spPr>
      </p:sp>
      <p:sp>
        <p:nvSpPr>
          <p:cNvPr id="13209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AA32AF8-DB78-49AC-8FAD-030E45970B34}" type="slidenum">
              <a:rPr lang="en-GB"/>
              <a:pPr/>
              <a:t>36</a:t>
            </a:fld>
            <a:endParaRPr lang="en-GB"/>
          </a:p>
        </p:txBody>
      </p:sp>
      <p:sp>
        <p:nvSpPr>
          <p:cNvPr id="133122" name="Rectangle 2"/>
          <p:cNvSpPr>
            <a:spLocks noGrp="1" noRot="1" noChangeAspect="1" noChangeArrowheads="1" noTextEdit="1"/>
          </p:cNvSpPr>
          <p:nvPr>
            <p:ph type="sldImg"/>
          </p:nvPr>
        </p:nvSpPr>
        <p:spPr>
          <a:xfrm>
            <a:off x="139700" y="768350"/>
            <a:ext cx="6819900" cy="3836988"/>
          </a:xfrm>
          <a:ln/>
        </p:spPr>
      </p:sp>
      <p:sp>
        <p:nvSpPr>
          <p:cNvPr id="13312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9700" y="768350"/>
            <a:ext cx="6819900" cy="3836988"/>
          </a:xfrm>
        </p:spPr>
      </p:sp>
      <p:sp>
        <p:nvSpPr>
          <p:cNvPr id="3" name="Notes Placeholder 2"/>
          <p:cNvSpPr>
            <a:spLocks noGrp="1"/>
          </p:cNvSpPr>
          <p:nvPr>
            <p:ph type="body" idx="1"/>
          </p:nvPr>
        </p:nvSpPr>
        <p:spPr/>
        <p:txBody>
          <a:bodyPr/>
          <a:lstStyle/>
          <a:p>
            <a:endParaRPr lang="sv-SE" dirty="0"/>
          </a:p>
        </p:txBody>
      </p:sp>
      <p:sp>
        <p:nvSpPr>
          <p:cNvPr id="4" name="Slide Number Placeholder 3"/>
          <p:cNvSpPr>
            <a:spLocks noGrp="1"/>
          </p:cNvSpPr>
          <p:nvPr>
            <p:ph type="sldNum" sz="quarter" idx="10"/>
          </p:nvPr>
        </p:nvSpPr>
        <p:spPr/>
        <p:txBody>
          <a:bodyPr/>
          <a:lstStyle/>
          <a:p>
            <a:pPr>
              <a:defRPr/>
            </a:pPr>
            <a:fld id="{45623608-E53D-4D8A-847D-813FB728BB75}" type="slidenum">
              <a:rPr lang="en-GB" smtClean="0"/>
              <a:pPr>
                <a:defRPr/>
              </a:pPr>
              <a:t>43</a:t>
            </a:fld>
            <a:endParaRPr lang="en-GB"/>
          </a:p>
        </p:txBody>
      </p:sp>
    </p:spTree>
    <p:extLst>
      <p:ext uri="{BB962C8B-B14F-4D97-AF65-F5344CB8AC3E}">
        <p14:creationId xmlns:p14="http://schemas.microsoft.com/office/powerpoint/2010/main" val="406409874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5EAD0B3-B745-4611-A9A9-2F5BB6881CE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8096" y="2263441"/>
            <a:ext cx="1962147" cy="1010650"/>
          </a:xfrm>
          <a:prstGeom prst="rect">
            <a:avLst/>
          </a:prstGeom>
        </p:spPr>
      </p:pic>
      <p:sp>
        <p:nvSpPr>
          <p:cNvPr id="5" name="Title 4">
            <a:extLst>
              <a:ext uri="{FF2B5EF4-FFF2-40B4-BE49-F238E27FC236}">
                <a16:creationId xmlns:a16="http://schemas.microsoft.com/office/drawing/2014/main" id="{C48DBAE3-A1FD-4D39-B069-FA98593103FB}"/>
              </a:ext>
            </a:extLst>
          </p:cNvPr>
          <p:cNvSpPr>
            <a:spLocks noGrp="1"/>
          </p:cNvSpPr>
          <p:nvPr>
            <p:ph type="title"/>
          </p:nvPr>
        </p:nvSpPr>
        <p:spPr>
          <a:xfrm>
            <a:off x="3150700" y="2103437"/>
            <a:ext cx="8243204" cy="1325563"/>
          </a:xfrm>
          <a:prstGeom prst="rect">
            <a:avLst/>
          </a:prstGeom>
        </p:spPr>
        <p:txBody>
          <a:bodyPr/>
          <a:lstStyle>
            <a:lvl1pPr>
              <a:defRPr lang="en-GB" sz="6000" b="1" kern="1200" dirty="0">
                <a:solidFill>
                  <a:schemeClr val="tx1"/>
                </a:solidFill>
                <a:latin typeface="Arial" panose="020B0604020202020204" pitchFamily="34" charset="0"/>
                <a:ea typeface="+mj-ea"/>
                <a:cs typeface="Arial" panose="020B0604020202020204" pitchFamily="34" charset="0"/>
              </a:defRPr>
            </a:lvl1pPr>
          </a:lstStyle>
          <a:p>
            <a:r>
              <a:rPr lang="en-US" noProof="0"/>
              <a:t>Click to edit Master title style</a:t>
            </a:r>
          </a:p>
        </p:txBody>
      </p:sp>
    </p:spTree>
    <p:extLst>
      <p:ext uri="{BB962C8B-B14F-4D97-AF65-F5344CB8AC3E}">
        <p14:creationId xmlns:p14="http://schemas.microsoft.com/office/powerpoint/2010/main" val="11921671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22F4652-B182-4CFE-AA63-FCF9837521BB}"/>
              </a:ext>
            </a:extLst>
          </p:cNvPr>
          <p:cNvSpPr/>
          <p:nvPr userDrawn="1"/>
        </p:nvSpPr>
        <p:spPr>
          <a:xfrm>
            <a:off x="200527" y="180975"/>
            <a:ext cx="11798968" cy="6477000"/>
          </a:xfrm>
          <a:prstGeom prst="rect">
            <a:avLst/>
          </a:prstGeom>
          <a:solidFill>
            <a:srgbClr val="EEEDEA"/>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4" name="Title 1">
            <a:extLst>
              <a:ext uri="{FF2B5EF4-FFF2-40B4-BE49-F238E27FC236}">
                <a16:creationId xmlns:a16="http://schemas.microsoft.com/office/drawing/2014/main" id="{5A326772-C746-4FF1-914C-DB96B119CB01}"/>
              </a:ext>
            </a:extLst>
          </p:cNvPr>
          <p:cNvSpPr>
            <a:spLocks noGrp="1"/>
          </p:cNvSpPr>
          <p:nvPr>
            <p:ph type="title"/>
          </p:nvPr>
        </p:nvSpPr>
        <p:spPr>
          <a:xfrm>
            <a:off x="1495926" y="2028825"/>
            <a:ext cx="9565106" cy="1325563"/>
          </a:xfrm>
          <a:prstGeom prst="rect">
            <a:avLst/>
          </a:prstGeom>
        </p:spPr>
        <p:txBody>
          <a:bodyPr>
            <a:normAutofit/>
          </a:bodyPr>
          <a:lstStyle/>
          <a:p>
            <a:r>
              <a:rPr lang="en-US" sz="6000" b="1">
                <a:latin typeface="Arial" panose="020B0604020202020204" pitchFamily="34" charset="0"/>
                <a:cs typeface="Arial" panose="020B0604020202020204" pitchFamily="34" charset="0"/>
              </a:rPr>
              <a:t>Click to edit Master title style</a:t>
            </a:r>
            <a:endParaRPr lang="sv-SE" sz="6000" b="1" dirty="0">
              <a:latin typeface="Arial" panose="020B0604020202020204" pitchFamily="34" charset="0"/>
              <a:cs typeface="Arial" panose="020B0604020202020204" pitchFamily="34" charset="0"/>
            </a:endParaRPr>
          </a:p>
        </p:txBody>
      </p:sp>
      <p:sp>
        <p:nvSpPr>
          <p:cNvPr id="5" name="Content Placeholder 2">
            <a:extLst>
              <a:ext uri="{FF2B5EF4-FFF2-40B4-BE49-F238E27FC236}">
                <a16:creationId xmlns:a16="http://schemas.microsoft.com/office/drawing/2014/main" id="{FD7B268B-2024-4110-A671-5DB4A607F153}"/>
              </a:ext>
            </a:extLst>
          </p:cNvPr>
          <p:cNvSpPr>
            <a:spLocks noGrp="1"/>
          </p:cNvSpPr>
          <p:nvPr>
            <p:ph idx="1"/>
          </p:nvPr>
        </p:nvSpPr>
        <p:spPr>
          <a:xfrm>
            <a:off x="1495926" y="3008814"/>
            <a:ext cx="9565106" cy="821322"/>
          </a:xfrm>
          <a:prstGeom prst="rect">
            <a:avLst/>
          </a:prstGeom>
        </p:spPr>
        <p:txBody>
          <a:bodyPr>
            <a:normAutofit/>
          </a:bodyPr>
          <a:lstStyle/>
          <a:p>
            <a:pPr marL="0" lvl="0" indent="0">
              <a:buNone/>
            </a:pPr>
            <a:r>
              <a:rPr lang="en-US">
                <a:latin typeface="Arial" panose="020B0604020202020204" pitchFamily="34" charset="0"/>
                <a:cs typeface="Arial" panose="020B0604020202020204" pitchFamily="34" charset="0"/>
              </a:rPr>
              <a:t>Edit Master text styles</a:t>
            </a:r>
          </a:p>
        </p:txBody>
      </p:sp>
      <p:pic>
        <p:nvPicPr>
          <p:cNvPr id="7" name="Picture 6">
            <a:extLst>
              <a:ext uri="{FF2B5EF4-FFF2-40B4-BE49-F238E27FC236}">
                <a16:creationId xmlns:a16="http://schemas.microsoft.com/office/drawing/2014/main" id="{78B49FA9-27AB-4584-B0BD-C035080AF76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77401" y="503030"/>
            <a:ext cx="1962147" cy="1010650"/>
          </a:xfrm>
          <a:prstGeom prst="rect">
            <a:avLst/>
          </a:prstGeom>
        </p:spPr>
      </p:pic>
    </p:spTree>
    <p:extLst>
      <p:ext uri="{BB962C8B-B14F-4D97-AF65-F5344CB8AC3E}">
        <p14:creationId xmlns:p14="http://schemas.microsoft.com/office/powerpoint/2010/main" val="23561383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DAB6DB9-DE26-4168-B721-E05B37FB71AA}"/>
              </a:ext>
            </a:extLst>
          </p:cNvPr>
          <p:cNvSpPr/>
          <p:nvPr userDrawn="1"/>
        </p:nvSpPr>
        <p:spPr>
          <a:xfrm>
            <a:off x="200527" y="180975"/>
            <a:ext cx="11798968" cy="6477000"/>
          </a:xfrm>
          <a:prstGeom prst="rect">
            <a:avLst/>
          </a:prstGeom>
          <a:solidFill>
            <a:srgbClr val="3CA7D8"/>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4" name="Title 1">
            <a:extLst>
              <a:ext uri="{FF2B5EF4-FFF2-40B4-BE49-F238E27FC236}">
                <a16:creationId xmlns:a16="http://schemas.microsoft.com/office/drawing/2014/main" id="{687FB0C2-720F-4042-B9C2-176BCE19D2B2}"/>
              </a:ext>
            </a:extLst>
          </p:cNvPr>
          <p:cNvSpPr>
            <a:spLocks noGrp="1"/>
          </p:cNvSpPr>
          <p:nvPr>
            <p:ph type="title"/>
          </p:nvPr>
        </p:nvSpPr>
        <p:spPr>
          <a:xfrm>
            <a:off x="1495926" y="2028825"/>
            <a:ext cx="9565106" cy="1325563"/>
          </a:xfrm>
          <a:prstGeom prst="rect">
            <a:avLst/>
          </a:prstGeom>
        </p:spPr>
        <p:txBody>
          <a:bodyPr>
            <a:normAutofit/>
          </a:bodyPr>
          <a:lstStyle/>
          <a:p>
            <a:r>
              <a:rPr lang="en-US" sz="6000" b="1">
                <a:solidFill>
                  <a:schemeClr val="bg1"/>
                </a:solidFill>
                <a:latin typeface="Arial" panose="020B0604020202020204" pitchFamily="34" charset="0"/>
                <a:cs typeface="Arial" panose="020B0604020202020204" pitchFamily="34" charset="0"/>
              </a:rPr>
              <a:t>Click to edit Master title style</a:t>
            </a:r>
            <a:endParaRPr lang="sv-SE" sz="6000" b="1" dirty="0">
              <a:solidFill>
                <a:schemeClr val="bg1"/>
              </a:solidFill>
              <a:latin typeface="Arial" panose="020B0604020202020204" pitchFamily="34" charset="0"/>
              <a:cs typeface="Arial" panose="020B0604020202020204" pitchFamily="34" charset="0"/>
            </a:endParaRPr>
          </a:p>
        </p:txBody>
      </p:sp>
      <p:sp>
        <p:nvSpPr>
          <p:cNvPr id="5" name="Content Placeholder 2">
            <a:extLst>
              <a:ext uri="{FF2B5EF4-FFF2-40B4-BE49-F238E27FC236}">
                <a16:creationId xmlns:a16="http://schemas.microsoft.com/office/drawing/2014/main" id="{BDD5B1C6-B73D-43CE-AAB8-17E66BBE984C}"/>
              </a:ext>
            </a:extLst>
          </p:cNvPr>
          <p:cNvSpPr>
            <a:spLocks noGrp="1"/>
          </p:cNvSpPr>
          <p:nvPr>
            <p:ph idx="1"/>
          </p:nvPr>
        </p:nvSpPr>
        <p:spPr>
          <a:xfrm>
            <a:off x="1495926" y="3008814"/>
            <a:ext cx="9565106" cy="821322"/>
          </a:xfrm>
          <a:prstGeom prst="rect">
            <a:avLst/>
          </a:prstGeom>
        </p:spPr>
        <p:txBody>
          <a:bodyPr>
            <a:normAutofit/>
          </a:bodyPr>
          <a:lstStyle/>
          <a:p>
            <a:pPr marL="0" lvl="0" indent="0">
              <a:buNone/>
            </a:pPr>
            <a:r>
              <a:rPr lang="en-US">
                <a:solidFill>
                  <a:schemeClr val="bg1"/>
                </a:solidFill>
                <a:latin typeface="Arial" panose="020B0604020202020204" pitchFamily="34" charset="0"/>
                <a:cs typeface="Arial" panose="020B0604020202020204" pitchFamily="34" charset="0"/>
              </a:rPr>
              <a:t>Edit Master text styles</a:t>
            </a:r>
          </a:p>
        </p:txBody>
      </p:sp>
      <p:pic>
        <p:nvPicPr>
          <p:cNvPr id="6" name="Picture 5">
            <a:extLst>
              <a:ext uri="{FF2B5EF4-FFF2-40B4-BE49-F238E27FC236}">
                <a16:creationId xmlns:a16="http://schemas.microsoft.com/office/drawing/2014/main" id="{EAB57918-C8DF-4106-9EB4-B805676FD92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77401" y="503030"/>
            <a:ext cx="1962147" cy="1010650"/>
          </a:xfrm>
          <a:prstGeom prst="rect">
            <a:avLst/>
          </a:prstGeom>
        </p:spPr>
      </p:pic>
    </p:spTree>
    <p:extLst>
      <p:ext uri="{BB962C8B-B14F-4D97-AF65-F5344CB8AC3E}">
        <p14:creationId xmlns:p14="http://schemas.microsoft.com/office/powerpoint/2010/main" val="18817663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9243E18-E6E9-4740-B3B6-9DBAD0E6CF7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261" r="4968" b="21982"/>
          <a:stretch/>
        </p:blipFill>
        <p:spPr>
          <a:xfrm>
            <a:off x="200527" y="180975"/>
            <a:ext cx="11808000" cy="6444000"/>
          </a:xfrm>
          <a:prstGeom prst="rect">
            <a:avLst/>
          </a:prstGeom>
          <a:effectLst/>
        </p:spPr>
      </p:pic>
      <p:sp>
        <p:nvSpPr>
          <p:cNvPr id="4" name="Title 1">
            <a:extLst>
              <a:ext uri="{FF2B5EF4-FFF2-40B4-BE49-F238E27FC236}">
                <a16:creationId xmlns:a16="http://schemas.microsoft.com/office/drawing/2014/main" id="{4ED5832C-A4F1-48D7-B7AC-1028B67B4401}"/>
              </a:ext>
            </a:extLst>
          </p:cNvPr>
          <p:cNvSpPr>
            <a:spLocks noGrp="1"/>
          </p:cNvSpPr>
          <p:nvPr>
            <p:ph type="title"/>
          </p:nvPr>
        </p:nvSpPr>
        <p:spPr>
          <a:xfrm>
            <a:off x="1495926" y="2028825"/>
            <a:ext cx="9565106" cy="1325563"/>
          </a:xfrm>
          <a:prstGeom prst="rect">
            <a:avLst/>
          </a:prstGeom>
        </p:spPr>
        <p:txBody>
          <a:bodyPr>
            <a:normAutofit/>
          </a:bodyPr>
          <a:lstStyle/>
          <a:p>
            <a:r>
              <a:rPr lang="en-US" sz="6000" b="1">
                <a:latin typeface="Arial" panose="020B0604020202020204" pitchFamily="34" charset="0"/>
                <a:cs typeface="Arial" panose="020B0604020202020204" pitchFamily="34" charset="0"/>
              </a:rPr>
              <a:t>Click to edit Master title style</a:t>
            </a:r>
            <a:endParaRPr lang="sv-SE" sz="6000" b="1" dirty="0">
              <a:latin typeface="Arial" panose="020B0604020202020204" pitchFamily="34" charset="0"/>
              <a:cs typeface="Arial" panose="020B0604020202020204" pitchFamily="34" charset="0"/>
            </a:endParaRPr>
          </a:p>
        </p:txBody>
      </p:sp>
      <p:sp>
        <p:nvSpPr>
          <p:cNvPr id="5" name="Content Placeholder 2">
            <a:extLst>
              <a:ext uri="{FF2B5EF4-FFF2-40B4-BE49-F238E27FC236}">
                <a16:creationId xmlns:a16="http://schemas.microsoft.com/office/drawing/2014/main" id="{27340EA7-83E4-4F9B-BB41-D4EBCE7450F1}"/>
              </a:ext>
            </a:extLst>
          </p:cNvPr>
          <p:cNvSpPr>
            <a:spLocks noGrp="1"/>
          </p:cNvSpPr>
          <p:nvPr>
            <p:ph idx="1"/>
          </p:nvPr>
        </p:nvSpPr>
        <p:spPr>
          <a:xfrm>
            <a:off x="1495926" y="3008814"/>
            <a:ext cx="9565106" cy="821322"/>
          </a:xfrm>
          <a:prstGeom prst="rect">
            <a:avLst/>
          </a:prstGeom>
        </p:spPr>
        <p:txBody>
          <a:bodyPr>
            <a:normAutofit/>
          </a:bodyPr>
          <a:lstStyle/>
          <a:p>
            <a:pPr marL="0" lvl="0" indent="0">
              <a:buNone/>
            </a:pPr>
            <a:r>
              <a:rPr lang="en-US">
                <a:latin typeface="Arial" panose="020B0604020202020204" pitchFamily="34" charset="0"/>
                <a:cs typeface="Arial" panose="020B0604020202020204" pitchFamily="34" charset="0"/>
              </a:rPr>
              <a:t>Edit Master text styles</a:t>
            </a:r>
          </a:p>
        </p:txBody>
      </p:sp>
      <p:pic>
        <p:nvPicPr>
          <p:cNvPr id="6" name="Picture 5">
            <a:extLst>
              <a:ext uri="{FF2B5EF4-FFF2-40B4-BE49-F238E27FC236}">
                <a16:creationId xmlns:a16="http://schemas.microsoft.com/office/drawing/2014/main" id="{63CD4371-D33C-46E4-9463-10C286E2D3F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677401" y="503030"/>
            <a:ext cx="1962147" cy="1010650"/>
          </a:xfrm>
          <a:prstGeom prst="rect">
            <a:avLst/>
          </a:prstGeom>
        </p:spPr>
      </p:pic>
    </p:spTree>
    <p:extLst>
      <p:ext uri="{BB962C8B-B14F-4D97-AF65-F5344CB8AC3E}">
        <p14:creationId xmlns:p14="http://schemas.microsoft.com/office/powerpoint/2010/main" val="7704539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BF74AE2-F013-4FB5-82E4-C64B2B248895}"/>
              </a:ext>
            </a:extLst>
          </p:cNvPr>
          <p:cNvSpPr>
            <a:spLocks noGrp="1"/>
          </p:cNvSpPr>
          <p:nvPr>
            <p:ph type="title" hasCustomPrompt="1"/>
          </p:nvPr>
        </p:nvSpPr>
        <p:spPr>
          <a:xfrm>
            <a:off x="5763127" y="2110183"/>
            <a:ext cx="5609724" cy="1325563"/>
          </a:xfrm>
          <a:prstGeom prst="rect">
            <a:avLst/>
          </a:prstGeom>
        </p:spPr>
        <p:txBody>
          <a:bodyPr>
            <a:normAutofit/>
          </a:bodyPr>
          <a:lstStyle/>
          <a:p>
            <a:r>
              <a:rPr lang="en-GB" sz="4800" b="1" noProof="0">
                <a:latin typeface="Arial" panose="020B0604020202020204" pitchFamily="34" charset="0"/>
                <a:cs typeface="Arial" panose="020B0604020202020204" pitchFamily="34" charset="0"/>
              </a:rPr>
              <a:t>KAPITELRUBRIK</a:t>
            </a:r>
          </a:p>
        </p:txBody>
      </p:sp>
      <p:sp>
        <p:nvSpPr>
          <p:cNvPr id="5" name="Content Placeholder 2">
            <a:extLst>
              <a:ext uri="{FF2B5EF4-FFF2-40B4-BE49-F238E27FC236}">
                <a16:creationId xmlns:a16="http://schemas.microsoft.com/office/drawing/2014/main" id="{671E7D52-A2B5-48C6-AF36-929C44E17DCA}"/>
              </a:ext>
            </a:extLst>
          </p:cNvPr>
          <p:cNvSpPr>
            <a:spLocks noGrp="1"/>
          </p:cNvSpPr>
          <p:nvPr>
            <p:ph idx="1" hasCustomPrompt="1"/>
          </p:nvPr>
        </p:nvSpPr>
        <p:spPr>
          <a:xfrm>
            <a:off x="5763127" y="3001542"/>
            <a:ext cx="5609724" cy="821322"/>
          </a:xfrm>
          <a:prstGeom prst="rect">
            <a:avLst/>
          </a:prstGeom>
        </p:spPr>
        <p:txBody>
          <a:bodyPr>
            <a:normAutofit/>
          </a:bodyPr>
          <a:lstStyle/>
          <a:p>
            <a:pPr marL="0" indent="0">
              <a:buNone/>
            </a:pPr>
            <a:r>
              <a:rPr lang="en-GB" sz="2400" noProof="0">
                <a:latin typeface="Arial" panose="020B0604020202020204" pitchFamily="34" charset="0"/>
                <a:cs typeface="Arial" panose="020B0604020202020204" pitchFamily="34" charset="0"/>
              </a:rPr>
              <a:t>En kompletterande underrubrik</a:t>
            </a:r>
          </a:p>
        </p:txBody>
      </p:sp>
      <p:pic>
        <p:nvPicPr>
          <p:cNvPr id="7" name="Picture 6">
            <a:extLst>
              <a:ext uri="{FF2B5EF4-FFF2-40B4-BE49-F238E27FC236}">
                <a16:creationId xmlns:a16="http://schemas.microsoft.com/office/drawing/2014/main" id="{2C5526A0-0734-48A4-8CDD-DB49AC5A8AC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77401" y="503030"/>
            <a:ext cx="1962147" cy="1010650"/>
          </a:xfrm>
          <a:prstGeom prst="rect">
            <a:avLst/>
          </a:prstGeom>
        </p:spPr>
      </p:pic>
      <p:sp>
        <p:nvSpPr>
          <p:cNvPr id="9" name="Picture Placeholder 8">
            <a:extLst>
              <a:ext uri="{FF2B5EF4-FFF2-40B4-BE49-F238E27FC236}">
                <a16:creationId xmlns:a16="http://schemas.microsoft.com/office/drawing/2014/main" id="{B012AB4E-2134-46B9-81B3-2E055B5209B8}"/>
              </a:ext>
            </a:extLst>
          </p:cNvPr>
          <p:cNvSpPr>
            <a:spLocks noGrp="1"/>
          </p:cNvSpPr>
          <p:nvPr>
            <p:ph type="pic" sz="quarter" idx="10"/>
          </p:nvPr>
        </p:nvSpPr>
        <p:spPr>
          <a:xfrm>
            <a:off x="-1" y="0"/>
            <a:ext cx="5516563" cy="6858000"/>
          </a:xfrm>
          <a:prstGeom prst="rect">
            <a:avLst/>
          </a:prstGeom>
        </p:spPr>
        <p:txBody>
          <a:bodyPr/>
          <a:lstStyle/>
          <a:p>
            <a:r>
              <a:rPr lang="en-US" noProof="0"/>
              <a:t>Click icon to add picture</a:t>
            </a:r>
            <a:endParaRPr lang="en-GB" noProof="0" dirty="0"/>
          </a:p>
        </p:txBody>
      </p:sp>
    </p:spTree>
    <p:extLst>
      <p:ext uri="{BB962C8B-B14F-4D97-AF65-F5344CB8AC3E}">
        <p14:creationId xmlns:p14="http://schemas.microsoft.com/office/powerpoint/2010/main" val="38086596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A7905A6-66ED-4853-83ED-22017B2A451F}"/>
              </a:ext>
            </a:extLst>
          </p:cNvPr>
          <p:cNvSpPr>
            <a:spLocks noGrp="1"/>
          </p:cNvSpPr>
          <p:nvPr>
            <p:ph type="title" hasCustomPrompt="1"/>
          </p:nvPr>
        </p:nvSpPr>
        <p:spPr>
          <a:xfrm>
            <a:off x="5763127" y="2110183"/>
            <a:ext cx="5609724" cy="1325563"/>
          </a:xfrm>
          <a:prstGeom prst="rect">
            <a:avLst/>
          </a:prstGeom>
        </p:spPr>
        <p:txBody>
          <a:bodyPr>
            <a:normAutofit/>
          </a:bodyPr>
          <a:lstStyle/>
          <a:p>
            <a:r>
              <a:rPr lang="en-GB" sz="4800" b="1" noProof="0">
                <a:latin typeface="Arial" panose="020B0604020202020204" pitchFamily="34" charset="0"/>
                <a:cs typeface="Arial" panose="020B0604020202020204" pitchFamily="34" charset="0"/>
              </a:rPr>
              <a:t>HUVUDRUBRIK</a:t>
            </a:r>
          </a:p>
        </p:txBody>
      </p:sp>
      <p:sp>
        <p:nvSpPr>
          <p:cNvPr id="5" name="Content Placeholder 2">
            <a:extLst>
              <a:ext uri="{FF2B5EF4-FFF2-40B4-BE49-F238E27FC236}">
                <a16:creationId xmlns:a16="http://schemas.microsoft.com/office/drawing/2014/main" id="{9692C2B7-72A1-4B92-A52A-922DB462ED36}"/>
              </a:ext>
            </a:extLst>
          </p:cNvPr>
          <p:cNvSpPr>
            <a:spLocks noGrp="1"/>
          </p:cNvSpPr>
          <p:nvPr>
            <p:ph idx="4294967295" hasCustomPrompt="1"/>
          </p:nvPr>
        </p:nvSpPr>
        <p:spPr>
          <a:xfrm>
            <a:off x="5763127" y="3230142"/>
            <a:ext cx="5609724" cy="2770608"/>
          </a:xfrm>
          <a:prstGeom prst="rect">
            <a:avLst/>
          </a:prstGeom>
        </p:spPr>
        <p:txBody>
          <a:bodyPr>
            <a:normAutofit/>
          </a:bodyPr>
          <a:lstStyle/>
          <a:p>
            <a:r>
              <a:rPr lang="en-GB" sz="2000" noProof="0">
                <a:latin typeface="Arial" panose="020B0604020202020204" pitchFamily="34" charset="0"/>
                <a:cs typeface="Arial" panose="020B0604020202020204" pitchFamily="34" charset="0"/>
              </a:rPr>
              <a:t>En punktlista ser ut så här</a:t>
            </a:r>
          </a:p>
          <a:p>
            <a:r>
              <a:rPr lang="en-GB" sz="2000" noProof="0">
                <a:latin typeface="Arial" panose="020B0604020202020204" pitchFamily="34" charset="0"/>
                <a:cs typeface="Arial" panose="020B0604020202020204" pitchFamily="34" charset="0"/>
              </a:rPr>
              <a:t>En punktlista ser ut så här</a:t>
            </a:r>
          </a:p>
          <a:p>
            <a:r>
              <a:rPr lang="en-GB" sz="2000" noProof="0">
                <a:latin typeface="Arial" panose="020B0604020202020204" pitchFamily="34" charset="0"/>
                <a:cs typeface="Arial" panose="020B0604020202020204" pitchFamily="34" charset="0"/>
              </a:rPr>
              <a:t>En punktlista ser ut så här</a:t>
            </a:r>
          </a:p>
          <a:p>
            <a:r>
              <a:rPr lang="en-GB" sz="2000" noProof="0">
                <a:latin typeface="Arial" panose="020B0604020202020204" pitchFamily="34" charset="0"/>
                <a:cs typeface="Arial" panose="020B0604020202020204" pitchFamily="34" charset="0"/>
              </a:rPr>
              <a:t>En punktlista ser ut så här</a:t>
            </a:r>
          </a:p>
          <a:p>
            <a:endParaRPr lang="en-GB" sz="2000" noProof="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88B90450-A545-4EB2-9D32-B9CC32AC6F1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77401" y="503030"/>
            <a:ext cx="1962147" cy="1010650"/>
          </a:xfrm>
          <a:prstGeom prst="rect">
            <a:avLst/>
          </a:prstGeom>
        </p:spPr>
      </p:pic>
      <p:sp>
        <p:nvSpPr>
          <p:cNvPr id="9" name="Picture Placeholder 8">
            <a:extLst>
              <a:ext uri="{FF2B5EF4-FFF2-40B4-BE49-F238E27FC236}">
                <a16:creationId xmlns:a16="http://schemas.microsoft.com/office/drawing/2014/main" id="{B21C8888-C427-4480-8AD8-99BCB7EEEE7D}"/>
              </a:ext>
            </a:extLst>
          </p:cNvPr>
          <p:cNvSpPr>
            <a:spLocks noGrp="1"/>
          </p:cNvSpPr>
          <p:nvPr>
            <p:ph type="pic" sz="quarter" idx="10"/>
          </p:nvPr>
        </p:nvSpPr>
        <p:spPr>
          <a:xfrm>
            <a:off x="0" y="0"/>
            <a:ext cx="5610225" cy="6858000"/>
          </a:xfrm>
          <a:prstGeom prst="rect">
            <a:avLst/>
          </a:prstGeom>
        </p:spPr>
        <p:txBody>
          <a:bodyPr/>
          <a:lstStyle/>
          <a:p>
            <a:r>
              <a:rPr lang="en-US" noProof="0"/>
              <a:t>Click icon to add picture</a:t>
            </a:r>
            <a:endParaRPr lang="en-GB" noProof="0"/>
          </a:p>
        </p:txBody>
      </p:sp>
    </p:spTree>
    <p:extLst>
      <p:ext uri="{BB962C8B-B14F-4D97-AF65-F5344CB8AC3E}">
        <p14:creationId xmlns:p14="http://schemas.microsoft.com/office/powerpoint/2010/main" val="6559780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838200" y="6356350"/>
            <a:ext cx="2743200" cy="365125"/>
          </a:xfrm>
          <a:prstGeom prst="rect">
            <a:avLst/>
          </a:prstGeom>
        </p:spPr>
        <p:txBody>
          <a:bodyPr/>
          <a:lstStyle>
            <a:lvl1pPr>
              <a:defRPr sz="1100"/>
            </a:lvl1pPr>
          </a:lstStyle>
          <a:p>
            <a:fld id="{039DC1CA-20DE-4541-BB58-4FE43B8F71F8}" type="datetimeFigureOut">
              <a:rPr lang="en-GB" noProof="0" smtClean="0"/>
              <a:pPr/>
              <a:t>14/12/2023</a:t>
            </a:fld>
            <a:endParaRPr lang="en-GB" noProof="0"/>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lvl1pPr>
              <a:defRPr sz="1100"/>
            </a:lvl1pPr>
          </a:lstStyle>
          <a:p>
            <a:endParaRPr lang="en-GB" noProof="0"/>
          </a:p>
        </p:txBody>
      </p:sp>
      <p:sp>
        <p:nvSpPr>
          <p:cNvPr id="7" name="Title 1">
            <a:extLst>
              <a:ext uri="{FF2B5EF4-FFF2-40B4-BE49-F238E27FC236}">
                <a16:creationId xmlns:a16="http://schemas.microsoft.com/office/drawing/2014/main" id="{336DFDCF-1207-4046-8F6B-B79B16D560B4}"/>
              </a:ext>
            </a:extLst>
          </p:cNvPr>
          <p:cNvSpPr>
            <a:spLocks noGrp="1"/>
          </p:cNvSpPr>
          <p:nvPr>
            <p:ph type="title" hasCustomPrompt="1"/>
          </p:nvPr>
        </p:nvSpPr>
        <p:spPr>
          <a:xfrm>
            <a:off x="1486901" y="2020256"/>
            <a:ext cx="8533399" cy="1325563"/>
          </a:xfrm>
          <a:prstGeom prst="rect">
            <a:avLst/>
          </a:prstGeom>
        </p:spPr>
        <p:txBody>
          <a:bodyPr>
            <a:noAutofit/>
          </a:bodyPr>
          <a:lstStyle/>
          <a:p>
            <a:r>
              <a:rPr lang="en-GB" sz="6000" b="1" noProof="0">
                <a:latin typeface="Arial" panose="020B0604020202020204" pitchFamily="34" charset="0"/>
                <a:cs typeface="Arial" panose="020B0604020202020204" pitchFamily="34" charset="0"/>
              </a:rPr>
              <a:t>KAPITELRUBRIK</a:t>
            </a:r>
          </a:p>
        </p:txBody>
      </p:sp>
      <p:sp>
        <p:nvSpPr>
          <p:cNvPr id="8" name="Content Placeholder 2">
            <a:extLst>
              <a:ext uri="{FF2B5EF4-FFF2-40B4-BE49-F238E27FC236}">
                <a16:creationId xmlns:a16="http://schemas.microsoft.com/office/drawing/2014/main" id="{0FB43C12-3BFB-4075-AA7A-BA1AB025B65C}"/>
              </a:ext>
            </a:extLst>
          </p:cNvPr>
          <p:cNvSpPr>
            <a:spLocks noGrp="1"/>
          </p:cNvSpPr>
          <p:nvPr>
            <p:ph idx="1" hasCustomPrompt="1"/>
          </p:nvPr>
        </p:nvSpPr>
        <p:spPr>
          <a:xfrm>
            <a:off x="1486901" y="3106316"/>
            <a:ext cx="7561849" cy="2275309"/>
          </a:xfrm>
          <a:prstGeom prst="rect">
            <a:avLst/>
          </a:prstGeom>
        </p:spPr>
        <p:txBody>
          <a:bodyPr numCol="1">
            <a:normAutofit/>
          </a:bodyPr>
          <a:lstStyle/>
          <a:p>
            <a:pPr marL="0" indent="0">
              <a:buNone/>
            </a:pPr>
            <a:r>
              <a:rPr lang="en-GB" sz="2000" noProof="0">
                <a:latin typeface="Arial" panose="020B0604020202020204" pitchFamily="34" charset="0"/>
                <a:cs typeface="Arial" panose="020B0604020202020204" pitchFamily="34" charset="0"/>
              </a:rPr>
              <a:t>Exempel på löpande text. Försök att hålla det kort och överskådligt. Tänk på att texten ska vara ett stöd till den muntliga presentationen.</a:t>
            </a:r>
          </a:p>
        </p:txBody>
      </p:sp>
      <p:pic>
        <p:nvPicPr>
          <p:cNvPr id="10" name="Picture 9">
            <a:extLst>
              <a:ext uri="{FF2B5EF4-FFF2-40B4-BE49-F238E27FC236}">
                <a16:creationId xmlns:a16="http://schemas.microsoft.com/office/drawing/2014/main" id="{004086BE-C5CF-4913-99C4-568C10F13E4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77401" y="503030"/>
            <a:ext cx="1962147" cy="1010650"/>
          </a:xfrm>
          <a:prstGeom prst="rect">
            <a:avLst/>
          </a:prstGeom>
        </p:spPr>
      </p:pic>
      <p:sp>
        <p:nvSpPr>
          <p:cNvPr id="11" name="Slide Number Placeholder 6">
            <a:extLst>
              <a:ext uri="{FF2B5EF4-FFF2-40B4-BE49-F238E27FC236}">
                <a16:creationId xmlns:a16="http://schemas.microsoft.com/office/drawing/2014/main" id="{05266861-0766-4044-82D1-C6CE01181741}"/>
              </a:ext>
            </a:extLst>
          </p:cNvPr>
          <p:cNvSpPr>
            <a:spLocks noGrp="1"/>
          </p:cNvSpPr>
          <p:nvPr>
            <p:ph type="sldNum" sz="quarter" idx="12"/>
          </p:nvPr>
        </p:nvSpPr>
        <p:spPr>
          <a:xfrm>
            <a:off x="8610600" y="6356349"/>
            <a:ext cx="2743200" cy="365125"/>
          </a:xfrm>
          <a:prstGeom prst="rect">
            <a:avLst/>
          </a:prstGeom>
        </p:spPr>
        <p:txBody>
          <a:bodyPr/>
          <a:lstStyle/>
          <a:p>
            <a:fld id="{81D9E79E-0AEB-406F-81EF-A9FFB7B4B25B}" type="slidenum">
              <a:rPr lang="en-GB" noProof="0" smtClean="0"/>
              <a:t>‹#›</a:t>
            </a:fld>
            <a:endParaRPr lang="en-GB" noProof="0"/>
          </a:p>
        </p:txBody>
      </p:sp>
    </p:spTree>
    <p:extLst>
      <p:ext uri="{BB962C8B-B14F-4D97-AF65-F5344CB8AC3E}">
        <p14:creationId xmlns:p14="http://schemas.microsoft.com/office/powerpoint/2010/main" val="7404322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536B980-2509-4A78-A4DF-2FFDFC268E1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77401" y="503030"/>
            <a:ext cx="1962147" cy="1010650"/>
          </a:xfrm>
          <a:prstGeom prst="rect">
            <a:avLst/>
          </a:prstGeom>
        </p:spPr>
      </p:pic>
      <p:sp>
        <p:nvSpPr>
          <p:cNvPr id="5" name="Title 4">
            <a:extLst>
              <a:ext uri="{FF2B5EF4-FFF2-40B4-BE49-F238E27FC236}">
                <a16:creationId xmlns:a16="http://schemas.microsoft.com/office/drawing/2014/main" id="{D72BDFF6-4D02-4538-9F0F-B33661EB8F5C}"/>
              </a:ext>
            </a:extLst>
          </p:cNvPr>
          <p:cNvSpPr>
            <a:spLocks noGrp="1"/>
          </p:cNvSpPr>
          <p:nvPr>
            <p:ph type="title"/>
          </p:nvPr>
        </p:nvSpPr>
        <p:spPr>
          <a:xfrm>
            <a:off x="838200" y="365125"/>
            <a:ext cx="5313947" cy="1158875"/>
          </a:xfrm>
          <a:prstGeom prst="rect">
            <a:avLst/>
          </a:prstGeom>
        </p:spPr>
        <p:txBody>
          <a:bodyPr/>
          <a:lstStyle/>
          <a:p>
            <a:r>
              <a:rPr lang="en-US" noProof="0"/>
              <a:t>Click to edit Master title style</a:t>
            </a:r>
            <a:endParaRPr lang="en-GB" noProof="0"/>
          </a:p>
        </p:txBody>
      </p:sp>
      <p:sp>
        <p:nvSpPr>
          <p:cNvPr id="6" name="Content Placeholder 7">
            <a:extLst>
              <a:ext uri="{FF2B5EF4-FFF2-40B4-BE49-F238E27FC236}">
                <a16:creationId xmlns:a16="http://schemas.microsoft.com/office/drawing/2014/main" id="{34D2F2E6-F10D-4713-9B05-D3E5F64395CA}"/>
              </a:ext>
            </a:extLst>
          </p:cNvPr>
          <p:cNvSpPr>
            <a:spLocks noGrp="1"/>
          </p:cNvSpPr>
          <p:nvPr>
            <p:ph idx="4294967295"/>
          </p:nvPr>
        </p:nvSpPr>
        <p:spPr>
          <a:xfrm>
            <a:off x="838200" y="1825625"/>
            <a:ext cx="10515600" cy="4351338"/>
          </a:xfrm>
          <a:prstGeom prst="rect">
            <a:avLst/>
          </a:prstGeom>
        </p:spPr>
        <p:txBody>
          <a:bodyPr/>
          <a:lstStyle/>
          <a:p>
            <a:pPr lvl="0"/>
            <a:r>
              <a:rPr lang="en-US" noProof="0"/>
              <a:t>Edit Master text styles</a:t>
            </a:r>
          </a:p>
        </p:txBody>
      </p:sp>
    </p:spTree>
    <p:extLst>
      <p:ext uri="{BB962C8B-B14F-4D97-AF65-F5344CB8AC3E}">
        <p14:creationId xmlns:p14="http://schemas.microsoft.com/office/powerpoint/2010/main" val="35469688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536B980-2509-4A78-A4DF-2FFDFC268E1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77401" y="503030"/>
            <a:ext cx="1962147" cy="1010650"/>
          </a:xfrm>
          <a:prstGeom prst="rect">
            <a:avLst/>
          </a:prstGeom>
        </p:spPr>
      </p:pic>
      <p:sp>
        <p:nvSpPr>
          <p:cNvPr id="5" name="Title 4">
            <a:extLst>
              <a:ext uri="{FF2B5EF4-FFF2-40B4-BE49-F238E27FC236}">
                <a16:creationId xmlns:a16="http://schemas.microsoft.com/office/drawing/2014/main" id="{D72BDFF6-4D02-4538-9F0F-B33661EB8F5C}"/>
              </a:ext>
            </a:extLst>
          </p:cNvPr>
          <p:cNvSpPr>
            <a:spLocks noGrp="1"/>
          </p:cNvSpPr>
          <p:nvPr>
            <p:ph type="title"/>
          </p:nvPr>
        </p:nvSpPr>
        <p:spPr>
          <a:xfrm>
            <a:off x="838200" y="365125"/>
            <a:ext cx="5313947" cy="1158875"/>
          </a:xfrm>
          <a:prstGeom prst="rect">
            <a:avLst/>
          </a:prstGeom>
        </p:spPr>
        <p:txBody>
          <a:bodyPr/>
          <a:lstStyle/>
          <a:p>
            <a:r>
              <a:rPr lang="en-US" noProof="0"/>
              <a:t>Click to edit Master title style</a:t>
            </a:r>
            <a:endParaRPr lang="en-GB" noProof="0"/>
          </a:p>
        </p:txBody>
      </p:sp>
      <p:sp>
        <p:nvSpPr>
          <p:cNvPr id="3" name="Text Placeholder 2">
            <a:extLst>
              <a:ext uri="{FF2B5EF4-FFF2-40B4-BE49-F238E27FC236}">
                <a16:creationId xmlns:a16="http://schemas.microsoft.com/office/drawing/2014/main" id="{62870EBB-D1D3-45D5-BF99-F6E6EF072ABE}"/>
              </a:ext>
            </a:extLst>
          </p:cNvPr>
          <p:cNvSpPr>
            <a:spLocks noGrp="1"/>
          </p:cNvSpPr>
          <p:nvPr>
            <p:ph type="body" sz="quarter" idx="10"/>
          </p:nvPr>
        </p:nvSpPr>
        <p:spPr>
          <a:xfrm>
            <a:off x="838200" y="1893888"/>
            <a:ext cx="10801350" cy="4460875"/>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8439797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pic>
        <p:nvPicPr>
          <p:cNvPr id="8" name="Picture 7">
            <a:extLst>
              <a:ext uri="{FF2B5EF4-FFF2-40B4-BE49-F238E27FC236}">
                <a16:creationId xmlns:a16="http://schemas.microsoft.com/office/drawing/2014/main" id="{89D248F2-B1AA-48B7-BEA9-5D9855CDA31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77401" y="503030"/>
            <a:ext cx="1962147" cy="1010650"/>
          </a:xfrm>
          <a:prstGeom prst="rect">
            <a:avLst/>
          </a:prstGeom>
        </p:spPr>
      </p:pic>
      <p:sp>
        <p:nvSpPr>
          <p:cNvPr id="9" name="Title 4">
            <a:extLst>
              <a:ext uri="{FF2B5EF4-FFF2-40B4-BE49-F238E27FC236}">
                <a16:creationId xmlns:a16="http://schemas.microsoft.com/office/drawing/2014/main" id="{5D3DA8E7-073A-4B30-AC24-0FF3DDD2AD19}"/>
              </a:ext>
            </a:extLst>
          </p:cNvPr>
          <p:cNvSpPr>
            <a:spLocks noGrp="1"/>
          </p:cNvSpPr>
          <p:nvPr>
            <p:ph type="title"/>
          </p:nvPr>
        </p:nvSpPr>
        <p:spPr>
          <a:xfrm>
            <a:off x="838200" y="365125"/>
            <a:ext cx="5313947" cy="1158875"/>
          </a:xfrm>
          <a:prstGeom prst="rect">
            <a:avLst/>
          </a:prstGeom>
        </p:spPr>
        <p:txBody>
          <a:bodyPr/>
          <a:lstStyle/>
          <a:p>
            <a:r>
              <a:rPr lang="en-US" noProof="0"/>
              <a:t>Click to edit Master title style</a:t>
            </a:r>
            <a:endParaRPr lang="en-GB" noProof="0"/>
          </a:p>
        </p:txBody>
      </p:sp>
    </p:spTree>
    <p:extLst>
      <p:ext uri="{BB962C8B-B14F-4D97-AF65-F5344CB8AC3E}">
        <p14:creationId xmlns:p14="http://schemas.microsoft.com/office/powerpoint/2010/main" val="30813652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DA5AE097-AEFF-4B61-8707-219F809D1F1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77401" y="503030"/>
            <a:ext cx="1962147" cy="1010650"/>
          </a:xfrm>
          <a:prstGeom prst="rect">
            <a:avLst/>
          </a:prstGeom>
        </p:spPr>
      </p:pic>
    </p:spTree>
    <p:extLst>
      <p:ext uri="{BB962C8B-B14F-4D97-AF65-F5344CB8AC3E}">
        <p14:creationId xmlns:p14="http://schemas.microsoft.com/office/powerpoint/2010/main" val="4841517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295651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sv-SE"/>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35480623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sv-SE"/>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sv-SE"/>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17836306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GB"/>
          </a:p>
        </p:txBody>
      </p:sp>
      <p:sp>
        <p:nvSpPr>
          <p:cNvPr id="4" name="Rectangle 5"/>
          <p:cNvSpPr>
            <a:spLocks noGrp="1" noChangeArrowheads="1"/>
          </p:cNvSpPr>
          <p:nvPr>
            <p:ph type="ftr" sz="quarter" idx="11"/>
          </p:nvPr>
        </p:nvSpPr>
        <p:spPr>
          <a:ln/>
        </p:spPr>
        <p:txBody>
          <a:bodyPr/>
          <a:lstStyle>
            <a:lvl1pPr>
              <a:defRPr/>
            </a:lvl1pPr>
          </a:lstStyle>
          <a:p>
            <a:pPr>
              <a:defRPr/>
            </a:pPr>
            <a:endParaRPr lang="en-GB"/>
          </a:p>
        </p:txBody>
      </p:sp>
      <p:sp>
        <p:nvSpPr>
          <p:cNvPr id="5" name="Rectangle 6"/>
          <p:cNvSpPr>
            <a:spLocks noGrp="1" noChangeArrowheads="1"/>
          </p:cNvSpPr>
          <p:nvPr>
            <p:ph type="sldNum" sz="quarter" idx="12"/>
          </p:nvPr>
        </p:nvSpPr>
        <p:spPr>
          <a:ln/>
        </p:spPr>
        <p:txBody>
          <a:bodyPr/>
          <a:lstStyle>
            <a:lvl1pPr>
              <a:defRPr/>
            </a:lvl1pPr>
          </a:lstStyle>
          <a:p>
            <a:pPr>
              <a:defRPr/>
            </a:pPr>
            <a:fld id="{9AEEAF61-9250-4856-94C8-EAF71DCB7ADE}" type="slidenum">
              <a:rPr lang="en-GB"/>
              <a:pPr>
                <a:defRPr/>
              </a:pPr>
              <a:t>‹#›</a:t>
            </a:fld>
            <a:endParaRPr lang="en-GB"/>
          </a:p>
        </p:txBody>
      </p:sp>
    </p:spTree>
    <p:extLst>
      <p:ext uri="{BB962C8B-B14F-4D97-AF65-F5344CB8AC3E}">
        <p14:creationId xmlns:p14="http://schemas.microsoft.com/office/powerpoint/2010/main" val="2492019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50BDBB48-D6C8-4ACB-A195-8D54AC9976A0}" type="slidenum">
              <a:rPr lang="en-GB"/>
              <a:pPr>
                <a:defRPr/>
              </a:pPr>
              <a:t>‹#›</a:t>
            </a:fld>
            <a:endParaRPr lang="en-GB"/>
          </a:p>
        </p:txBody>
      </p:sp>
    </p:spTree>
    <p:extLst>
      <p:ext uri="{BB962C8B-B14F-4D97-AF65-F5344CB8AC3E}">
        <p14:creationId xmlns:p14="http://schemas.microsoft.com/office/powerpoint/2010/main" val="30901447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609600" y="274638"/>
            <a:ext cx="10972800" cy="1143000"/>
          </a:xfrm>
        </p:spPr>
        <p:txBody>
          <a:bodyPr/>
          <a:lstStyle/>
          <a:p>
            <a:r>
              <a:rPr lang="en-US"/>
              <a:t>Click to edit Master title style</a:t>
            </a:r>
          </a:p>
        </p:txBody>
      </p:sp>
      <p:sp>
        <p:nvSpPr>
          <p:cNvPr id="3" name="Content Placeholder 2"/>
          <p:cNvSpPr>
            <a:spLocks noGrp="1"/>
          </p:cNvSpPr>
          <p:nvPr>
            <p:ph sz="quarter" idx="1"/>
          </p:nvPr>
        </p:nvSpPr>
        <p:spPr>
          <a:xfrm>
            <a:off x="609600" y="1600200"/>
            <a:ext cx="5384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600200"/>
            <a:ext cx="5384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09600" y="3938589"/>
            <a:ext cx="5384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7600" y="3938589"/>
            <a:ext cx="5384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GB"/>
          </a:p>
        </p:txBody>
      </p:sp>
      <p:sp>
        <p:nvSpPr>
          <p:cNvPr id="8" name="Rectangle 5"/>
          <p:cNvSpPr>
            <a:spLocks noGrp="1" noChangeArrowheads="1"/>
          </p:cNvSpPr>
          <p:nvPr>
            <p:ph type="ftr" sz="quarter" idx="11"/>
          </p:nvPr>
        </p:nvSpPr>
        <p:spPr>
          <a:ln/>
        </p:spPr>
        <p:txBody>
          <a:bodyPr/>
          <a:lstStyle>
            <a:lvl1pPr>
              <a:defRPr/>
            </a:lvl1pPr>
          </a:lstStyle>
          <a:p>
            <a:pPr>
              <a:defRPr/>
            </a:pPr>
            <a:endParaRPr lang="en-GB"/>
          </a:p>
        </p:txBody>
      </p:sp>
      <p:sp>
        <p:nvSpPr>
          <p:cNvPr id="9" name="Rectangle 6"/>
          <p:cNvSpPr>
            <a:spLocks noGrp="1" noChangeArrowheads="1"/>
          </p:cNvSpPr>
          <p:nvPr>
            <p:ph type="sldNum" sz="quarter" idx="12"/>
          </p:nvPr>
        </p:nvSpPr>
        <p:spPr>
          <a:ln/>
        </p:spPr>
        <p:txBody>
          <a:bodyPr/>
          <a:lstStyle>
            <a:lvl1pPr>
              <a:defRPr/>
            </a:lvl1pPr>
          </a:lstStyle>
          <a:p>
            <a:pPr>
              <a:defRPr/>
            </a:pPr>
            <a:fld id="{AEFD12EB-2399-4558-BA81-5CB74586AA13}" type="slidenum">
              <a:rPr lang="en-GB"/>
              <a:pPr>
                <a:defRPr/>
              </a:pPr>
              <a:t>‹#›</a:t>
            </a:fld>
            <a:endParaRPr lang="en-GB"/>
          </a:p>
        </p:txBody>
      </p:sp>
    </p:spTree>
    <p:extLst>
      <p:ext uri="{BB962C8B-B14F-4D97-AF65-F5344CB8AC3E}">
        <p14:creationId xmlns:p14="http://schemas.microsoft.com/office/powerpoint/2010/main" val="98618805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600200"/>
            <a:ext cx="5384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7600" y="3938589"/>
            <a:ext cx="5384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ln/>
        </p:spPr>
        <p:txBody>
          <a:bodyPr/>
          <a:lstStyle>
            <a:lvl1pPr>
              <a:defRPr/>
            </a:lvl1pPr>
          </a:lstStyle>
          <a:p>
            <a:pPr>
              <a:defRPr/>
            </a:pPr>
            <a:endParaRPr lang="en-GB"/>
          </a:p>
        </p:txBody>
      </p:sp>
      <p:sp>
        <p:nvSpPr>
          <p:cNvPr id="7" name="Rectangle 5"/>
          <p:cNvSpPr>
            <a:spLocks noGrp="1" noChangeArrowheads="1"/>
          </p:cNvSpPr>
          <p:nvPr>
            <p:ph type="ftr" sz="quarter" idx="11"/>
          </p:nvPr>
        </p:nvSpPr>
        <p:spPr>
          <a:ln/>
        </p:spPr>
        <p:txBody>
          <a:bodyPr/>
          <a:lstStyle>
            <a:lvl1pPr>
              <a:defRPr/>
            </a:lvl1pPr>
          </a:lstStyle>
          <a:p>
            <a:pPr>
              <a:defRPr/>
            </a:pPr>
            <a:endParaRPr lang="en-GB"/>
          </a:p>
        </p:txBody>
      </p:sp>
      <p:sp>
        <p:nvSpPr>
          <p:cNvPr id="8" name="Rectangle 6"/>
          <p:cNvSpPr>
            <a:spLocks noGrp="1" noChangeArrowheads="1"/>
          </p:cNvSpPr>
          <p:nvPr>
            <p:ph type="sldNum" sz="quarter" idx="12"/>
          </p:nvPr>
        </p:nvSpPr>
        <p:spPr>
          <a:ln/>
        </p:spPr>
        <p:txBody>
          <a:bodyPr/>
          <a:lstStyle>
            <a:lvl1pPr>
              <a:defRPr/>
            </a:lvl1pPr>
          </a:lstStyle>
          <a:p>
            <a:pPr>
              <a:defRPr/>
            </a:pPr>
            <a:fld id="{6D7CAA97-5F0C-4304-8AA3-788B8C496C80}" type="slidenum">
              <a:rPr lang="en-GB"/>
              <a:pPr>
                <a:defRPr/>
              </a:pPr>
              <a:t>‹#›</a:t>
            </a:fld>
            <a:endParaRPr lang="en-GB"/>
          </a:p>
        </p:txBody>
      </p:sp>
    </p:spTree>
    <p:extLst>
      <p:ext uri="{BB962C8B-B14F-4D97-AF65-F5344CB8AC3E}">
        <p14:creationId xmlns:p14="http://schemas.microsoft.com/office/powerpoint/2010/main" val="34589656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600200"/>
            <a:ext cx="5384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7600" y="3938589"/>
            <a:ext cx="5384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ln/>
        </p:spPr>
        <p:txBody>
          <a:bodyPr/>
          <a:lstStyle>
            <a:lvl1pPr>
              <a:defRPr/>
            </a:lvl1pPr>
          </a:lstStyle>
          <a:p>
            <a:pPr>
              <a:defRPr/>
            </a:pPr>
            <a:endParaRPr lang="en-GB"/>
          </a:p>
        </p:txBody>
      </p:sp>
      <p:sp>
        <p:nvSpPr>
          <p:cNvPr id="7" name="Rectangle 5"/>
          <p:cNvSpPr>
            <a:spLocks noGrp="1" noChangeArrowheads="1"/>
          </p:cNvSpPr>
          <p:nvPr>
            <p:ph type="ftr" sz="quarter" idx="11"/>
          </p:nvPr>
        </p:nvSpPr>
        <p:spPr>
          <a:ln/>
        </p:spPr>
        <p:txBody>
          <a:bodyPr/>
          <a:lstStyle>
            <a:lvl1pPr>
              <a:defRPr/>
            </a:lvl1pPr>
          </a:lstStyle>
          <a:p>
            <a:pPr>
              <a:defRPr/>
            </a:pPr>
            <a:endParaRPr lang="en-GB"/>
          </a:p>
        </p:txBody>
      </p:sp>
      <p:sp>
        <p:nvSpPr>
          <p:cNvPr id="8" name="Rectangle 6"/>
          <p:cNvSpPr>
            <a:spLocks noGrp="1" noChangeArrowheads="1"/>
          </p:cNvSpPr>
          <p:nvPr>
            <p:ph type="sldNum" sz="quarter" idx="12"/>
          </p:nvPr>
        </p:nvSpPr>
        <p:spPr>
          <a:ln/>
        </p:spPr>
        <p:txBody>
          <a:bodyPr/>
          <a:lstStyle>
            <a:lvl1pPr>
              <a:defRPr/>
            </a:lvl1pPr>
          </a:lstStyle>
          <a:p>
            <a:pPr>
              <a:defRPr/>
            </a:pPr>
            <a:fld id="{54B848B5-EC09-4381-B89F-2EB2ACAAB421}" type="slidenum">
              <a:rPr lang="en-GB"/>
              <a:pPr>
                <a:defRPr/>
              </a:pPr>
              <a:t>‹#›</a:t>
            </a:fld>
            <a:endParaRPr lang="en-GB"/>
          </a:p>
        </p:txBody>
      </p:sp>
    </p:spTree>
    <p:extLst>
      <p:ext uri="{BB962C8B-B14F-4D97-AF65-F5344CB8AC3E}">
        <p14:creationId xmlns:p14="http://schemas.microsoft.com/office/powerpoint/2010/main" val="35893144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25370431"/>
      </p:ext>
    </p:extLst>
  </p:cSld>
  <p:clrMap bg1="lt1" tx1="dk1" bg2="lt2" tx2="dk2" accent1="accent1" accent2="accent2" accent3="accent3" accent4="accent4" accent5="accent5" accent6="accent6" hlink="hlink" folHlink="folHlink"/>
  <p:sldLayoutIdLst>
    <p:sldLayoutId id="2147483649" r:id="rId1"/>
    <p:sldLayoutId id="2147483673" r:id="rId2"/>
    <p:sldLayoutId id="2147483674" r:id="rId3"/>
    <p:sldLayoutId id="2147483675" r:id="rId4"/>
    <p:sldLayoutId id="2147483676" r:id="rId5"/>
    <p:sldLayoutId id="2147483677" r:id="rId6"/>
    <p:sldLayoutId id="2147483650" r:id="rId7"/>
    <p:sldLayoutId id="2147483678" r:id="rId8"/>
    <p:sldLayoutId id="2147483679" r:id="rId9"/>
    <p:sldLayoutId id="2147483652" r:id="rId10"/>
    <p:sldLayoutId id="2147483654" r:id="rId11"/>
    <p:sldLayoutId id="2147483655" r:id="rId12"/>
    <p:sldLayoutId id="2147483656" r:id="rId13"/>
    <p:sldLayoutId id="2147483657" r:id="rId14"/>
    <p:sldLayoutId id="2147483680" r:id="rId15"/>
    <p:sldLayoutId id="2147483681" r:id="rId16"/>
    <p:sldLayoutId id="2147483682" r:id="rId17"/>
    <p:sldLayoutId id="2147483683" r:id="rId18"/>
    <p:sldLayoutId id="2147483684"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9.xml"/><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7.png"/><Relationship Id="rId1" Type="http://schemas.openxmlformats.org/officeDocument/2006/relationships/slideLayout" Target="../slideLayouts/slideLayout10.xml"/><Relationship Id="rId6" Type="http://schemas.openxmlformats.org/officeDocument/2006/relationships/image" Target="../media/image21.emf"/><Relationship Id="rId5" Type="http://schemas.openxmlformats.org/officeDocument/2006/relationships/image" Target="../media/image20.wmf"/><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8.xml"/><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wmf"/><Relationship Id="rId1" Type="http://schemas.openxmlformats.org/officeDocument/2006/relationships/slideLayout" Target="../slideLayouts/slideLayout9.xml"/><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video" Target="../media/media2.mp4"/><Relationship Id="rId1" Type="http://schemas.microsoft.com/office/2007/relationships/media" Target="../media/media2.mp4"/><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jpe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36.gif"/><Relationship Id="rId2" Type="http://schemas.openxmlformats.org/officeDocument/2006/relationships/image" Target="../media/image35.gif"/><Relationship Id="rId1" Type="http://schemas.openxmlformats.org/officeDocument/2006/relationships/slideLayout" Target="../slideLayouts/slideLayout10.xml"/><Relationship Id="rId4" Type="http://schemas.openxmlformats.org/officeDocument/2006/relationships/image" Target="../media/image37.png"/></Relationships>
</file>

<file path=ppt/slides/_rels/slide24.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38.jpeg"/><Relationship Id="rId1" Type="http://schemas.openxmlformats.org/officeDocument/2006/relationships/slideLayout" Target="../slideLayouts/slideLayout8.xml"/><Relationship Id="rId4" Type="http://schemas.openxmlformats.org/officeDocument/2006/relationships/image" Target="../media/image40.jpeg"/></Relationships>
</file>

<file path=ppt/slides/_rels/slide25.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image" Target="../media/image43.png"/><Relationship Id="rId1" Type="http://schemas.openxmlformats.org/officeDocument/2006/relationships/slideLayout" Target="../slideLayouts/slideLayout8.xml"/><Relationship Id="rId4" Type="http://schemas.openxmlformats.org/officeDocument/2006/relationships/image" Target="../media/image45.png"/></Relationships>
</file>

<file path=ppt/slides/_rels/slide2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3" Type="http://schemas.openxmlformats.org/officeDocument/2006/relationships/image" Target="../media/image48.gif"/><Relationship Id="rId2" Type="http://schemas.openxmlformats.org/officeDocument/2006/relationships/image" Target="../media/image47.png"/><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3" Type="http://schemas.openxmlformats.org/officeDocument/2006/relationships/image" Target="../media/image50.jpg"/><Relationship Id="rId2" Type="http://schemas.openxmlformats.org/officeDocument/2006/relationships/image" Target="../media/image49.jpg"/><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3" Type="http://schemas.openxmlformats.org/officeDocument/2006/relationships/image" Target="../media/image52.jpg"/><Relationship Id="rId7" Type="http://schemas.openxmlformats.org/officeDocument/2006/relationships/image" Target="../media/image56.png"/><Relationship Id="rId2" Type="http://schemas.openxmlformats.org/officeDocument/2006/relationships/image" Target="../media/image51.png"/><Relationship Id="rId1" Type="http://schemas.openxmlformats.org/officeDocument/2006/relationships/slideLayout" Target="../slideLayouts/slideLayout10.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34.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1.xml"/><Relationship Id="rId1" Type="http://schemas.openxmlformats.org/officeDocument/2006/relationships/slideLayout" Target="../slideLayouts/slideLayout10.xml"/><Relationship Id="rId4" Type="http://schemas.openxmlformats.org/officeDocument/2006/relationships/image" Target="../media/image58.png"/></Relationships>
</file>

<file path=ppt/slides/_rels/slide3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xml"/><Relationship Id="rId1" Type="http://schemas.openxmlformats.org/officeDocument/2006/relationships/slideLayout" Target="../slideLayouts/slideLayout9.xml"/><Relationship Id="rId4" Type="http://schemas.openxmlformats.org/officeDocument/2006/relationships/image" Target="../media/image60.png"/></Relationships>
</file>

<file path=ppt/slides/_rels/slide3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xml"/><Relationship Id="rId1" Type="http://schemas.openxmlformats.org/officeDocument/2006/relationships/slideLayout" Target="../slideLayouts/slideLayout8.xml"/><Relationship Id="rId5" Type="http://schemas.openxmlformats.org/officeDocument/2006/relationships/image" Target="../media/image63.jpeg"/><Relationship Id="rId4" Type="http://schemas.openxmlformats.org/officeDocument/2006/relationships/image" Target="../media/image62.jpeg"/></Relationships>
</file>

<file path=ppt/slides/_rels/slide37.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66.png"/><Relationship Id="rId7" Type="http://schemas.openxmlformats.org/officeDocument/2006/relationships/image" Target="../media/image70.png"/><Relationship Id="rId2" Type="http://schemas.openxmlformats.org/officeDocument/2006/relationships/image" Target="../media/image65.png"/><Relationship Id="rId1" Type="http://schemas.openxmlformats.org/officeDocument/2006/relationships/slideLayout" Target="../slideLayouts/slideLayout8.xml"/><Relationship Id="rId6" Type="http://schemas.openxmlformats.org/officeDocument/2006/relationships/image" Target="../media/image69.png"/><Relationship Id="rId5" Type="http://schemas.openxmlformats.org/officeDocument/2006/relationships/image" Target="../media/image68.png"/><Relationship Id="rId10" Type="http://schemas.openxmlformats.org/officeDocument/2006/relationships/image" Target="../media/image73.png"/><Relationship Id="rId4" Type="http://schemas.openxmlformats.org/officeDocument/2006/relationships/image" Target="../media/image67.png"/><Relationship Id="rId9" Type="http://schemas.openxmlformats.org/officeDocument/2006/relationships/image" Target="../media/image72.png"/></Relationships>
</file>

<file path=ppt/slides/_rels/slide40.xml.rels><?xml version="1.0" encoding="UTF-8" standalone="yes"?>
<Relationships xmlns="http://schemas.openxmlformats.org/package/2006/relationships"><Relationship Id="rId3" Type="http://schemas.openxmlformats.org/officeDocument/2006/relationships/image" Target="../media/image75.gif"/><Relationship Id="rId2" Type="http://schemas.openxmlformats.org/officeDocument/2006/relationships/image" Target="../media/image74.gif"/><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2" Type="http://schemas.openxmlformats.org/officeDocument/2006/relationships/image" Target="../media/image77.jpg"/><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3" Type="http://schemas.openxmlformats.org/officeDocument/2006/relationships/image" Target="../media/image78.jp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hyperlink" Target="https://www.youtube.com/watch?v=QyWv_KW2pXo"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image" Target="../media/image83.jpeg"/><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2" Type="http://schemas.openxmlformats.org/officeDocument/2006/relationships/image" Target="../media/image85.wmf"/><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2.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9.xml"/></Relationships>
</file>

<file path=ppt/slides/_rels/slide53.xml.rels><?xml version="1.0" encoding="UTF-8" standalone="yes"?>
<Relationships xmlns="http://schemas.openxmlformats.org/package/2006/relationships"><Relationship Id="rId3" Type="http://schemas.openxmlformats.org/officeDocument/2006/relationships/image" Target="../media/image88.gif"/><Relationship Id="rId2" Type="http://schemas.openxmlformats.org/officeDocument/2006/relationships/image" Target="../media/image87.jpg"/><Relationship Id="rId1" Type="http://schemas.openxmlformats.org/officeDocument/2006/relationships/slideLayout" Target="../slideLayouts/slideLayout10.xml"/></Relationships>
</file>

<file path=ppt/slides/_rels/slide54.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image" Target="../media/image89.jpg"/><Relationship Id="rId1" Type="http://schemas.openxmlformats.org/officeDocument/2006/relationships/slideLayout" Target="../slideLayouts/slideLayout10.xml"/><Relationship Id="rId4" Type="http://schemas.openxmlformats.org/officeDocument/2006/relationships/image" Target="../media/image91.jpg"/></Relationships>
</file>

<file path=ppt/slides/_rels/slide55.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jpeg"/><Relationship Id="rId1" Type="http://schemas.openxmlformats.org/officeDocument/2006/relationships/slideLayout" Target="../slideLayouts/slideLayout10.xml"/></Relationships>
</file>

<file path=ppt/slides/_rels/slide56.xml.rels><?xml version="1.0" encoding="UTF-8" standalone="yes"?>
<Relationships xmlns="http://schemas.openxmlformats.org/package/2006/relationships"><Relationship Id="rId2" Type="http://schemas.openxmlformats.org/officeDocument/2006/relationships/image" Target="../media/image94.jp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36143-9AC5-46A8-81E4-FFBF01ACFC87}"/>
              </a:ext>
            </a:extLst>
          </p:cNvPr>
          <p:cNvSpPr>
            <a:spLocks noGrp="1"/>
          </p:cNvSpPr>
          <p:nvPr>
            <p:ph type="title"/>
          </p:nvPr>
        </p:nvSpPr>
        <p:spPr/>
        <p:txBody>
          <a:bodyPr/>
          <a:lstStyle/>
          <a:p>
            <a:r>
              <a:rPr lang="en-GB" dirty="0"/>
              <a:t>Machine vision</a:t>
            </a:r>
          </a:p>
        </p:txBody>
      </p:sp>
    </p:spTree>
    <p:extLst>
      <p:ext uri="{BB962C8B-B14F-4D97-AF65-F5344CB8AC3E}">
        <p14:creationId xmlns:p14="http://schemas.microsoft.com/office/powerpoint/2010/main" val="4524579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GB"/>
              <a:t>Distance vs. angle signature</a:t>
            </a:r>
          </a:p>
        </p:txBody>
      </p:sp>
      <p:sp>
        <p:nvSpPr>
          <p:cNvPr id="2" name="Text Placeholder 1">
            <a:extLst>
              <a:ext uri="{FF2B5EF4-FFF2-40B4-BE49-F238E27FC236}">
                <a16:creationId xmlns:a16="http://schemas.microsoft.com/office/drawing/2014/main" id="{7A9992EB-8B6A-485C-B1ED-B1BE9C0FB50F}"/>
              </a:ext>
            </a:extLst>
          </p:cNvPr>
          <p:cNvSpPr>
            <a:spLocks noGrp="1"/>
          </p:cNvSpPr>
          <p:nvPr>
            <p:ph type="body" sz="quarter" idx="10"/>
          </p:nvPr>
        </p:nvSpPr>
        <p:spPr/>
        <p:txBody>
          <a:bodyPr/>
          <a:lstStyle/>
          <a:p>
            <a:endParaRPr lang="en-GB"/>
          </a:p>
        </p:txBody>
      </p:sp>
      <p:pic>
        <p:nvPicPr>
          <p:cNvPr id="15363" name="Picture 4" descr="indipimg5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27351" y="1557338"/>
            <a:ext cx="2227263" cy="177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4" name="Picture 5" descr="indipimg5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88163" y="1557338"/>
            <a:ext cx="2227262" cy="177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5" name="Picture 6" descr="indipimg5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27351" y="4149726"/>
            <a:ext cx="2227263" cy="177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6" name="Picture 7" descr="indipimg5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88163" y="4149726"/>
            <a:ext cx="2227262" cy="177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7" name="Text Box 8"/>
          <p:cNvSpPr txBox="1">
            <a:spLocks noChangeArrowheads="1"/>
          </p:cNvSpPr>
          <p:nvPr/>
        </p:nvSpPr>
        <p:spPr bwMode="auto">
          <a:xfrm>
            <a:off x="3575050" y="3429001"/>
            <a:ext cx="768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GB"/>
              <a:t>Circle</a:t>
            </a:r>
          </a:p>
        </p:txBody>
      </p:sp>
      <p:sp>
        <p:nvSpPr>
          <p:cNvPr id="15368" name="Text Box 9"/>
          <p:cNvSpPr txBox="1">
            <a:spLocks noChangeArrowheads="1"/>
          </p:cNvSpPr>
          <p:nvPr/>
        </p:nvSpPr>
        <p:spPr bwMode="auto">
          <a:xfrm>
            <a:off x="7535863" y="5949951"/>
            <a:ext cx="1009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GB"/>
              <a:t>Triangle</a:t>
            </a:r>
          </a:p>
        </p:txBody>
      </p:sp>
      <p:sp>
        <p:nvSpPr>
          <p:cNvPr id="15369" name="Text Box 10"/>
          <p:cNvSpPr txBox="1">
            <a:spLocks noChangeArrowheads="1"/>
          </p:cNvSpPr>
          <p:nvPr/>
        </p:nvSpPr>
        <p:spPr bwMode="auto">
          <a:xfrm>
            <a:off x="3359150" y="6021388"/>
            <a:ext cx="12128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GB"/>
              <a:t>Rectangle</a:t>
            </a:r>
          </a:p>
        </p:txBody>
      </p:sp>
      <p:sp>
        <p:nvSpPr>
          <p:cNvPr id="15370" name="Text Box 11"/>
          <p:cNvSpPr txBox="1">
            <a:spLocks noChangeArrowheads="1"/>
          </p:cNvSpPr>
          <p:nvPr/>
        </p:nvSpPr>
        <p:spPr bwMode="auto">
          <a:xfrm>
            <a:off x="7608888" y="3422651"/>
            <a:ext cx="920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GB"/>
              <a:t>Square</a:t>
            </a:r>
          </a:p>
        </p:txBody>
      </p:sp>
      <p:sp>
        <p:nvSpPr>
          <p:cNvPr id="15371" name="Rectangle 12"/>
          <p:cNvSpPr>
            <a:spLocks noChangeArrowheads="1"/>
          </p:cNvSpPr>
          <p:nvPr/>
        </p:nvSpPr>
        <p:spPr bwMode="auto">
          <a:xfrm>
            <a:off x="6311900" y="2133600"/>
            <a:ext cx="503238" cy="503238"/>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5372" name="Rectangle 13"/>
          <p:cNvSpPr>
            <a:spLocks noChangeArrowheads="1"/>
          </p:cNvSpPr>
          <p:nvPr/>
        </p:nvSpPr>
        <p:spPr bwMode="auto">
          <a:xfrm rot="-5400000">
            <a:off x="2208213" y="4581526"/>
            <a:ext cx="431800" cy="936625"/>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5373" name="Oval 14"/>
          <p:cNvSpPr>
            <a:spLocks noChangeArrowheads="1"/>
          </p:cNvSpPr>
          <p:nvPr/>
        </p:nvSpPr>
        <p:spPr bwMode="auto">
          <a:xfrm>
            <a:off x="2279650" y="2133600"/>
            <a:ext cx="503238" cy="503238"/>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15374" name="AutoShape 15"/>
          <p:cNvSpPr>
            <a:spLocks noChangeArrowheads="1"/>
          </p:cNvSpPr>
          <p:nvPr/>
        </p:nvSpPr>
        <p:spPr bwMode="auto">
          <a:xfrm>
            <a:off x="6167438" y="4724400"/>
            <a:ext cx="647700" cy="647700"/>
          </a:xfrm>
          <a:prstGeom prst="triangle">
            <a:avLst>
              <a:gd name="adj" fmla="val 50000"/>
            </a:avLst>
          </a:prstGeom>
          <a:solidFill>
            <a:schemeClr val="accent1"/>
          </a:solidFill>
          <a:ln w="9525">
            <a:solidFill>
              <a:schemeClr val="tx1"/>
            </a:solidFill>
            <a:miter lim="800000"/>
            <a:headEnd/>
            <a:tailEnd/>
          </a:ln>
        </p:spPr>
        <p:txBody>
          <a:bodyPr wrap="none" anchor="ct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en-GB"/>
              <a:t>Chain codes</a:t>
            </a:r>
          </a:p>
        </p:txBody>
      </p:sp>
      <p:sp>
        <p:nvSpPr>
          <p:cNvPr id="25603" name="Rectangle 3"/>
          <p:cNvSpPr>
            <a:spLocks noGrp="1" noChangeArrowheads="1"/>
          </p:cNvSpPr>
          <p:nvPr>
            <p:ph type="body" sz="quarter" idx="10"/>
          </p:nvPr>
        </p:nvSpPr>
        <p:spPr/>
        <p:txBody>
          <a:bodyPr>
            <a:normAutofit/>
          </a:bodyPr>
          <a:lstStyle/>
          <a:p>
            <a:pPr eaLnBrk="1" hangingPunct="1"/>
            <a:r>
              <a:rPr lang="en-GB"/>
              <a:t>Edges must be linked into a representation for a region boundary</a:t>
            </a:r>
          </a:p>
          <a:p>
            <a:pPr lvl="1" eaLnBrk="1" hangingPunct="1"/>
            <a:r>
              <a:rPr lang="en-GB"/>
              <a:t>It is called contour</a:t>
            </a:r>
          </a:p>
          <a:p>
            <a:pPr lvl="1" eaLnBrk="1" hangingPunct="1"/>
            <a:r>
              <a:rPr lang="en-GB"/>
              <a:t>It can be opened or closed</a:t>
            </a:r>
          </a:p>
          <a:p>
            <a:pPr eaLnBrk="1" hangingPunct="1"/>
            <a:r>
              <a:rPr lang="en-GB"/>
              <a:t>Chain code</a:t>
            </a:r>
          </a:p>
          <a:p>
            <a:pPr lvl="1" eaLnBrk="1" hangingPunct="1"/>
            <a:r>
              <a:rPr lang="en-GB"/>
              <a:t>Basic way to generate a contour</a:t>
            </a:r>
          </a:p>
          <a:p>
            <a:pPr lvl="1" eaLnBrk="1" hangingPunct="1"/>
            <a:r>
              <a:rPr lang="en-GB"/>
              <a:t>Using the 8 neighbours of each edge pixel </a:t>
            </a:r>
          </a:p>
          <a:p>
            <a:pPr eaLnBrk="1" hangingPunct="1"/>
            <a:r>
              <a:rPr lang="en-GB"/>
              <a:t>More complex methods exists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626" name="Rectangle 7"/>
          <p:cNvSpPr>
            <a:spLocks noGrp="1" noChangeArrowheads="1"/>
          </p:cNvSpPr>
          <p:nvPr>
            <p:ph type="title"/>
          </p:nvPr>
        </p:nvSpPr>
        <p:spPr/>
        <p:txBody>
          <a:bodyPr/>
          <a:lstStyle/>
          <a:p>
            <a:pPr eaLnBrk="1" hangingPunct="1"/>
            <a:r>
              <a:rPr lang="en-GB"/>
              <a:t>Chain code - example</a:t>
            </a:r>
          </a:p>
        </p:txBody>
      </p:sp>
      <p:pic>
        <p:nvPicPr>
          <p:cNvPr id="26628" name="Picture 6"/>
          <p:cNvPicPr>
            <a:picLocks noGrp="1" noChangeAspect="1" noChangeArrowheads="1"/>
          </p:cNvPicPr>
          <p:nvPr>
            <p:ph sz="half" idx="4294967295"/>
          </p:nvPr>
        </p:nvPicPr>
        <p:blipFill>
          <a:blip r:embed="rId2" cstate="print">
            <a:extLst>
              <a:ext uri="{28A0092B-C50C-407E-A947-70E740481C1C}">
                <a14:useLocalDpi xmlns:a14="http://schemas.microsoft.com/office/drawing/2010/main" val="0"/>
              </a:ext>
            </a:extLst>
          </a:blip>
          <a:srcRect/>
          <a:stretch>
            <a:fillRect/>
          </a:stretch>
        </p:blipFill>
        <p:spPr>
          <a:xfrm>
            <a:off x="2778710" y="3428531"/>
            <a:ext cx="1800225" cy="1093788"/>
          </a:xfrm>
          <a:prstGeom prst="rect">
            <a:avLst/>
          </a:prstGeom>
          <a:noFill/>
        </p:spPr>
      </p:pic>
      <p:pic>
        <p:nvPicPr>
          <p:cNvPr id="26627" name="Picture 3"/>
          <p:cNvPicPr>
            <a:picLocks noGrp="1" noChangeAspect="1" noChangeArrowheads="1"/>
          </p:cNvPicPr>
          <p:nvPr>
            <p:ph idx="4294967295"/>
          </p:nvPr>
        </p:nvPicPr>
        <p:blipFill>
          <a:blip r:embed="rId3" cstate="print">
            <a:extLst>
              <a:ext uri="{28A0092B-C50C-407E-A947-70E740481C1C}">
                <a14:useLocalDpi xmlns:a14="http://schemas.microsoft.com/office/drawing/2010/main" val="0"/>
              </a:ext>
            </a:extLst>
          </a:blip>
          <a:stretch>
            <a:fillRect/>
          </a:stretch>
        </p:blipFill>
        <p:spPr>
          <a:xfrm>
            <a:off x="5335479" y="2236050"/>
            <a:ext cx="4749554" cy="3478750"/>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en-GB"/>
              <a:t>Hough Transform</a:t>
            </a:r>
          </a:p>
        </p:txBody>
      </p:sp>
      <p:sp>
        <p:nvSpPr>
          <p:cNvPr id="27651" name="Rectangle 3"/>
          <p:cNvSpPr>
            <a:spLocks noGrp="1" noChangeArrowheads="1"/>
          </p:cNvSpPr>
          <p:nvPr>
            <p:ph type="body" sz="quarter" idx="10"/>
          </p:nvPr>
        </p:nvSpPr>
        <p:spPr/>
        <p:txBody>
          <a:bodyPr>
            <a:normAutofit/>
          </a:bodyPr>
          <a:lstStyle/>
          <a:p>
            <a:pPr eaLnBrk="1" hangingPunct="1"/>
            <a:r>
              <a:rPr lang="en-GB"/>
              <a:t>Used for isolate curves of a give shape in figures</a:t>
            </a:r>
          </a:p>
          <a:p>
            <a:pPr eaLnBrk="1" hangingPunct="1"/>
            <a:r>
              <a:rPr lang="en-GB"/>
              <a:t>Very common in detection of regular curves such as lines, circles and ellipses</a:t>
            </a:r>
          </a:p>
          <a:p>
            <a:pPr eaLnBrk="1" hangingPunct="1"/>
            <a:r>
              <a:rPr lang="en-GB"/>
              <a:t>Uses a voting mechanism</a:t>
            </a:r>
          </a:p>
          <a:p>
            <a:pPr eaLnBrk="1" hangingPunct="1"/>
            <a:r>
              <a:rPr lang="en-GB"/>
              <a:t>Computationally inefficient for complex models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16"/>
          <p:cNvSpPr>
            <a:spLocks noGrp="1" noChangeArrowheads="1"/>
          </p:cNvSpPr>
          <p:nvPr>
            <p:ph sz="half" idx="1"/>
          </p:nvPr>
        </p:nvSpPr>
        <p:spPr/>
        <p:txBody>
          <a:bodyPr/>
          <a:lstStyle/>
          <a:p>
            <a:pPr eaLnBrk="1" hangingPunct="1">
              <a:lnSpc>
                <a:spcPct val="80000"/>
              </a:lnSpc>
            </a:pPr>
            <a:r>
              <a:rPr lang="en-GB" sz="2400" dirty="0"/>
              <a:t>Consider a straight line </a:t>
            </a:r>
            <a:r>
              <a:rPr lang="en-GB" sz="2400" i="1" dirty="0"/>
              <a:t>y=</a:t>
            </a:r>
            <a:r>
              <a:rPr lang="en-GB" sz="2400" i="1" dirty="0" err="1"/>
              <a:t>mx+c</a:t>
            </a:r>
            <a:endParaRPr lang="en-GB" sz="2400" i="1" dirty="0"/>
          </a:p>
          <a:p>
            <a:pPr eaLnBrk="1" hangingPunct="1">
              <a:lnSpc>
                <a:spcPct val="80000"/>
              </a:lnSpc>
            </a:pPr>
            <a:r>
              <a:rPr lang="en-GB" sz="2400" dirty="0"/>
              <a:t>x, y denoted observe values and c, m denotes the parameters</a:t>
            </a:r>
          </a:p>
          <a:p>
            <a:pPr eaLnBrk="1" hangingPunct="1">
              <a:lnSpc>
                <a:spcPct val="80000"/>
              </a:lnSpc>
            </a:pPr>
            <a:r>
              <a:rPr lang="en-GB" sz="2400" dirty="0"/>
              <a:t>Rewrite the equation to </a:t>
            </a:r>
            <a:r>
              <a:rPr lang="en-GB" sz="2400" i="1" dirty="0"/>
              <a:t>c=y-mx</a:t>
            </a:r>
          </a:p>
          <a:p>
            <a:pPr eaLnBrk="1" hangingPunct="1">
              <a:lnSpc>
                <a:spcPct val="80000"/>
              </a:lnSpc>
            </a:pPr>
            <a:r>
              <a:rPr lang="en-GB" sz="2400" dirty="0"/>
              <a:t>Plot the equation in a m-c space i.e. x, y are constants</a:t>
            </a:r>
          </a:p>
          <a:p>
            <a:pPr eaLnBrk="1" hangingPunct="1">
              <a:lnSpc>
                <a:spcPct val="80000"/>
              </a:lnSpc>
            </a:pPr>
            <a:r>
              <a:rPr lang="en-GB" sz="2400" dirty="0"/>
              <a:t>Due to problems with vertical lines use polar form   </a:t>
            </a:r>
          </a:p>
        </p:txBody>
      </p:sp>
      <p:sp>
        <p:nvSpPr>
          <p:cNvPr id="2" name="Content Placeholder 1">
            <a:extLst>
              <a:ext uri="{FF2B5EF4-FFF2-40B4-BE49-F238E27FC236}">
                <a16:creationId xmlns:a16="http://schemas.microsoft.com/office/drawing/2014/main" id="{C45FE0CB-D1B5-425D-B511-484FC009E82C}"/>
              </a:ext>
            </a:extLst>
          </p:cNvPr>
          <p:cNvSpPr>
            <a:spLocks noGrp="1"/>
          </p:cNvSpPr>
          <p:nvPr>
            <p:ph sz="half" idx="2"/>
          </p:nvPr>
        </p:nvSpPr>
        <p:spPr/>
        <p:txBody>
          <a:bodyPr/>
          <a:lstStyle/>
          <a:p>
            <a:endParaRPr lang="en-GB"/>
          </a:p>
        </p:txBody>
      </p:sp>
      <p:sp>
        <p:nvSpPr>
          <p:cNvPr id="28674" name="Rectangle 2"/>
          <p:cNvSpPr>
            <a:spLocks noGrp="1" noChangeArrowheads="1"/>
          </p:cNvSpPr>
          <p:nvPr>
            <p:ph type="title"/>
          </p:nvPr>
        </p:nvSpPr>
        <p:spPr/>
        <p:txBody>
          <a:bodyPr/>
          <a:lstStyle/>
          <a:p>
            <a:pPr eaLnBrk="1" hangingPunct="1"/>
            <a:r>
              <a:rPr lang="en-GB" sz="4000"/>
              <a:t>Hough Transform – Straight line</a:t>
            </a:r>
          </a:p>
        </p:txBody>
      </p:sp>
      <p:sp>
        <p:nvSpPr>
          <p:cNvPr id="28676" name="Line 3"/>
          <p:cNvSpPr>
            <a:spLocks noChangeShapeType="1"/>
          </p:cNvSpPr>
          <p:nvPr/>
        </p:nvSpPr>
        <p:spPr bwMode="auto">
          <a:xfrm>
            <a:off x="6665913" y="4581525"/>
            <a:ext cx="351155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sv-SE"/>
          </a:p>
        </p:txBody>
      </p:sp>
      <p:sp>
        <p:nvSpPr>
          <p:cNvPr id="28677" name="Line 4"/>
          <p:cNvSpPr>
            <a:spLocks noChangeShapeType="1"/>
          </p:cNvSpPr>
          <p:nvPr/>
        </p:nvSpPr>
        <p:spPr bwMode="auto">
          <a:xfrm flipV="1">
            <a:off x="6665913" y="2463801"/>
            <a:ext cx="0" cy="21177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sv-SE"/>
          </a:p>
        </p:txBody>
      </p:sp>
      <p:sp>
        <p:nvSpPr>
          <p:cNvPr id="28678" name="Line 5"/>
          <p:cNvSpPr>
            <a:spLocks noChangeShapeType="1"/>
          </p:cNvSpPr>
          <p:nvPr/>
        </p:nvSpPr>
        <p:spPr bwMode="auto">
          <a:xfrm>
            <a:off x="6499226" y="2717801"/>
            <a:ext cx="3509963" cy="194786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sv-SE"/>
          </a:p>
        </p:txBody>
      </p:sp>
      <p:sp>
        <p:nvSpPr>
          <p:cNvPr id="28679" name="Text Box 6"/>
          <p:cNvSpPr txBox="1">
            <a:spLocks noChangeArrowheads="1"/>
          </p:cNvSpPr>
          <p:nvPr/>
        </p:nvSpPr>
        <p:spPr bwMode="auto">
          <a:xfrm>
            <a:off x="10091738" y="4581526"/>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GB" b="1"/>
              <a:t>x</a:t>
            </a:r>
          </a:p>
        </p:txBody>
      </p:sp>
      <p:sp>
        <p:nvSpPr>
          <p:cNvPr id="28680" name="Text Box 7"/>
          <p:cNvSpPr txBox="1">
            <a:spLocks noChangeArrowheads="1"/>
          </p:cNvSpPr>
          <p:nvPr/>
        </p:nvSpPr>
        <p:spPr bwMode="auto">
          <a:xfrm>
            <a:off x="6456363" y="242093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GB" b="1"/>
              <a:t>y</a:t>
            </a:r>
          </a:p>
        </p:txBody>
      </p:sp>
      <p:sp>
        <p:nvSpPr>
          <p:cNvPr id="28681" name="Line 8"/>
          <p:cNvSpPr>
            <a:spLocks noChangeShapeType="1"/>
          </p:cNvSpPr>
          <p:nvPr/>
        </p:nvSpPr>
        <p:spPr bwMode="auto">
          <a:xfrm flipV="1">
            <a:off x="6665914" y="3268663"/>
            <a:ext cx="795337" cy="13128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sv-SE"/>
          </a:p>
        </p:txBody>
      </p:sp>
      <p:sp>
        <p:nvSpPr>
          <p:cNvPr id="28682" name="Line 9"/>
          <p:cNvSpPr>
            <a:spLocks noChangeShapeType="1"/>
          </p:cNvSpPr>
          <p:nvPr/>
        </p:nvSpPr>
        <p:spPr bwMode="auto">
          <a:xfrm>
            <a:off x="7418389" y="3352801"/>
            <a:ext cx="84137" cy="428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sv-SE"/>
          </a:p>
        </p:txBody>
      </p:sp>
      <p:sp>
        <p:nvSpPr>
          <p:cNvPr id="28683" name="Line 10"/>
          <p:cNvSpPr>
            <a:spLocks noChangeShapeType="1"/>
          </p:cNvSpPr>
          <p:nvPr/>
        </p:nvSpPr>
        <p:spPr bwMode="auto">
          <a:xfrm flipV="1">
            <a:off x="7502526" y="3309939"/>
            <a:ext cx="41275" cy="857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sv-SE"/>
          </a:p>
        </p:txBody>
      </p:sp>
      <p:sp>
        <p:nvSpPr>
          <p:cNvPr id="28684" name="Freeform 11"/>
          <p:cNvSpPr>
            <a:spLocks/>
          </p:cNvSpPr>
          <p:nvPr/>
        </p:nvSpPr>
        <p:spPr bwMode="auto">
          <a:xfrm>
            <a:off x="6834188" y="4284663"/>
            <a:ext cx="125412" cy="296862"/>
          </a:xfrm>
          <a:custGeom>
            <a:avLst/>
            <a:gdLst>
              <a:gd name="T0" fmla="*/ 0 w 136"/>
              <a:gd name="T1" fmla="*/ 0 h 318"/>
              <a:gd name="T2" fmla="*/ 81 w 136"/>
              <a:gd name="T3" fmla="*/ 116 h 318"/>
              <a:gd name="T4" fmla="*/ 116 w 136"/>
              <a:gd name="T5" fmla="*/ 212 h 318"/>
              <a:gd name="T6" fmla="*/ 136 w 136"/>
              <a:gd name="T7" fmla="*/ 318 h 318"/>
              <a:gd name="T8" fmla="*/ 0 60000 65536"/>
              <a:gd name="T9" fmla="*/ 0 60000 65536"/>
              <a:gd name="T10" fmla="*/ 0 60000 65536"/>
              <a:gd name="T11" fmla="*/ 0 60000 65536"/>
              <a:gd name="T12" fmla="*/ 0 w 136"/>
              <a:gd name="T13" fmla="*/ 0 h 318"/>
              <a:gd name="T14" fmla="*/ 136 w 136"/>
              <a:gd name="T15" fmla="*/ 318 h 318"/>
            </a:gdLst>
            <a:ahLst/>
            <a:cxnLst>
              <a:cxn ang="T8">
                <a:pos x="T0" y="T1"/>
              </a:cxn>
              <a:cxn ang="T9">
                <a:pos x="T2" y="T3"/>
              </a:cxn>
              <a:cxn ang="T10">
                <a:pos x="T4" y="T5"/>
              </a:cxn>
              <a:cxn ang="T11">
                <a:pos x="T6" y="T7"/>
              </a:cxn>
            </a:cxnLst>
            <a:rect l="T12" t="T13" r="T14" b="T15"/>
            <a:pathLst>
              <a:path w="136" h="318">
                <a:moveTo>
                  <a:pt x="0" y="0"/>
                </a:moveTo>
                <a:cubicBezTo>
                  <a:pt x="14" y="19"/>
                  <a:pt x="62" y="81"/>
                  <a:pt x="81" y="116"/>
                </a:cubicBezTo>
                <a:cubicBezTo>
                  <a:pt x="100" y="151"/>
                  <a:pt x="107" y="178"/>
                  <a:pt x="116" y="212"/>
                </a:cubicBezTo>
                <a:cubicBezTo>
                  <a:pt x="125" y="246"/>
                  <a:pt x="132" y="296"/>
                  <a:pt x="136" y="318"/>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685" name="Text Box 12"/>
          <p:cNvSpPr txBox="1">
            <a:spLocks noChangeArrowheads="1"/>
          </p:cNvSpPr>
          <p:nvPr/>
        </p:nvSpPr>
        <p:spPr bwMode="auto">
          <a:xfrm>
            <a:off x="6954838" y="4243388"/>
            <a:ext cx="3032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GB" b="1">
                <a:sym typeface="Symbol" pitchFamily="18" charset="2"/>
              </a:rPr>
              <a:t></a:t>
            </a:r>
          </a:p>
        </p:txBody>
      </p:sp>
      <p:sp>
        <p:nvSpPr>
          <p:cNvPr id="28686" name="Text Box 13"/>
          <p:cNvSpPr txBox="1">
            <a:spLocks noChangeArrowheads="1"/>
          </p:cNvSpPr>
          <p:nvPr/>
        </p:nvSpPr>
        <p:spPr bwMode="auto">
          <a:xfrm>
            <a:off x="7893050" y="3068639"/>
            <a:ext cx="23066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GB" sz="2000" b="1">
                <a:sym typeface="Symbol" pitchFamily="18" charset="2"/>
              </a:rPr>
              <a:t>=xcos()+ysin()</a:t>
            </a:r>
          </a:p>
        </p:txBody>
      </p:sp>
      <p:sp>
        <p:nvSpPr>
          <p:cNvPr id="28687" name="Text Box 14"/>
          <p:cNvSpPr txBox="1">
            <a:spLocks noChangeArrowheads="1"/>
          </p:cNvSpPr>
          <p:nvPr/>
        </p:nvSpPr>
        <p:spPr bwMode="auto">
          <a:xfrm>
            <a:off x="7175501" y="3644901"/>
            <a:ext cx="3095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GB" b="1">
                <a:sym typeface="Symbol" pitchFamily="18" charset="2"/>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r>
              <a:rPr lang="en-GB"/>
              <a:t>Hough Transform Algorithm</a:t>
            </a:r>
          </a:p>
        </p:txBody>
      </p:sp>
      <p:sp>
        <p:nvSpPr>
          <p:cNvPr id="29699" name="Rectangle 3"/>
          <p:cNvSpPr>
            <a:spLocks noGrp="1" noChangeArrowheads="1"/>
          </p:cNvSpPr>
          <p:nvPr>
            <p:ph type="body" sz="quarter" idx="10"/>
          </p:nvPr>
        </p:nvSpPr>
        <p:spPr/>
        <p:txBody>
          <a:bodyPr>
            <a:normAutofit/>
          </a:bodyPr>
          <a:lstStyle/>
          <a:p>
            <a:pPr marL="533400" indent="-533400">
              <a:buFontTx/>
              <a:buAutoNum type="arabicPeriod"/>
            </a:pPr>
            <a:r>
              <a:rPr lang="en-GB"/>
              <a:t>Quantize the parameter space appropriately</a:t>
            </a:r>
          </a:p>
          <a:p>
            <a:pPr marL="533400" indent="-533400">
              <a:buFontTx/>
              <a:buAutoNum type="arabicPeriod"/>
            </a:pPr>
            <a:r>
              <a:rPr lang="en-GB"/>
              <a:t>Assume that each cell in the parameter space is an accumulator Initialize all cells to 0</a:t>
            </a:r>
          </a:p>
          <a:p>
            <a:pPr marL="533400" indent="-533400">
              <a:buFontTx/>
              <a:buAutoNum type="arabicPeriod"/>
            </a:pPr>
            <a:r>
              <a:rPr lang="en-GB"/>
              <a:t>For each point (x,y) in the image space, increment by 1 each of the accumulators that satisfy the equation</a:t>
            </a:r>
          </a:p>
          <a:p>
            <a:pPr marL="533400" indent="-533400">
              <a:buFontTx/>
              <a:buAutoNum type="arabicPeriod"/>
            </a:pPr>
            <a:r>
              <a:rPr lang="en-GB"/>
              <a:t>Maxima in the accumulator array correspond to the parameters of model instance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2"/>
          <p:cNvSpPr>
            <a:spLocks noChangeArrowheads="1"/>
          </p:cNvSpPr>
          <p:nvPr/>
        </p:nvSpPr>
        <p:spPr bwMode="auto">
          <a:xfrm>
            <a:off x="2610035" y="2133601"/>
            <a:ext cx="2911290" cy="31670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0723" name="Rectangle 7"/>
          <p:cNvSpPr>
            <a:spLocks noGrp="1" noChangeArrowheads="1"/>
          </p:cNvSpPr>
          <p:nvPr>
            <p:ph type="title"/>
          </p:nvPr>
        </p:nvSpPr>
        <p:spPr/>
        <p:txBody>
          <a:bodyPr/>
          <a:lstStyle/>
          <a:p>
            <a:pPr eaLnBrk="1" hangingPunct="1"/>
            <a:r>
              <a:rPr lang="en-GB"/>
              <a:t>Hough Transform - example</a:t>
            </a:r>
          </a:p>
        </p:txBody>
      </p:sp>
      <p:pic>
        <p:nvPicPr>
          <p:cNvPr id="30724" name="Picture 10" descr="sqr1"/>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2927351" y="2205038"/>
            <a:ext cx="2563813" cy="2952750"/>
          </a:xfrm>
        </p:spPr>
      </p:pic>
      <p:pic>
        <p:nvPicPr>
          <p:cNvPr id="30725" name="Picture 11" descr="sqr1can1"/>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6972300" y="2643188"/>
            <a:ext cx="2438400" cy="2438400"/>
          </a:xfrm>
        </p:spPr>
      </p:pic>
      <p:sp>
        <p:nvSpPr>
          <p:cNvPr id="30726" name="Text Box 13"/>
          <p:cNvSpPr txBox="1">
            <a:spLocks noChangeArrowheads="1"/>
          </p:cNvSpPr>
          <p:nvPr/>
        </p:nvSpPr>
        <p:spPr bwMode="auto">
          <a:xfrm>
            <a:off x="3359150" y="5373688"/>
            <a:ext cx="16573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GB"/>
              <a:t>Original image</a:t>
            </a:r>
          </a:p>
        </p:txBody>
      </p:sp>
      <p:sp>
        <p:nvSpPr>
          <p:cNvPr id="30727" name="Text Box 14"/>
          <p:cNvSpPr txBox="1">
            <a:spLocks noChangeArrowheads="1"/>
          </p:cNvSpPr>
          <p:nvPr/>
        </p:nvSpPr>
        <p:spPr bwMode="auto">
          <a:xfrm>
            <a:off x="6959600" y="5157788"/>
            <a:ext cx="2406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GB"/>
              <a:t>Image after edge filter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4"/>
          <p:cNvSpPr>
            <a:spLocks noGrp="1" noChangeArrowheads="1"/>
          </p:cNvSpPr>
          <p:nvPr>
            <p:ph type="title"/>
          </p:nvPr>
        </p:nvSpPr>
        <p:spPr/>
        <p:txBody>
          <a:bodyPr/>
          <a:lstStyle/>
          <a:p>
            <a:pPr eaLnBrk="1" hangingPunct="1"/>
            <a:r>
              <a:rPr lang="en-GB"/>
              <a:t>Hough Transform - example</a:t>
            </a:r>
          </a:p>
        </p:txBody>
      </p:sp>
      <p:pic>
        <p:nvPicPr>
          <p:cNvPr id="31747" name="Picture 7" descr="sqr1hou1"/>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1981200" y="1843088"/>
            <a:ext cx="4038600" cy="4038600"/>
          </a:xfrm>
        </p:spPr>
      </p:pic>
      <p:pic>
        <p:nvPicPr>
          <p:cNvPr id="31748" name="Picture 8" descr="sqr1hou2"/>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6172200" y="1843088"/>
            <a:ext cx="4038600" cy="4038600"/>
          </a:xfrm>
        </p:spPr>
      </p:pic>
      <p:sp>
        <p:nvSpPr>
          <p:cNvPr id="31749" name="Text Box 9"/>
          <p:cNvSpPr txBox="1">
            <a:spLocks noChangeArrowheads="1"/>
          </p:cNvSpPr>
          <p:nvPr/>
        </p:nvSpPr>
        <p:spPr bwMode="auto">
          <a:xfrm>
            <a:off x="2711450" y="5949951"/>
            <a:ext cx="2533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GB"/>
              <a:t>The accumulator array </a:t>
            </a:r>
          </a:p>
        </p:txBody>
      </p:sp>
      <p:sp>
        <p:nvSpPr>
          <p:cNvPr id="31750" name="Text Box 10"/>
          <p:cNvSpPr txBox="1">
            <a:spLocks noChangeArrowheads="1"/>
          </p:cNvSpPr>
          <p:nvPr/>
        </p:nvSpPr>
        <p:spPr bwMode="auto">
          <a:xfrm>
            <a:off x="6311900" y="5949950"/>
            <a:ext cx="388778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GB"/>
              <a:t>The accumulator array after contrast </a:t>
            </a:r>
            <a:r>
              <a:rPr lang="en-GB">
                <a:solidFill>
                  <a:schemeClr val="tx2"/>
                </a:solidFill>
              </a:rPr>
              <a:t>stretching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4"/>
          <p:cNvSpPr>
            <a:spLocks noGrp="1" noChangeArrowheads="1"/>
          </p:cNvSpPr>
          <p:nvPr>
            <p:ph type="title"/>
          </p:nvPr>
        </p:nvSpPr>
        <p:spPr>
          <a:prstGeom prst="rect">
            <a:avLst/>
          </a:prstGeom>
        </p:spPr>
        <p:txBody>
          <a:bodyPr/>
          <a:lstStyle/>
          <a:p>
            <a:pPr eaLnBrk="1" hangingPunct="1"/>
            <a:r>
              <a:rPr lang="en-GB"/>
              <a:t>Hough Transform - example</a:t>
            </a:r>
          </a:p>
        </p:txBody>
      </p:sp>
      <p:pic>
        <p:nvPicPr>
          <p:cNvPr id="32771" name="Picture 3" descr="sqr1hou3"/>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tretch>
            <a:fillRect/>
          </a:stretch>
        </p:blipFill>
        <p:spPr>
          <a:xfrm>
            <a:off x="4876800" y="2782094"/>
            <a:ext cx="2438400" cy="24384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en-GB"/>
              <a:t>Hough Transform - example</a:t>
            </a:r>
          </a:p>
        </p:txBody>
      </p:sp>
      <p:pic>
        <p:nvPicPr>
          <p:cNvPr id="33795" name="Picture 5" descr="sff1sca1"/>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2095500" y="1957388"/>
            <a:ext cx="3810000" cy="3810000"/>
          </a:xfrm>
        </p:spPr>
      </p:pic>
      <p:pic>
        <p:nvPicPr>
          <p:cNvPr id="33796" name="Picture 6" descr="sff1can1"/>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6286500" y="1957388"/>
            <a:ext cx="3810000" cy="3810000"/>
          </a:xfr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4819" name="Picture 5" descr="62"/>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tretch>
            <a:fillRect/>
          </a:stretch>
        </p:blipFill>
        <p:spPr>
          <a:xfrm>
            <a:off x="692458" y="2180112"/>
            <a:ext cx="5672831" cy="3775298"/>
          </a:xfrm>
        </p:spPr>
      </p:pic>
      <p:pic>
        <p:nvPicPr>
          <p:cNvPr id="34823" name="Picture 342"/>
          <p:cNvPicPr>
            <a:picLocks noGrp="1" noChangeAspect="1" noChangeArrowheads="1"/>
          </p:cNvPicPr>
          <p:nvPr>
            <p:ph sz="half" idx="2"/>
          </p:nvPr>
        </p:nvPicPr>
        <p:blipFill>
          <a:blip r:embed="rId3" cstate="print">
            <a:extLst>
              <a:ext uri="{28A0092B-C50C-407E-A947-70E740481C1C}">
                <a14:useLocalDpi xmlns:a14="http://schemas.microsoft.com/office/drawing/2010/main" val="0"/>
              </a:ext>
            </a:extLst>
          </a:blip>
          <a:stretch>
            <a:fillRect/>
          </a:stretch>
        </p:blipFill>
        <p:spPr>
          <a:xfrm>
            <a:off x="6627293" y="2279084"/>
            <a:ext cx="4787626" cy="1616641"/>
          </a:xfrm>
          <a:noFill/>
        </p:spPr>
      </p:pic>
      <p:sp>
        <p:nvSpPr>
          <p:cNvPr id="34818" name="Rectangle 208"/>
          <p:cNvSpPr>
            <a:spLocks noGrp="1" noChangeArrowheads="1"/>
          </p:cNvSpPr>
          <p:nvPr>
            <p:ph type="title"/>
          </p:nvPr>
        </p:nvSpPr>
        <p:spPr/>
        <p:txBody>
          <a:bodyPr/>
          <a:lstStyle/>
          <a:p>
            <a:pPr eaLnBrk="1" hangingPunct="1"/>
            <a:r>
              <a:rPr lang="en-GB" sz="4000"/>
              <a:t>Hough Transform – basic example</a:t>
            </a:r>
          </a:p>
        </p:txBody>
      </p:sp>
      <p:pic>
        <p:nvPicPr>
          <p:cNvPr id="34820" name="Picture 125" descr="62"/>
          <p:cNvPicPr>
            <a:picLocks noGrp="1" noChangeAspect="1" noChangeArrowheads="1"/>
          </p:cNvPicPr>
          <p:nvPr>
            <p:ph sz="quarter" idx="4294967295"/>
          </p:nvPr>
        </p:nvPicPr>
        <p:blipFill>
          <a:blip r:embed="rId4">
            <a:extLst>
              <a:ext uri="{28A0092B-C50C-407E-A947-70E740481C1C}">
                <a14:useLocalDpi xmlns:a14="http://schemas.microsoft.com/office/drawing/2010/main" val="0"/>
              </a:ext>
            </a:extLst>
          </a:blip>
          <a:srcRect/>
          <a:stretch>
            <a:fillRect/>
          </a:stretch>
        </p:blipFill>
        <p:spPr>
          <a:xfrm>
            <a:off x="0" y="3695700"/>
            <a:ext cx="4440238" cy="2990850"/>
          </a:xfrm>
          <a:noFill/>
        </p:spPr>
      </p:pic>
      <p:pic>
        <p:nvPicPr>
          <p:cNvPr id="34821" name="Picture 207"/>
          <p:cNvPicPr>
            <a:picLocks noGrp="1" noChangeAspect="1" noChangeArrowheads="1"/>
          </p:cNvPicPr>
          <p:nvPr>
            <p:ph sz="quarter" idx="4294967295"/>
          </p:nvPr>
        </p:nvPicPr>
        <p:blipFill>
          <a:blip r:embed="rId5" cstate="print">
            <a:extLst>
              <a:ext uri="{28A0092B-C50C-407E-A947-70E740481C1C}">
                <a14:useLocalDpi xmlns:a14="http://schemas.microsoft.com/office/drawing/2010/main" val="0"/>
              </a:ext>
            </a:extLst>
          </a:blip>
          <a:srcRect/>
          <a:stretch>
            <a:fillRect/>
          </a:stretch>
        </p:blipFill>
        <p:spPr>
          <a:xfrm>
            <a:off x="10637838" y="4005263"/>
            <a:ext cx="1554162" cy="749300"/>
          </a:xfrm>
          <a:noFill/>
        </p:spPr>
      </p:pic>
      <p:sp>
        <p:nvSpPr>
          <p:cNvPr id="34822" name="Text Box 210"/>
          <p:cNvSpPr txBox="1">
            <a:spLocks noChangeArrowheads="1"/>
          </p:cNvSpPr>
          <p:nvPr/>
        </p:nvSpPr>
        <p:spPr bwMode="auto">
          <a:xfrm>
            <a:off x="8110674" y="5791200"/>
            <a:ext cx="182086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GB" sz="2400" dirty="0"/>
              <a:t>Gives </a:t>
            </a:r>
          </a:p>
          <a:p>
            <a:pPr eaLnBrk="1" hangingPunct="1"/>
            <a:r>
              <a:rPr lang="en-GB" sz="2400" i="1" dirty="0"/>
              <a:t>y = </a:t>
            </a:r>
            <a:r>
              <a:rPr lang="en-GB" sz="2400" i="1" dirty="0">
                <a:sym typeface="Symbol" pitchFamily="18" charset="2"/>
              </a:rPr>
              <a:t></a:t>
            </a:r>
            <a:r>
              <a:rPr lang="en-GB" sz="2400" i="1" dirty="0"/>
              <a:t>1x + 4 </a:t>
            </a:r>
          </a:p>
        </p:txBody>
      </p:sp>
      <p:pic>
        <p:nvPicPr>
          <p:cNvPr id="5" name="Picture 4">
            <a:extLst>
              <a:ext uri="{FF2B5EF4-FFF2-40B4-BE49-F238E27FC236}">
                <a16:creationId xmlns:a16="http://schemas.microsoft.com/office/drawing/2014/main" id="{804E6AA7-6357-403C-9460-D00A2E7817FC}"/>
              </a:ext>
            </a:extLst>
          </p:cNvPr>
          <p:cNvPicPr>
            <a:picLocks noChangeAspect="1"/>
          </p:cNvPicPr>
          <p:nvPr/>
        </p:nvPicPr>
        <p:blipFill>
          <a:blip r:embed="rId6"/>
          <a:stretch>
            <a:fillRect/>
          </a:stretch>
        </p:blipFill>
        <p:spPr>
          <a:xfrm>
            <a:off x="7470150" y="4014809"/>
            <a:ext cx="3101909" cy="165730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en-GB"/>
              <a:t>Hough Transform – Circle</a:t>
            </a:r>
          </a:p>
        </p:txBody>
      </p:sp>
      <p:sp>
        <p:nvSpPr>
          <p:cNvPr id="35843" name="Rectangle 4"/>
          <p:cNvSpPr>
            <a:spLocks noGrp="1" noChangeArrowheads="1"/>
          </p:cNvSpPr>
          <p:nvPr>
            <p:ph type="body" sz="quarter" idx="10"/>
          </p:nvPr>
        </p:nvSpPr>
        <p:spPr>
          <a:prstGeom prst="rect">
            <a:avLst/>
          </a:prstGeom>
        </p:spPr>
        <p:txBody>
          <a:bodyPr/>
          <a:lstStyle/>
          <a:p>
            <a:pPr eaLnBrk="1" hangingPunct="1">
              <a:lnSpc>
                <a:spcPct val="80000"/>
              </a:lnSpc>
            </a:pPr>
            <a:r>
              <a:rPr lang="en-GB" sz="2400" dirty="0"/>
              <a:t>(x-a)</a:t>
            </a:r>
            <a:r>
              <a:rPr lang="en-GB" sz="2400" baseline="30000" dirty="0"/>
              <a:t>2</a:t>
            </a:r>
            <a:r>
              <a:rPr lang="en-GB" sz="2400" dirty="0"/>
              <a:t>+(y-b) </a:t>
            </a:r>
            <a:r>
              <a:rPr lang="en-GB" sz="2400" baseline="30000" dirty="0"/>
              <a:t>2</a:t>
            </a:r>
            <a:r>
              <a:rPr lang="en-GB" sz="2400" dirty="0"/>
              <a:t>=r</a:t>
            </a:r>
            <a:r>
              <a:rPr lang="en-GB" sz="2400" baseline="30000" dirty="0"/>
              <a:t>2</a:t>
            </a:r>
          </a:p>
          <a:p>
            <a:pPr eaLnBrk="1" hangingPunct="1">
              <a:lnSpc>
                <a:spcPct val="80000"/>
              </a:lnSpc>
            </a:pPr>
            <a:r>
              <a:rPr lang="en-GB" sz="2400" dirty="0"/>
              <a:t>Parametric equation for a circle in polar coordinates are</a:t>
            </a:r>
          </a:p>
          <a:p>
            <a:pPr lvl="1" eaLnBrk="1" hangingPunct="1">
              <a:lnSpc>
                <a:spcPct val="80000"/>
              </a:lnSpc>
              <a:buFontTx/>
              <a:buNone/>
            </a:pPr>
            <a:r>
              <a:rPr lang="en-GB" sz="2000" dirty="0"/>
              <a:t>x =  a + r cos </a:t>
            </a:r>
            <a:r>
              <a:rPr lang="en-GB" sz="2000" dirty="0">
                <a:sym typeface="Symbol" pitchFamily="18" charset="2"/>
              </a:rPr>
              <a:t></a:t>
            </a:r>
          </a:p>
          <a:p>
            <a:pPr lvl="1" eaLnBrk="1" hangingPunct="1">
              <a:lnSpc>
                <a:spcPct val="80000"/>
              </a:lnSpc>
              <a:buFontTx/>
              <a:buNone/>
            </a:pPr>
            <a:r>
              <a:rPr lang="en-GB" sz="2000" dirty="0"/>
              <a:t>y =  b + r sin </a:t>
            </a:r>
            <a:r>
              <a:rPr lang="en-GB" sz="2000" dirty="0">
                <a:sym typeface="Symbol" pitchFamily="18" charset="2"/>
              </a:rPr>
              <a:t></a:t>
            </a:r>
          </a:p>
          <a:p>
            <a:pPr eaLnBrk="1" hangingPunct="1">
              <a:lnSpc>
                <a:spcPct val="80000"/>
              </a:lnSpc>
            </a:pPr>
            <a:r>
              <a:rPr lang="en-GB" sz="2400" dirty="0">
                <a:sym typeface="Symbol" pitchFamily="18" charset="2"/>
              </a:rPr>
              <a:t>Solve for the parameters of the circle to obtain the equation</a:t>
            </a:r>
          </a:p>
          <a:p>
            <a:pPr lvl="1" eaLnBrk="1" hangingPunct="1">
              <a:lnSpc>
                <a:spcPct val="80000"/>
              </a:lnSpc>
              <a:buFontTx/>
              <a:buNone/>
            </a:pPr>
            <a:r>
              <a:rPr lang="en-GB" sz="2000" dirty="0"/>
              <a:t>a =  x - r cos </a:t>
            </a:r>
            <a:r>
              <a:rPr lang="en-GB" sz="2000" dirty="0">
                <a:sym typeface="Symbol" pitchFamily="18" charset="2"/>
              </a:rPr>
              <a:t></a:t>
            </a:r>
          </a:p>
          <a:p>
            <a:pPr lvl="1" eaLnBrk="1" hangingPunct="1">
              <a:lnSpc>
                <a:spcPct val="80000"/>
              </a:lnSpc>
              <a:buFontTx/>
              <a:buNone/>
            </a:pPr>
            <a:r>
              <a:rPr lang="en-GB" sz="2000" dirty="0"/>
              <a:t>b =  y - r sin </a:t>
            </a:r>
            <a:r>
              <a:rPr lang="en-GB" sz="2000" dirty="0">
                <a:sym typeface="Symbol" pitchFamily="18" charset="2"/>
              </a:rPr>
              <a:t></a:t>
            </a:r>
          </a:p>
          <a:p>
            <a:pPr eaLnBrk="1" hangingPunct="1">
              <a:lnSpc>
                <a:spcPct val="80000"/>
              </a:lnSpc>
            </a:pPr>
            <a:r>
              <a:rPr lang="en-GB" sz="2400" dirty="0">
                <a:sym typeface="Symbol" pitchFamily="18" charset="2"/>
              </a:rPr>
              <a:t>Eliminating the radius</a:t>
            </a:r>
          </a:p>
          <a:p>
            <a:pPr lvl="1" eaLnBrk="1" hangingPunct="1">
              <a:lnSpc>
                <a:spcPct val="80000"/>
              </a:lnSpc>
              <a:buFontTx/>
              <a:buNone/>
            </a:pPr>
            <a:r>
              <a:rPr lang="en-GB" sz="2000" dirty="0">
                <a:sym typeface="Symbol" pitchFamily="18" charset="2"/>
              </a:rPr>
              <a:t>b = a tan  - x tan  +y </a:t>
            </a:r>
          </a:p>
          <a:p>
            <a:pPr eaLnBrk="1" hangingPunct="1">
              <a:lnSpc>
                <a:spcPct val="80000"/>
              </a:lnSpc>
            </a:pPr>
            <a:endParaRPr lang="en-GB" sz="2400" dirty="0">
              <a:sym typeface="Symbol" pitchFamily="18" charset="2"/>
            </a:endParaRPr>
          </a:p>
        </p:txBody>
      </p:sp>
      <p:pic>
        <p:nvPicPr>
          <p:cNvPr id="35845" name="Picture 11" descr="62"/>
          <p:cNvPicPr>
            <a:picLocks noGrp="1" noChangeAspect="1" noChangeArrowheads="1"/>
          </p:cNvPicPr>
          <p:nvPr>
            <p:ph sz="quarter" idx="4294967295"/>
          </p:nvPr>
        </p:nvPicPr>
        <p:blipFill>
          <a:blip r:embed="rId2">
            <a:extLst>
              <a:ext uri="{28A0092B-C50C-407E-A947-70E740481C1C}">
                <a14:useLocalDpi xmlns:a14="http://schemas.microsoft.com/office/drawing/2010/main" val="0"/>
              </a:ext>
            </a:extLst>
          </a:blip>
          <a:srcRect/>
          <a:stretch>
            <a:fillRect/>
          </a:stretch>
        </p:blipFill>
        <p:spPr>
          <a:xfrm>
            <a:off x="9118600" y="1628775"/>
            <a:ext cx="3073400" cy="1863725"/>
          </a:xfrm>
          <a:noFill/>
        </p:spPr>
      </p:pic>
      <p:pic>
        <p:nvPicPr>
          <p:cNvPr id="35844" name="Picture 9" descr="62"/>
          <p:cNvPicPr>
            <a:picLocks noGrp="1" noChangeAspect="1" noChangeArrowheads="1"/>
          </p:cNvPicPr>
          <p:nvPr>
            <p:ph idx="4294967295"/>
          </p:nvPr>
        </p:nvPicPr>
        <p:blipFill>
          <a:blip r:embed="rId3">
            <a:extLst>
              <a:ext uri="{28A0092B-C50C-407E-A947-70E740481C1C}">
                <a14:useLocalDpi xmlns:a14="http://schemas.microsoft.com/office/drawing/2010/main" val="0"/>
              </a:ext>
            </a:extLst>
          </a:blip>
          <a:stretch>
            <a:fillRect/>
          </a:stretch>
        </p:blipFill>
        <p:spPr>
          <a:xfrm>
            <a:off x="5414361" y="3614691"/>
            <a:ext cx="4864963" cy="3243309"/>
          </a:xfrm>
          <a:prstGeom prst="rect">
            <a:avLst/>
          </a:prstGeom>
        </p:spPr>
      </p:pic>
      <p:pic>
        <p:nvPicPr>
          <p:cNvPr id="6" name="Picture 11" descr="62">
            <a:extLst>
              <a:ext uri="{FF2B5EF4-FFF2-40B4-BE49-F238E27FC236}">
                <a16:creationId xmlns:a16="http://schemas.microsoft.com/office/drawing/2014/main" id="{FC8A3DD2-8B1E-462C-97DA-88D8774E0CF1}"/>
              </a:ext>
            </a:extLst>
          </p:cNvPr>
          <p:cNvPicPr>
            <a:picLocks noChangeAspect="1" noChangeArrowheads="1"/>
          </p:cNvPicPr>
          <p:nvPr/>
        </p:nvPicPr>
        <p:blipFill>
          <a:blip r:embed="rId2" cstate="print"/>
          <a:srcRect/>
          <a:stretch>
            <a:fillRect/>
          </a:stretch>
        </p:blipFill>
        <p:spPr>
          <a:xfrm>
            <a:off x="8144436" y="2126456"/>
            <a:ext cx="3671588" cy="2226469"/>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en-GB"/>
              <a:t>Hough Transform Algorithm</a:t>
            </a:r>
          </a:p>
        </p:txBody>
      </p:sp>
      <p:sp>
        <p:nvSpPr>
          <p:cNvPr id="36867" name="Rectangle 3"/>
          <p:cNvSpPr>
            <a:spLocks noGrp="1" noChangeArrowheads="1"/>
          </p:cNvSpPr>
          <p:nvPr>
            <p:ph type="body" sz="quarter" idx="10"/>
          </p:nvPr>
        </p:nvSpPr>
        <p:spPr/>
        <p:txBody>
          <a:bodyPr>
            <a:normAutofit/>
          </a:bodyPr>
          <a:lstStyle/>
          <a:p>
            <a:pPr marL="609600" indent="-609600">
              <a:buFontTx/>
              <a:buAutoNum type="arabicPeriod"/>
            </a:pPr>
            <a:r>
              <a:rPr lang="en-GB"/>
              <a:t>Quantize the parameter space for the parameters a and b</a:t>
            </a:r>
          </a:p>
          <a:p>
            <a:pPr marL="609600" indent="-609600">
              <a:buFontTx/>
              <a:buAutoNum type="arabicPeriod"/>
            </a:pPr>
            <a:r>
              <a:rPr lang="en-GB"/>
              <a:t>Zero the accumulator array M(a,b)</a:t>
            </a:r>
          </a:p>
          <a:p>
            <a:pPr marL="609600" indent="-609600">
              <a:buFontTx/>
              <a:buAutoNum type="arabicPeriod"/>
            </a:pPr>
            <a:r>
              <a:rPr lang="en-GB"/>
              <a:t>Compute the gradient magnitude G(x,y) and angle </a:t>
            </a:r>
            <a:r>
              <a:rPr lang="en-GB">
                <a:sym typeface="Symbol" pitchFamily="18" charset="2"/>
              </a:rPr>
              <a:t>(x,y)</a:t>
            </a:r>
            <a:r>
              <a:rPr lang="en-GB"/>
              <a:t> </a:t>
            </a:r>
          </a:p>
          <a:p>
            <a:pPr marL="609600" indent="-609600">
              <a:buFontTx/>
              <a:buAutoNum type="arabicPeriod"/>
            </a:pPr>
            <a:r>
              <a:rPr lang="en-GB"/>
              <a:t>For each edge point in G(x,y), increment all points in the accumulator array M(x,y) along the line </a:t>
            </a:r>
            <a:r>
              <a:rPr lang="en-GB">
                <a:sym typeface="Symbol" pitchFamily="18" charset="2"/>
              </a:rPr>
              <a:t>b = a tan  - x tan  +y </a:t>
            </a:r>
          </a:p>
          <a:p>
            <a:pPr marL="609600" indent="-609600">
              <a:buFontTx/>
              <a:buAutoNum type="arabicPeriod"/>
            </a:pPr>
            <a:r>
              <a:rPr lang="en-GB"/>
              <a:t>Local maxima in the accumulator array correspond to centres of circles in the image. </a:t>
            </a:r>
          </a:p>
          <a:p>
            <a:pPr marL="609600" indent="-609600"/>
            <a:endParaRPr lang="en-GB"/>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GB"/>
              <a:t>Template matching </a:t>
            </a:r>
          </a:p>
        </p:txBody>
      </p:sp>
      <p:sp>
        <p:nvSpPr>
          <p:cNvPr id="16387" name="Rectangle 3"/>
          <p:cNvSpPr>
            <a:spLocks noGrp="1" noChangeArrowheads="1"/>
          </p:cNvSpPr>
          <p:nvPr>
            <p:ph type="body" sz="quarter" idx="10"/>
          </p:nvPr>
        </p:nvSpPr>
        <p:spPr/>
        <p:txBody>
          <a:bodyPr>
            <a:normAutofit/>
          </a:bodyPr>
          <a:lstStyle/>
          <a:p>
            <a:pPr eaLnBrk="1" hangingPunct="1"/>
            <a:r>
              <a:rPr lang="en-GB"/>
              <a:t>Previous methods tries to determine whether candidates of </a:t>
            </a:r>
            <a:r>
              <a:rPr lang="en-GB" i="1"/>
              <a:t>any kind </a:t>
            </a:r>
            <a:r>
              <a:rPr lang="en-GB"/>
              <a:t>are present</a:t>
            </a:r>
          </a:p>
          <a:p>
            <a:pPr eaLnBrk="1" hangingPunct="1"/>
            <a:r>
              <a:rPr lang="en-GB"/>
              <a:t>Is it possible to search for a specific object in the first place?</a:t>
            </a:r>
          </a:p>
          <a:p>
            <a:pPr eaLnBrk="1" hangingPunct="1"/>
            <a:r>
              <a:rPr lang="en-GB"/>
              <a:t>This can be solved using a temple, which is image of an object  to be detected across the current image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1" name="Picture 5" descr="indipimg76"/>
          <p:cNvPicPr>
            <a:picLocks noGrp="1" noChangeAspect="1" noChangeArrowheads="1"/>
          </p:cNvPicPr>
          <p:nvPr>
            <p:ph sz="half" idx="1"/>
          </p:nvPr>
        </p:nvPicPr>
        <p:blipFill>
          <a:blip r:embed="rId2" cstate="print"/>
          <a:stretch>
            <a:fillRect/>
          </a:stretch>
        </p:blipFill>
        <p:spPr>
          <a:xfrm>
            <a:off x="1862137" y="2777331"/>
            <a:ext cx="3133725" cy="2447925"/>
          </a:xfrm>
          <a:noFill/>
        </p:spPr>
      </p:pic>
      <p:sp>
        <p:nvSpPr>
          <p:cNvPr id="2" name="Content Placeholder 1">
            <a:extLst>
              <a:ext uri="{FF2B5EF4-FFF2-40B4-BE49-F238E27FC236}">
                <a16:creationId xmlns:a16="http://schemas.microsoft.com/office/drawing/2014/main" id="{682F16E6-B2D8-44D4-92DE-4CE32EADC35C}"/>
              </a:ext>
            </a:extLst>
          </p:cNvPr>
          <p:cNvSpPr>
            <a:spLocks noGrp="1"/>
          </p:cNvSpPr>
          <p:nvPr>
            <p:ph sz="half" idx="2"/>
          </p:nvPr>
        </p:nvSpPr>
        <p:spPr/>
        <p:txBody>
          <a:bodyPr/>
          <a:lstStyle/>
          <a:p>
            <a:endParaRPr lang="en-GB" dirty="0"/>
          </a:p>
        </p:txBody>
      </p:sp>
      <p:sp>
        <p:nvSpPr>
          <p:cNvPr id="17410" name="Rectangle 4"/>
          <p:cNvSpPr>
            <a:spLocks noGrp="1" noChangeArrowheads="1"/>
          </p:cNvSpPr>
          <p:nvPr>
            <p:ph type="title"/>
          </p:nvPr>
        </p:nvSpPr>
        <p:spPr>
          <a:prstGeom prst="rect">
            <a:avLst/>
          </a:prstGeom>
        </p:spPr>
        <p:txBody>
          <a:bodyPr/>
          <a:lstStyle/>
          <a:p>
            <a:pPr eaLnBrk="1" hangingPunct="1"/>
            <a:r>
              <a:rPr lang="en-GB" dirty="0"/>
              <a:t>Template matching</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4B2FA-0A19-45EB-B321-9324293CA3C4}"/>
              </a:ext>
            </a:extLst>
          </p:cNvPr>
          <p:cNvSpPr>
            <a:spLocks noGrp="1"/>
          </p:cNvSpPr>
          <p:nvPr>
            <p:ph type="title"/>
          </p:nvPr>
        </p:nvSpPr>
        <p:spPr/>
        <p:txBody>
          <a:bodyPr/>
          <a:lstStyle/>
          <a:p>
            <a:r>
              <a:rPr lang="en-GB" dirty="0"/>
              <a:t>Template matching </a:t>
            </a:r>
          </a:p>
        </p:txBody>
      </p:sp>
      <p:pic>
        <p:nvPicPr>
          <p:cNvPr id="2049" name="Picture 1" descr="https://docs.adaptive-vision.com/4.7/studio/img/machine_vision_guide/template_matching/mount.png">
            <a:extLst>
              <a:ext uri="{FF2B5EF4-FFF2-40B4-BE49-F238E27FC236}">
                <a16:creationId xmlns:a16="http://schemas.microsoft.com/office/drawing/2014/main" id="{61140CB7-662C-43AC-814A-DDD63DCB7A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62940" y="2631893"/>
            <a:ext cx="571500" cy="571500"/>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https://docs.adaptive-vision.com/4.7/studio/img/machine_vision_guide/template_matching/mounts.png">
            <a:extLst>
              <a:ext uri="{FF2B5EF4-FFF2-40B4-BE49-F238E27FC236}">
                <a16:creationId xmlns:a16="http://schemas.microsoft.com/office/drawing/2014/main" id="{BD1F9095-A3D7-46CB-AED9-7E317E5C5A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09022" y="1846080"/>
            <a:ext cx="4286250" cy="2143125"/>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 descr="https://docs.adaptive-vision.com/4.7/studio/img/machine_vision_guide/template_matching/mounts_results.png">
            <a:extLst>
              <a:ext uri="{FF2B5EF4-FFF2-40B4-BE49-F238E27FC236}">
                <a16:creationId xmlns:a16="http://schemas.microsoft.com/office/drawing/2014/main" id="{48E04EF5-7AA1-4DEB-BF71-C118FD5C947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09022" y="4284481"/>
            <a:ext cx="4286250" cy="214312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2B5182A-BC17-4633-AAF8-525B63C26DC0}"/>
              </a:ext>
            </a:extLst>
          </p:cNvPr>
          <p:cNvSpPr txBox="1"/>
          <p:nvPr/>
        </p:nvSpPr>
        <p:spPr>
          <a:xfrm>
            <a:off x="723900" y="2732976"/>
            <a:ext cx="1049198" cy="369332"/>
          </a:xfrm>
          <a:prstGeom prst="rect">
            <a:avLst/>
          </a:prstGeom>
          <a:noFill/>
        </p:spPr>
        <p:txBody>
          <a:bodyPr wrap="none" rtlCol="0">
            <a:spAutoFit/>
          </a:bodyPr>
          <a:lstStyle/>
          <a:p>
            <a:r>
              <a:rPr lang="en-GB" dirty="0"/>
              <a:t>Template</a:t>
            </a:r>
          </a:p>
        </p:txBody>
      </p:sp>
      <p:sp>
        <p:nvSpPr>
          <p:cNvPr id="8" name="TextBox 7">
            <a:extLst>
              <a:ext uri="{FF2B5EF4-FFF2-40B4-BE49-F238E27FC236}">
                <a16:creationId xmlns:a16="http://schemas.microsoft.com/office/drawing/2014/main" id="{910331DA-5983-4F1A-8FF4-34C716F6B5B8}"/>
              </a:ext>
            </a:extLst>
          </p:cNvPr>
          <p:cNvSpPr txBox="1"/>
          <p:nvPr/>
        </p:nvSpPr>
        <p:spPr>
          <a:xfrm>
            <a:off x="8591550" y="2732976"/>
            <a:ext cx="1308050" cy="369332"/>
          </a:xfrm>
          <a:prstGeom prst="rect">
            <a:avLst/>
          </a:prstGeom>
          <a:noFill/>
        </p:spPr>
        <p:txBody>
          <a:bodyPr wrap="none" rtlCol="0">
            <a:spAutoFit/>
          </a:bodyPr>
          <a:lstStyle/>
          <a:p>
            <a:r>
              <a:rPr lang="en-GB" dirty="0"/>
              <a:t>Input image</a:t>
            </a:r>
          </a:p>
        </p:txBody>
      </p:sp>
      <p:sp>
        <p:nvSpPr>
          <p:cNvPr id="9" name="TextBox 8">
            <a:extLst>
              <a:ext uri="{FF2B5EF4-FFF2-40B4-BE49-F238E27FC236}">
                <a16:creationId xmlns:a16="http://schemas.microsoft.com/office/drawing/2014/main" id="{6E019A39-ABAB-4DAE-B9E8-08DF7ED805F8}"/>
              </a:ext>
            </a:extLst>
          </p:cNvPr>
          <p:cNvSpPr txBox="1"/>
          <p:nvPr/>
        </p:nvSpPr>
        <p:spPr>
          <a:xfrm>
            <a:off x="8591550" y="5171377"/>
            <a:ext cx="1479572" cy="369332"/>
          </a:xfrm>
          <a:prstGeom prst="rect">
            <a:avLst/>
          </a:prstGeom>
          <a:noFill/>
        </p:spPr>
        <p:txBody>
          <a:bodyPr wrap="none" rtlCol="0">
            <a:spAutoFit/>
          </a:bodyPr>
          <a:lstStyle/>
          <a:p>
            <a:r>
              <a:rPr lang="en-GB" dirty="0"/>
              <a:t>Output image</a:t>
            </a:r>
          </a:p>
        </p:txBody>
      </p:sp>
      <p:sp>
        <p:nvSpPr>
          <p:cNvPr id="5" name="TextBox 4">
            <a:extLst>
              <a:ext uri="{FF2B5EF4-FFF2-40B4-BE49-F238E27FC236}">
                <a16:creationId xmlns:a16="http://schemas.microsoft.com/office/drawing/2014/main" id="{44EF484E-2F62-4BEF-801D-A0ACCC23C908}"/>
              </a:ext>
            </a:extLst>
          </p:cNvPr>
          <p:cNvSpPr txBox="1"/>
          <p:nvPr/>
        </p:nvSpPr>
        <p:spPr>
          <a:xfrm>
            <a:off x="3411653" y="6580006"/>
            <a:ext cx="5480988" cy="261610"/>
          </a:xfrm>
          <a:prstGeom prst="rect">
            <a:avLst/>
          </a:prstGeom>
          <a:noFill/>
        </p:spPr>
        <p:txBody>
          <a:bodyPr wrap="none" rtlCol="0">
            <a:spAutoFit/>
          </a:bodyPr>
          <a:lstStyle/>
          <a:p>
            <a:r>
              <a:rPr lang="en-GB" sz="1100" dirty="0"/>
              <a:t>https://docs.adaptive-vision.com/4.7/studio/machine_vision_guide/TemplateMatching.html</a:t>
            </a:r>
          </a:p>
        </p:txBody>
      </p:sp>
    </p:spTree>
    <p:extLst>
      <p:ext uri="{BB962C8B-B14F-4D97-AF65-F5344CB8AC3E}">
        <p14:creationId xmlns:p14="http://schemas.microsoft.com/office/powerpoint/2010/main" val="26688419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a:spLocks noGrp="1" noChangeArrowheads="1"/>
          </p:cNvSpPr>
          <p:nvPr>
            <p:ph type="title"/>
          </p:nvPr>
        </p:nvSpPr>
        <p:spPr>
          <a:prstGeom prst="rect">
            <a:avLst/>
          </a:prstGeom>
        </p:spPr>
        <p:txBody>
          <a:bodyPr/>
          <a:lstStyle/>
          <a:p>
            <a:pPr eaLnBrk="1" hangingPunct="1"/>
            <a:r>
              <a:rPr lang="en-GB"/>
              <a:t>Temple - examples</a:t>
            </a:r>
          </a:p>
        </p:txBody>
      </p:sp>
      <p:sp>
        <p:nvSpPr>
          <p:cNvPr id="2" name="Text Placeholder 1">
            <a:extLst>
              <a:ext uri="{FF2B5EF4-FFF2-40B4-BE49-F238E27FC236}">
                <a16:creationId xmlns:a16="http://schemas.microsoft.com/office/drawing/2014/main" id="{BB788C88-E1C3-470B-9973-8D7AF206CAE5}"/>
              </a:ext>
            </a:extLst>
          </p:cNvPr>
          <p:cNvSpPr>
            <a:spLocks noGrp="1"/>
          </p:cNvSpPr>
          <p:nvPr>
            <p:ph type="body" sz="quarter" idx="10"/>
          </p:nvPr>
        </p:nvSpPr>
        <p:spPr/>
        <p:txBody>
          <a:bodyPr/>
          <a:lstStyle/>
          <a:p>
            <a:endParaRPr lang="en-GB" dirty="0"/>
          </a:p>
        </p:txBody>
      </p:sp>
      <p:pic>
        <p:nvPicPr>
          <p:cNvPr id="18437" name="Picture 10"/>
          <p:cNvPicPr>
            <a:picLocks noGrp="1" noChangeAspect="1" noChangeArrowheads="1"/>
          </p:cNvPicPr>
          <p:nvPr>
            <p:ph sz="quarter" idx="4294967295"/>
          </p:nvPr>
        </p:nvPicPr>
        <p:blipFill>
          <a:blip r:embed="rId2" cstate="print"/>
          <a:srcRect/>
          <a:stretch>
            <a:fillRect/>
          </a:stretch>
        </p:blipFill>
        <p:spPr>
          <a:xfrm>
            <a:off x="7381875" y="4292600"/>
            <a:ext cx="4810125" cy="2087563"/>
          </a:xfrm>
          <a:noFill/>
        </p:spPr>
      </p:pic>
      <p:pic>
        <p:nvPicPr>
          <p:cNvPr id="1026" name="Picture 2" descr="Bildresultat fÃ¶r template matching machine vision">
            <a:extLst>
              <a:ext uri="{FF2B5EF4-FFF2-40B4-BE49-F238E27FC236}">
                <a16:creationId xmlns:a16="http://schemas.microsoft.com/office/drawing/2014/main" id="{946019AA-11A0-4B75-9FEA-4400DDC6E8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6636" y="2321774"/>
            <a:ext cx="5715000" cy="428625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6D44C056-598B-4A63-AD44-6B1B8FEA166B}"/>
              </a:ext>
            </a:extLst>
          </p:cNvPr>
          <p:cNvSpPr txBox="1"/>
          <p:nvPr/>
        </p:nvSpPr>
        <p:spPr>
          <a:xfrm>
            <a:off x="0" y="6396556"/>
            <a:ext cx="2191306" cy="369332"/>
          </a:xfrm>
          <a:prstGeom prst="rect">
            <a:avLst/>
          </a:prstGeom>
          <a:noFill/>
        </p:spPr>
        <p:txBody>
          <a:bodyPr wrap="none" rtlCol="0">
            <a:spAutoFit/>
          </a:bodyPr>
          <a:lstStyle/>
          <a:p>
            <a:r>
              <a:rPr lang="en-GB" dirty="0"/>
              <a:t>Wikimedia - common</a:t>
            </a:r>
          </a:p>
        </p:txBody>
      </p:sp>
      <p:pic>
        <p:nvPicPr>
          <p:cNvPr id="1028" name="Picture 4" descr="Bildresultat fÃ¶r template matching machine vision">
            <a:extLst>
              <a:ext uri="{FF2B5EF4-FFF2-40B4-BE49-F238E27FC236}">
                <a16:creationId xmlns:a16="http://schemas.microsoft.com/office/drawing/2014/main" id="{A51240C1-8D9E-405B-A64D-FFFA94441E3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9550" y="3429000"/>
            <a:ext cx="5715000" cy="2362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9-cars-street-above-vehicle-detection" descr="A white truck on a road&#10;&#10;Description automatically generated">
            <a:hlinkClick r:id="" action="ppaction://media"/>
            <a:extLst>
              <a:ext uri="{FF2B5EF4-FFF2-40B4-BE49-F238E27FC236}">
                <a16:creationId xmlns:a16="http://schemas.microsoft.com/office/drawing/2014/main" id="{EAE7D08C-6612-43DA-E4E4-0E106B51CCA1}"/>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4"/>
          <a:srcRect/>
          <a:stretch/>
        </p:blipFill>
        <p:spPr>
          <a:xfrm>
            <a:off x="20" y="10"/>
            <a:ext cx="12191980" cy="6857990"/>
          </a:xfrm>
          <a:prstGeom prst="rect">
            <a:avLst/>
          </a:prstGeom>
          <a:noFill/>
        </p:spPr>
      </p:pic>
    </p:spTree>
    <p:extLst>
      <p:ext uri="{BB962C8B-B14F-4D97-AF65-F5344CB8AC3E}">
        <p14:creationId xmlns:p14="http://schemas.microsoft.com/office/powerpoint/2010/main" val="4145107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972"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8-surfer-pose-estimation" descr="A person on a surfboard in the water&#10;&#10;Description automatically generated">
            <a:hlinkClick r:id="" action="ppaction://media"/>
            <a:extLst>
              <a:ext uri="{FF2B5EF4-FFF2-40B4-BE49-F238E27FC236}">
                <a16:creationId xmlns:a16="http://schemas.microsoft.com/office/drawing/2014/main" id="{0DCAAC19-1327-AB87-3D50-DCB44456D5B5}"/>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4"/>
          <a:srcRect/>
          <a:stretch/>
        </p:blipFill>
        <p:spPr>
          <a:xfrm>
            <a:off x="20" y="10"/>
            <a:ext cx="12191980" cy="6857990"/>
          </a:xfrm>
          <a:prstGeom prst="rect">
            <a:avLst/>
          </a:prstGeom>
          <a:noFill/>
        </p:spPr>
      </p:pic>
    </p:spTree>
    <p:extLst>
      <p:ext uri="{BB962C8B-B14F-4D97-AF65-F5344CB8AC3E}">
        <p14:creationId xmlns:p14="http://schemas.microsoft.com/office/powerpoint/2010/main" val="1061727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44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Camera calibration</a:t>
            </a:r>
          </a:p>
        </p:txBody>
      </p:sp>
      <p:sp>
        <p:nvSpPr>
          <p:cNvPr id="3" name="Content Placeholder 2"/>
          <p:cNvSpPr>
            <a:spLocks noGrp="1"/>
          </p:cNvSpPr>
          <p:nvPr>
            <p:ph type="body" sz="quarter" idx="10"/>
          </p:nvPr>
        </p:nvSpPr>
        <p:spPr/>
        <p:txBody>
          <a:bodyPr>
            <a:normAutofit/>
          </a:bodyPr>
          <a:lstStyle/>
          <a:p>
            <a:r>
              <a:rPr lang="en-GB" dirty="0"/>
              <a:t>Essential to obtain accurate measurements of objects</a:t>
            </a:r>
          </a:p>
          <a:p>
            <a:r>
              <a:rPr lang="en-GB" dirty="0"/>
              <a:t>To calibrate a camera, model mapping the 3D points to a 2D image generated from camera, lines, frame grabber (if used) is needed</a:t>
            </a:r>
          </a:p>
          <a:p>
            <a:r>
              <a:rPr lang="en-GB" dirty="0"/>
              <a:t>Commonly used in stereo vision</a:t>
            </a:r>
          </a:p>
          <a:p>
            <a:r>
              <a:rPr lang="en-GB" dirty="0"/>
              <a:t>2 type of optics</a:t>
            </a:r>
          </a:p>
          <a:p>
            <a:pPr lvl="1"/>
            <a:r>
              <a:rPr lang="en-GB" dirty="0"/>
              <a:t>Regular Lenses</a:t>
            </a:r>
          </a:p>
          <a:p>
            <a:pPr lvl="1"/>
            <a:r>
              <a:rPr lang="en-GB" dirty="0" err="1"/>
              <a:t>Telecentric</a:t>
            </a:r>
            <a:r>
              <a:rPr lang="en-GB" dirty="0"/>
              <a:t> lenses</a:t>
            </a:r>
          </a:p>
        </p:txBody>
      </p:sp>
    </p:spTree>
    <p:extLst>
      <p:ext uri="{BB962C8B-B14F-4D97-AF65-F5344CB8AC3E}">
        <p14:creationId xmlns:p14="http://schemas.microsoft.com/office/powerpoint/2010/main" val="12235900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Optical filters</a:t>
            </a:r>
          </a:p>
        </p:txBody>
      </p:sp>
      <p:pic>
        <p:nvPicPr>
          <p:cNvPr id="4" name="Content Placeholder 3"/>
          <p:cNvPicPr>
            <a:picLocks noGrp="1" noChangeAspect="1"/>
          </p:cNvPicPr>
          <p:nvPr>
            <p:ph idx="4294967295"/>
          </p:nvPr>
        </p:nvPicPr>
        <p:blipFill>
          <a:blip r:embed="rId2" cstate="print">
            <a:extLst>
              <a:ext uri="{28A0092B-C50C-407E-A947-70E740481C1C}">
                <a14:useLocalDpi xmlns:a14="http://schemas.microsoft.com/office/drawing/2010/main" val="0"/>
              </a:ext>
            </a:extLst>
          </a:blip>
          <a:stretch>
            <a:fillRect/>
          </a:stretch>
        </p:blipFill>
        <p:spPr>
          <a:xfrm>
            <a:off x="5118338" y="4836561"/>
            <a:ext cx="2658168" cy="1763592"/>
          </a:xfrm>
        </p:spPr>
      </p:pic>
      <p:sp>
        <p:nvSpPr>
          <p:cNvPr id="5" name="Text Placeholder 4"/>
          <p:cNvSpPr>
            <a:spLocks noGrp="1"/>
          </p:cNvSpPr>
          <p:nvPr>
            <p:ph type="body" sz="half" idx="4294967295"/>
          </p:nvPr>
        </p:nvSpPr>
        <p:spPr>
          <a:xfrm>
            <a:off x="1247775" y="1628775"/>
            <a:ext cx="5384800" cy="4525963"/>
          </a:xfrm>
        </p:spPr>
        <p:txBody>
          <a:bodyPr/>
          <a:lstStyle/>
          <a:p>
            <a:r>
              <a:rPr lang="en-US" sz="2400" dirty="0"/>
              <a:t>Combined with light source generating specified wavelength</a:t>
            </a:r>
          </a:p>
          <a:p>
            <a:r>
              <a:rPr lang="en-US" sz="2400" dirty="0"/>
              <a:t>Filters mounts on the camera and are filtering the light to the sensor </a:t>
            </a:r>
          </a:p>
          <a:p>
            <a:endParaRPr lang="en-US" sz="2400" dirty="0"/>
          </a:p>
          <a:p>
            <a:endParaRPr lang="en-US" sz="2400" dirty="0"/>
          </a:p>
          <a:p>
            <a:r>
              <a:rPr lang="en-US" sz="2400" dirty="0"/>
              <a:t>Interference filter letting through specific wavelength </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64463" y="3169146"/>
            <a:ext cx="3095270" cy="2304256"/>
          </a:xfrm>
          <a:prstGeom prst="rect">
            <a:avLst/>
          </a:prstGeom>
        </p:spPr>
      </p:pic>
    </p:spTree>
    <p:extLst>
      <p:ext uri="{BB962C8B-B14F-4D97-AF65-F5344CB8AC3E}">
        <p14:creationId xmlns:p14="http://schemas.microsoft.com/office/powerpoint/2010/main" val="21182239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4158071"/>
            <a:ext cx="3885708" cy="2199457"/>
          </a:xfrm>
          <a:prstGeom prst="rect">
            <a:avLst/>
          </a:prstGeom>
        </p:spPr>
      </p:pic>
      <p:pic>
        <p:nvPicPr>
          <p:cNvPr id="5" name="Content Placeholder 4"/>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637929" y="1412286"/>
            <a:ext cx="4286250" cy="2857500"/>
          </a:xfrm>
        </p:spPr>
      </p:pic>
      <p:sp>
        <p:nvSpPr>
          <p:cNvPr id="3" name="Text Placeholder 2"/>
          <p:cNvSpPr>
            <a:spLocks noGrp="1"/>
          </p:cNvSpPr>
          <p:nvPr>
            <p:ph sz="half" idx="2"/>
          </p:nvPr>
        </p:nvSpPr>
        <p:spPr/>
        <p:txBody>
          <a:bodyPr/>
          <a:lstStyle/>
          <a:p>
            <a:r>
              <a:rPr lang="en-US" sz="2400" dirty="0"/>
              <a:t>Long pass filters are blocking short range and letting through long range wave lengths</a:t>
            </a:r>
          </a:p>
          <a:p>
            <a:r>
              <a:rPr lang="en-US" sz="2400" dirty="0"/>
              <a:t>Short pass filter opposite </a:t>
            </a:r>
          </a:p>
          <a:p>
            <a:r>
              <a:rPr lang="en-US" sz="2400" dirty="0"/>
              <a:t>Can be combined</a:t>
            </a:r>
          </a:p>
        </p:txBody>
      </p:sp>
      <p:sp>
        <p:nvSpPr>
          <p:cNvPr id="2" name="Title 1"/>
          <p:cNvSpPr>
            <a:spLocks noGrp="1"/>
          </p:cNvSpPr>
          <p:nvPr>
            <p:ph type="title"/>
          </p:nvPr>
        </p:nvSpPr>
        <p:spPr/>
        <p:txBody>
          <a:bodyPr/>
          <a:lstStyle/>
          <a:p>
            <a:r>
              <a:rPr lang="en-US" dirty="0"/>
              <a:t>Band pass filters</a:t>
            </a:r>
          </a:p>
        </p:txBody>
      </p:sp>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97332" y="5190892"/>
            <a:ext cx="4763165" cy="1667108"/>
          </a:xfrm>
          <a:prstGeom prst="rect">
            <a:avLst/>
          </a:prstGeom>
        </p:spPr>
      </p:pic>
    </p:spTree>
    <p:extLst>
      <p:ext uri="{BB962C8B-B14F-4D97-AF65-F5344CB8AC3E}">
        <p14:creationId xmlns:p14="http://schemas.microsoft.com/office/powerpoint/2010/main" val="11837291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1026"/>
          <p:cNvSpPr>
            <a:spLocks noGrp="1" noChangeArrowheads="1"/>
          </p:cNvSpPr>
          <p:nvPr>
            <p:ph type="title"/>
          </p:nvPr>
        </p:nvSpPr>
        <p:spPr/>
        <p:txBody>
          <a:bodyPr/>
          <a:lstStyle/>
          <a:p>
            <a:r>
              <a:rPr lang="en-US" altLang="sv-SE"/>
              <a:t>Illumination Techniques</a:t>
            </a:r>
          </a:p>
        </p:txBody>
      </p:sp>
      <p:sp>
        <p:nvSpPr>
          <p:cNvPr id="49155" name="Rectangle 1027"/>
          <p:cNvSpPr>
            <a:spLocks noGrp="1" noChangeArrowheads="1"/>
          </p:cNvSpPr>
          <p:nvPr>
            <p:ph idx="4294967295"/>
          </p:nvPr>
        </p:nvSpPr>
        <p:spPr>
          <a:xfrm>
            <a:off x="838200" y="2073275"/>
            <a:ext cx="10515600" cy="4351338"/>
          </a:xfrm>
        </p:spPr>
        <p:txBody>
          <a:bodyPr>
            <a:normAutofit/>
          </a:bodyPr>
          <a:lstStyle/>
          <a:p>
            <a:pPr>
              <a:buFont typeface="Wingdings" pitchFamily="2" charset="2"/>
              <a:buNone/>
            </a:pPr>
            <a:endParaRPr lang="en-US" altLang="sv-SE" dirty="0"/>
          </a:p>
          <a:p>
            <a:pPr>
              <a:buFont typeface="Wingdings" pitchFamily="2" charset="2"/>
              <a:buNone/>
            </a:pPr>
            <a:endParaRPr lang="en-US" altLang="sv-SE" dirty="0"/>
          </a:p>
          <a:p>
            <a:pPr>
              <a:buFont typeface="Wingdings" pitchFamily="2" charset="2"/>
              <a:buNone/>
            </a:pPr>
            <a:endParaRPr lang="en-US" altLang="sv-SE" dirty="0"/>
          </a:p>
          <a:p>
            <a:pPr>
              <a:buFont typeface="Wingdings" pitchFamily="2" charset="2"/>
              <a:buNone/>
            </a:pPr>
            <a:endParaRPr lang="en-US" altLang="sv-SE" dirty="0"/>
          </a:p>
          <a:p>
            <a:pPr>
              <a:buFont typeface="Wingdings" pitchFamily="2" charset="2"/>
              <a:buNone/>
            </a:pPr>
            <a:endParaRPr lang="en-US" altLang="sv-SE" dirty="0"/>
          </a:p>
          <a:p>
            <a:pPr>
              <a:buFont typeface="Wingdings" pitchFamily="2" charset="2"/>
              <a:buNone/>
            </a:pPr>
            <a:endParaRPr lang="en-US" altLang="sv-SE" dirty="0"/>
          </a:p>
          <a:p>
            <a:pPr>
              <a:buFont typeface="Wingdings" pitchFamily="2" charset="2"/>
              <a:buNone/>
            </a:pPr>
            <a:r>
              <a:rPr lang="en-US" altLang="sv-SE" sz="2000" dirty="0"/>
              <a:t>		</a:t>
            </a:r>
            <a:r>
              <a:rPr lang="en-US" altLang="sv-SE" sz="1400" dirty="0"/>
              <a:t>(a) 		          (b)			  (c)</a:t>
            </a:r>
          </a:p>
          <a:p>
            <a:pPr algn="ctr">
              <a:buFont typeface="Wingdings" pitchFamily="2" charset="2"/>
              <a:buNone/>
            </a:pPr>
            <a:r>
              <a:rPr lang="en-US" altLang="sv-SE" sz="2000" dirty="0"/>
              <a:t>(a) Front lighting, (b) back lighting, (c) side lighting</a:t>
            </a:r>
          </a:p>
        </p:txBody>
      </p:sp>
      <p:pic>
        <p:nvPicPr>
          <p:cNvPr id="49156" name="Picture 1028" descr="C:\My Documents\Books\APSCIM-3e\Figures - Completed\22\22.11aC.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1924050"/>
            <a:ext cx="2490788" cy="3124200"/>
          </a:xfrm>
          <a:prstGeom prst="rect">
            <a:avLst/>
          </a:prstGeom>
          <a:noFill/>
          <a:extLst>
            <a:ext uri="{909E8E84-426E-40DD-AFC4-6F175D3DCCD1}">
              <a14:hiddenFill xmlns:a14="http://schemas.microsoft.com/office/drawing/2010/main">
                <a:solidFill>
                  <a:srgbClr val="FFFFFF"/>
                </a:solidFill>
              </a14:hiddenFill>
            </a:ext>
          </a:extLst>
        </p:spPr>
      </p:pic>
      <p:pic>
        <p:nvPicPr>
          <p:cNvPr id="49157" name="Picture 1029" descr="C:\My Documents\Books\APSCIM-3e\Figures - Completed\22\22.11bC.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8026" y="1924050"/>
            <a:ext cx="2595563" cy="3048000"/>
          </a:xfrm>
          <a:prstGeom prst="rect">
            <a:avLst/>
          </a:prstGeom>
          <a:noFill/>
          <a:extLst>
            <a:ext uri="{909E8E84-426E-40DD-AFC4-6F175D3DCCD1}">
              <a14:hiddenFill xmlns:a14="http://schemas.microsoft.com/office/drawing/2010/main">
                <a:solidFill>
                  <a:srgbClr val="FFFFFF"/>
                </a:solidFill>
              </a14:hiddenFill>
            </a:ext>
          </a:extLst>
        </p:spPr>
      </p:pic>
      <p:pic>
        <p:nvPicPr>
          <p:cNvPr id="49158" name="Picture 1030" descr="C:\My Documents\Books\APSCIM-3e\Figures - Completed\22\22.11cC.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39000" y="1924050"/>
            <a:ext cx="3048000" cy="304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374100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1026"/>
          <p:cNvSpPr>
            <a:spLocks noGrp="1" noChangeArrowheads="1"/>
          </p:cNvSpPr>
          <p:nvPr>
            <p:ph type="title"/>
          </p:nvPr>
        </p:nvSpPr>
        <p:spPr/>
        <p:txBody>
          <a:bodyPr/>
          <a:lstStyle/>
          <a:p>
            <a:r>
              <a:rPr lang="en-US" altLang="sv-SE"/>
              <a:t>More Illumination Techniques</a:t>
            </a:r>
          </a:p>
        </p:txBody>
      </p:sp>
      <p:sp>
        <p:nvSpPr>
          <p:cNvPr id="50179" name="Rectangle 1027"/>
          <p:cNvSpPr>
            <a:spLocks noGrp="1" noChangeArrowheads="1"/>
          </p:cNvSpPr>
          <p:nvPr>
            <p:ph idx="4294967295"/>
          </p:nvPr>
        </p:nvSpPr>
        <p:spPr>
          <a:xfrm>
            <a:off x="838200" y="2216150"/>
            <a:ext cx="10515600" cy="4351338"/>
          </a:xfrm>
        </p:spPr>
        <p:txBody>
          <a:bodyPr>
            <a:normAutofit/>
          </a:bodyPr>
          <a:lstStyle/>
          <a:p>
            <a:pPr>
              <a:buFont typeface="Wingdings" pitchFamily="2" charset="2"/>
              <a:buNone/>
            </a:pPr>
            <a:endParaRPr lang="en-US" altLang="sv-SE" dirty="0"/>
          </a:p>
          <a:p>
            <a:pPr>
              <a:buFont typeface="Wingdings" pitchFamily="2" charset="2"/>
              <a:buNone/>
            </a:pPr>
            <a:endParaRPr lang="en-US" altLang="sv-SE" dirty="0"/>
          </a:p>
          <a:p>
            <a:pPr>
              <a:buFont typeface="Wingdings" pitchFamily="2" charset="2"/>
              <a:buNone/>
            </a:pPr>
            <a:endParaRPr lang="en-US" altLang="sv-SE" dirty="0"/>
          </a:p>
          <a:p>
            <a:pPr>
              <a:buFont typeface="Wingdings" pitchFamily="2" charset="2"/>
              <a:buNone/>
            </a:pPr>
            <a:endParaRPr lang="en-US" altLang="sv-SE" dirty="0"/>
          </a:p>
          <a:p>
            <a:pPr>
              <a:buFont typeface="Wingdings" pitchFamily="2" charset="2"/>
              <a:buNone/>
            </a:pPr>
            <a:endParaRPr lang="en-US" altLang="sv-SE" dirty="0"/>
          </a:p>
          <a:p>
            <a:pPr>
              <a:buFont typeface="Wingdings" pitchFamily="2" charset="2"/>
              <a:buNone/>
            </a:pPr>
            <a:endParaRPr lang="en-US" altLang="sv-SE" dirty="0"/>
          </a:p>
          <a:p>
            <a:pPr>
              <a:buFont typeface="Wingdings" pitchFamily="2" charset="2"/>
              <a:buNone/>
            </a:pPr>
            <a:endParaRPr lang="en-US" altLang="sv-SE" dirty="0"/>
          </a:p>
          <a:p>
            <a:pPr algn="ctr">
              <a:buFont typeface="Wingdings" pitchFamily="2" charset="2"/>
              <a:buNone/>
            </a:pPr>
            <a:r>
              <a:rPr lang="en-US" altLang="sv-SE" sz="2000" dirty="0"/>
              <a:t>(d) Structured lighting using a planar sheet of light</a:t>
            </a:r>
          </a:p>
        </p:txBody>
      </p:sp>
      <p:pic>
        <p:nvPicPr>
          <p:cNvPr id="50180" name="Picture 1028" descr="C:\My Documents\Books\APSCIM-3e\Figures - Completed\22\22.11dC.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1800" y="1990726"/>
            <a:ext cx="6400800" cy="3654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145989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r>
              <a:rPr lang="en-US" altLang="sv-SE"/>
              <a:t>More Illumination Techniques</a:t>
            </a:r>
          </a:p>
        </p:txBody>
      </p:sp>
      <p:sp>
        <p:nvSpPr>
          <p:cNvPr id="51203" name="Rectangle 3"/>
          <p:cNvSpPr>
            <a:spLocks noGrp="1" noChangeArrowheads="1"/>
          </p:cNvSpPr>
          <p:nvPr>
            <p:ph idx="4294967295"/>
          </p:nvPr>
        </p:nvSpPr>
        <p:spPr>
          <a:xfrm>
            <a:off x="838200" y="2197100"/>
            <a:ext cx="10515600" cy="4351338"/>
          </a:xfrm>
        </p:spPr>
        <p:txBody>
          <a:bodyPr>
            <a:normAutofit/>
          </a:bodyPr>
          <a:lstStyle/>
          <a:p>
            <a:pPr>
              <a:buFont typeface="Wingdings" pitchFamily="2" charset="2"/>
              <a:buNone/>
            </a:pPr>
            <a:endParaRPr lang="en-US" altLang="sv-SE" dirty="0"/>
          </a:p>
          <a:p>
            <a:pPr>
              <a:buFont typeface="Wingdings" pitchFamily="2" charset="2"/>
              <a:buNone/>
            </a:pPr>
            <a:endParaRPr lang="en-US" altLang="sv-SE" dirty="0"/>
          </a:p>
          <a:p>
            <a:pPr>
              <a:buFont typeface="Wingdings" pitchFamily="2" charset="2"/>
              <a:buNone/>
            </a:pPr>
            <a:endParaRPr lang="en-US" altLang="sv-SE" dirty="0"/>
          </a:p>
          <a:p>
            <a:pPr>
              <a:buFont typeface="Wingdings" pitchFamily="2" charset="2"/>
              <a:buNone/>
            </a:pPr>
            <a:endParaRPr lang="en-US" altLang="sv-SE" dirty="0"/>
          </a:p>
          <a:p>
            <a:pPr>
              <a:buFont typeface="Wingdings" pitchFamily="2" charset="2"/>
              <a:buNone/>
            </a:pPr>
            <a:endParaRPr lang="en-US" altLang="sv-SE" dirty="0"/>
          </a:p>
          <a:p>
            <a:pPr>
              <a:buFont typeface="Wingdings" pitchFamily="2" charset="2"/>
              <a:buNone/>
            </a:pPr>
            <a:endParaRPr lang="en-US" altLang="sv-SE" dirty="0"/>
          </a:p>
          <a:p>
            <a:pPr>
              <a:buFont typeface="Wingdings" pitchFamily="2" charset="2"/>
              <a:buNone/>
            </a:pPr>
            <a:endParaRPr lang="en-US" altLang="sv-SE" dirty="0"/>
          </a:p>
          <a:p>
            <a:pPr algn="ctr">
              <a:buFont typeface="Wingdings" pitchFamily="2" charset="2"/>
              <a:buNone/>
            </a:pPr>
            <a:r>
              <a:rPr lang="en-US" altLang="sv-SE" sz="2000" dirty="0"/>
              <a:t>(e) Strobe lighting</a:t>
            </a:r>
          </a:p>
        </p:txBody>
      </p:sp>
      <p:pic>
        <p:nvPicPr>
          <p:cNvPr id="51204" name="Picture 4" descr="C:\My Documents\Books\APSCIM-3e\Figures - Completed\22\22.11eC.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1800" y="1971676"/>
            <a:ext cx="6248400" cy="37131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303955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Ring light </a:t>
            </a:r>
          </a:p>
        </p:txBody>
      </p:sp>
      <p:sp>
        <p:nvSpPr>
          <p:cNvPr id="4" name="Content Placeholder 3">
            <a:extLst>
              <a:ext uri="{FF2B5EF4-FFF2-40B4-BE49-F238E27FC236}">
                <a16:creationId xmlns:a16="http://schemas.microsoft.com/office/drawing/2014/main" id="{904614A0-996D-4BF1-8A14-019D97F0F96E}"/>
              </a:ext>
            </a:extLst>
          </p:cNvPr>
          <p:cNvSpPr>
            <a:spLocks noGrp="1"/>
          </p:cNvSpPr>
          <p:nvPr>
            <p:ph idx="4294967295"/>
          </p:nvPr>
        </p:nvSpPr>
        <p:spPr/>
        <p:txBody>
          <a:bodyPr/>
          <a:lstStyle/>
          <a:p>
            <a:endParaRPr lang="en-GB"/>
          </a:p>
        </p:txBody>
      </p:sp>
      <p:pic>
        <p:nvPicPr>
          <p:cNvPr id="21506" name="Picture 2" descr="http://opticalengineering.spiedigitallibrary.org/data/Journals/OPTICE/23425/043001_1_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79684" y="3784688"/>
            <a:ext cx="6755857" cy="2884672"/>
          </a:xfrm>
          <a:prstGeom prst="rect">
            <a:avLst/>
          </a:prstGeom>
          <a:noFill/>
          <a:extLst>
            <a:ext uri="{909E8E84-426E-40DD-AFC4-6F175D3DCCD1}">
              <a14:hiddenFill xmlns:a14="http://schemas.microsoft.com/office/drawing/2010/main">
                <a:solidFill>
                  <a:srgbClr val="FFFFFF"/>
                </a:solidFill>
              </a14:hiddenFill>
            </a:ext>
          </a:extLst>
        </p:spPr>
      </p:pic>
      <p:pic>
        <p:nvPicPr>
          <p:cNvPr id="21508" name="Picture 4" descr="http://img.directindustry.com/images_di/photo-g/led-ring-lights-industrial-vision-80993-406200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13518" y="1619475"/>
            <a:ext cx="2304256" cy="2304256"/>
          </a:xfrm>
          <a:prstGeom prst="rect">
            <a:avLst/>
          </a:prstGeom>
          <a:noFill/>
          <a:extLst>
            <a:ext uri="{909E8E84-426E-40DD-AFC4-6F175D3DCCD1}">
              <a14:hiddenFill xmlns:a14="http://schemas.microsoft.com/office/drawing/2010/main">
                <a:solidFill>
                  <a:srgbClr val="FFFFFF"/>
                </a:solidFill>
              </a14:hiddenFill>
            </a:ext>
          </a:extLst>
        </p:spPr>
      </p:pic>
      <p:pic>
        <p:nvPicPr>
          <p:cNvPr id="21509"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68462" y="1758518"/>
            <a:ext cx="3426900" cy="20261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096674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Regulare lenses</a:t>
            </a:r>
          </a:p>
        </p:txBody>
      </p:sp>
      <p:sp>
        <p:nvSpPr>
          <p:cNvPr id="3" name="Content Placeholder 2"/>
          <p:cNvSpPr>
            <a:spLocks noGrp="1"/>
          </p:cNvSpPr>
          <p:nvPr>
            <p:ph type="body" sz="quarter" idx="10"/>
          </p:nvPr>
        </p:nvSpPr>
        <p:spPr/>
        <p:txBody>
          <a:bodyPr/>
          <a:lstStyle/>
          <a:p>
            <a:r>
              <a:rPr lang="en-GB"/>
              <a:t>Performs a perspective projection of the world into the image</a:t>
            </a:r>
          </a:p>
          <a:p>
            <a:r>
              <a:rPr lang="en-GB"/>
              <a:t>Camera with regulare lens is called pin-hole camera</a:t>
            </a:r>
          </a:p>
          <a:p>
            <a:endParaRPr lang="en-GB"/>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59896" y="3095966"/>
            <a:ext cx="5508104" cy="3762035"/>
          </a:xfrm>
          <a:prstGeom prst="rect">
            <a:avLst/>
          </a:prstGeom>
        </p:spPr>
      </p:pic>
      <p:sp>
        <p:nvSpPr>
          <p:cNvPr id="6" name="TextBox 5"/>
          <p:cNvSpPr txBox="1"/>
          <p:nvPr/>
        </p:nvSpPr>
        <p:spPr>
          <a:xfrm>
            <a:off x="6744073" y="6340679"/>
            <a:ext cx="675185" cy="276999"/>
          </a:xfrm>
          <a:prstGeom prst="rect">
            <a:avLst/>
          </a:prstGeom>
          <a:noFill/>
        </p:spPr>
        <p:txBody>
          <a:bodyPr wrap="none" rtlCol="0">
            <a:spAutoFit/>
          </a:bodyPr>
          <a:lstStyle/>
          <a:p>
            <a:r>
              <a:rPr lang="sv-SE" sz="1200" dirty="0"/>
              <a:t>© GFDL</a:t>
            </a:r>
          </a:p>
        </p:txBody>
      </p:sp>
    </p:spTree>
    <p:extLst>
      <p:ext uri="{BB962C8B-B14F-4D97-AF65-F5344CB8AC3E}">
        <p14:creationId xmlns:p14="http://schemas.microsoft.com/office/powerpoint/2010/main" val="8643742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Drawback with regular lenses</a:t>
            </a:r>
          </a:p>
        </p:txBody>
      </p:sp>
      <p:sp>
        <p:nvSpPr>
          <p:cNvPr id="3" name="Content Placeholder 2"/>
          <p:cNvSpPr>
            <a:spLocks noGrp="1"/>
          </p:cNvSpPr>
          <p:nvPr>
            <p:ph type="body" sz="quarter" idx="10"/>
          </p:nvPr>
        </p:nvSpPr>
        <p:spPr/>
        <p:txBody>
          <a:bodyPr>
            <a:normAutofit/>
          </a:bodyPr>
          <a:lstStyle/>
          <a:p>
            <a:pPr marL="0" indent="0">
              <a:buNone/>
            </a:pPr>
            <a:r>
              <a:rPr lang="en-GB" sz="2400" dirty="0"/>
              <a:t>Most lenses exhibit varying magnification for objects at different distances from the lens. This causes several problems for machine vision and other applications:</a:t>
            </a:r>
          </a:p>
          <a:p>
            <a:r>
              <a:rPr lang="en-GB" sz="2400" dirty="0"/>
              <a:t>the apparent size of objects changes with distance from the camera</a:t>
            </a:r>
          </a:p>
          <a:p>
            <a:r>
              <a:rPr lang="en-GB" sz="2400" dirty="0"/>
              <a:t>some features or objects may be hidden by objects that are closer to the lens</a:t>
            </a:r>
          </a:p>
          <a:p>
            <a:r>
              <a:rPr lang="en-GB" sz="2400" dirty="0"/>
              <a:t>the apparent shape of objects varies with distance from the </a:t>
            </a:r>
            <a:r>
              <a:rPr lang="en-GB" sz="2400" dirty="0" err="1"/>
              <a:t>center</a:t>
            </a:r>
            <a:r>
              <a:rPr lang="en-GB" sz="2400" dirty="0"/>
              <a:t> of the field of view (FOV). Objects appearing close to the edges are viewed from an angle, while objects near the centre of the FOV are viewed frontally (circles near the centre of the FOV become egg-shaped when moved towards the periphery).</a:t>
            </a:r>
          </a:p>
          <a:p>
            <a:endParaRPr lang="en-GB" dirty="0"/>
          </a:p>
        </p:txBody>
      </p:sp>
    </p:spTree>
    <p:extLst>
      <p:ext uri="{BB962C8B-B14F-4D97-AF65-F5344CB8AC3E}">
        <p14:creationId xmlns:p14="http://schemas.microsoft.com/office/powerpoint/2010/main" val="38249466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Telecentric</a:t>
            </a:r>
            <a:r>
              <a:rPr lang="en-US" dirty="0"/>
              <a:t> lenses</a:t>
            </a:r>
            <a:endParaRPr lang="sv-SE" dirty="0"/>
          </a:p>
        </p:txBody>
      </p:sp>
      <p:sp>
        <p:nvSpPr>
          <p:cNvPr id="3" name="Content Placeholder 2"/>
          <p:cNvSpPr>
            <a:spLocks noGrp="1"/>
          </p:cNvSpPr>
          <p:nvPr>
            <p:ph type="body" sz="quarter" idx="10"/>
          </p:nvPr>
        </p:nvSpPr>
        <p:spPr/>
        <p:txBody>
          <a:bodyPr>
            <a:normAutofit/>
          </a:bodyPr>
          <a:lstStyle/>
          <a:p>
            <a:pPr marL="0" indent="0">
              <a:buNone/>
            </a:pPr>
            <a:r>
              <a:rPr lang="en-US" dirty="0"/>
              <a:t>Provides an orthographic projection, providing the same magnification at all distances. An object that is too close or too far from the lens may still be out of focus, but the resulting blurry image will be the same size as the correctly-focused image would be</a:t>
            </a:r>
            <a:endParaRPr lang="sv-SE" dirty="0"/>
          </a:p>
        </p:txBody>
      </p:sp>
    </p:spTree>
    <p:extLst>
      <p:ext uri="{BB962C8B-B14F-4D97-AF65-F5344CB8AC3E}">
        <p14:creationId xmlns:p14="http://schemas.microsoft.com/office/powerpoint/2010/main" val="15534347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v-SE" dirty="0" err="1"/>
              <a:t>Omnidirectional</a:t>
            </a:r>
            <a:r>
              <a:rPr lang="sv-SE" dirty="0"/>
              <a:t> </a:t>
            </a:r>
            <a:r>
              <a:rPr lang="sv-SE" dirty="0" err="1"/>
              <a:t>camera</a:t>
            </a:r>
            <a:endParaRPr lang="sv-SE" dirty="0"/>
          </a:p>
        </p:txBody>
      </p:sp>
      <p:sp>
        <p:nvSpPr>
          <p:cNvPr id="3" name="Content Placeholder 2"/>
          <p:cNvSpPr>
            <a:spLocks noGrp="1"/>
          </p:cNvSpPr>
          <p:nvPr>
            <p:ph type="body" sz="quarter" idx="10"/>
          </p:nvPr>
        </p:nvSpPr>
        <p:spPr/>
        <p:txBody>
          <a:bodyPr/>
          <a:lstStyle/>
          <a:p>
            <a:pPr marL="0" indent="0">
              <a:buNone/>
            </a:pPr>
            <a:r>
              <a:rPr lang="en-US" sz="2000" dirty="0"/>
              <a:t>is a camera with a 360-degree field of view in the horizontal plane, or with a visual field that covers (approximately) the entire sphere. </a:t>
            </a:r>
            <a:endParaRPr lang="sv-SE" sz="2000"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29583" y="3347467"/>
            <a:ext cx="7620000" cy="3257550"/>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7416" y="3504630"/>
            <a:ext cx="2815794" cy="2850133"/>
          </a:xfrm>
          <a:prstGeom prst="rect">
            <a:avLst/>
          </a:prstGeom>
        </p:spPr>
      </p:pic>
    </p:spTree>
    <p:extLst>
      <p:ext uri="{BB962C8B-B14F-4D97-AF65-F5344CB8AC3E}">
        <p14:creationId xmlns:p14="http://schemas.microsoft.com/office/powerpoint/2010/main" val="12577422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v-SE" dirty="0" err="1"/>
              <a:t>Fisheye</a:t>
            </a:r>
            <a:r>
              <a:rPr lang="sv-SE" dirty="0"/>
              <a:t> </a:t>
            </a:r>
            <a:r>
              <a:rPr lang="sv-SE" dirty="0" err="1"/>
              <a:t>camera</a:t>
            </a:r>
            <a:endParaRPr lang="sv-SE" dirty="0"/>
          </a:p>
        </p:txBody>
      </p:sp>
      <p:sp>
        <p:nvSpPr>
          <p:cNvPr id="3" name="Content Placeholder 2"/>
          <p:cNvSpPr>
            <a:spLocks noGrp="1"/>
          </p:cNvSpPr>
          <p:nvPr>
            <p:ph type="body" sz="quarter" idx="10"/>
          </p:nvPr>
        </p:nvSpPr>
        <p:spPr/>
        <p:txBody>
          <a:bodyPr/>
          <a:lstStyle/>
          <a:p>
            <a:pPr marL="0" indent="0">
              <a:buNone/>
            </a:pPr>
            <a:r>
              <a:rPr lang="en-US" sz="2000" dirty="0"/>
              <a:t>A fisheye lens is an ultra wide-angle lens that produces strong visual distortion intended to create a wide panoramic or hemispherical image</a:t>
            </a:r>
            <a:endParaRPr lang="sv-SE" sz="20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89750" y="3429000"/>
            <a:ext cx="3683000" cy="2921000"/>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9547" y="2933304"/>
            <a:ext cx="5551251" cy="3673078"/>
          </a:xfrm>
          <a:prstGeom prst="rect">
            <a:avLst/>
          </a:prstGeom>
        </p:spPr>
      </p:pic>
    </p:spTree>
    <p:extLst>
      <p:ext uri="{BB962C8B-B14F-4D97-AF65-F5344CB8AC3E}">
        <p14:creationId xmlns:p14="http://schemas.microsoft.com/office/powerpoint/2010/main" val="30486459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p:txBody>
          <a:bodyPr/>
          <a:lstStyle/>
          <a:p>
            <a:r>
              <a:rPr lang="en-GB" dirty="0"/>
              <a:t>Three main types of distortion</a:t>
            </a:r>
          </a:p>
          <a:p>
            <a:pPr lvl="1"/>
            <a:r>
              <a:rPr lang="en-GB" dirty="0"/>
              <a:t>Pincushion</a:t>
            </a:r>
          </a:p>
          <a:p>
            <a:pPr lvl="1"/>
            <a:r>
              <a:rPr lang="en-GB" dirty="0"/>
              <a:t>Barrel </a:t>
            </a:r>
          </a:p>
          <a:p>
            <a:pPr lvl="1"/>
            <a:r>
              <a:rPr lang="sv-SE" dirty="0" err="1">
                <a:effectLst/>
              </a:rPr>
              <a:t>Mustache</a:t>
            </a:r>
            <a:endParaRPr lang="en-GB" dirty="0"/>
          </a:p>
        </p:txBody>
      </p:sp>
      <p:sp>
        <p:nvSpPr>
          <p:cNvPr id="10" name="Content Placeholder 9">
            <a:extLst>
              <a:ext uri="{FF2B5EF4-FFF2-40B4-BE49-F238E27FC236}">
                <a16:creationId xmlns:a16="http://schemas.microsoft.com/office/drawing/2014/main" id="{4FCF73F0-DB9B-444A-9BD2-60967E2D41A2}"/>
              </a:ext>
            </a:extLst>
          </p:cNvPr>
          <p:cNvSpPr>
            <a:spLocks noGrp="1"/>
          </p:cNvSpPr>
          <p:nvPr>
            <p:ph sz="half" idx="2"/>
          </p:nvPr>
        </p:nvSpPr>
        <p:spPr/>
        <p:txBody>
          <a:bodyPr/>
          <a:lstStyle/>
          <a:p>
            <a:endParaRPr lang="en-GB"/>
          </a:p>
        </p:txBody>
      </p:sp>
      <p:sp>
        <p:nvSpPr>
          <p:cNvPr id="2" name="Title 1"/>
          <p:cNvSpPr>
            <a:spLocks noGrp="1"/>
          </p:cNvSpPr>
          <p:nvPr>
            <p:ph type="title"/>
          </p:nvPr>
        </p:nvSpPr>
        <p:spPr/>
        <p:txBody>
          <a:bodyPr/>
          <a:lstStyle/>
          <a:p>
            <a:r>
              <a:rPr lang="en-GB" dirty="0" err="1"/>
              <a:t>Radiel</a:t>
            </a:r>
            <a:r>
              <a:rPr lang="en-GB" dirty="0"/>
              <a:t> distortion</a:t>
            </a:r>
          </a:p>
        </p:txBody>
      </p:sp>
      <p:pic>
        <p:nvPicPr>
          <p:cNvPr id="4"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auto">
          <a:xfrm>
            <a:off x="8184232" y="2348880"/>
            <a:ext cx="1512168" cy="1512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2632" y="2151090"/>
            <a:ext cx="1727585" cy="1956717"/>
          </a:xfrm>
          <a:prstGeom prst="rect">
            <a:avLst/>
          </a:prstGeom>
        </p:spPr>
      </p:pic>
      <p:pic>
        <p:nvPicPr>
          <p:cNvPr id="6" name="Content Placeholder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auto">
          <a:xfrm>
            <a:off x="6210842" y="4125148"/>
            <a:ext cx="1901382" cy="2376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968208" y="4449416"/>
            <a:ext cx="1728192" cy="1728192"/>
          </a:xfrm>
          <a:prstGeom prst="rect">
            <a:avLst/>
          </a:prstGeom>
        </p:spPr>
      </p:pic>
      <p:pic>
        <p:nvPicPr>
          <p:cNvPr id="8" name="Content Placeholder 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auto">
          <a:xfrm>
            <a:off x="2205621" y="4142170"/>
            <a:ext cx="1371780" cy="1876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575720" y="4411947"/>
            <a:ext cx="1656184" cy="1656184"/>
          </a:xfrm>
          <a:prstGeom prst="rect">
            <a:avLst/>
          </a:prstGeom>
        </p:spPr>
      </p:pic>
    </p:spTree>
    <p:extLst>
      <p:ext uri="{BB962C8B-B14F-4D97-AF65-F5344CB8AC3E}">
        <p14:creationId xmlns:p14="http://schemas.microsoft.com/office/powerpoint/2010/main" val="34467759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593" name="Picture 9" descr="2d_01"/>
          <p:cNvPicPr>
            <a:picLocks noGrp="1" noChangeAspect="1" noChangeArrowheads="1"/>
          </p:cNvPicPr>
          <p:nvPr>
            <p:ph sz="half" idx="1"/>
          </p:nvPr>
        </p:nvPicPr>
        <p:blipFill>
          <a:blip r:embed="rId3" cstate="print"/>
          <a:stretch>
            <a:fillRect/>
          </a:stretch>
        </p:blipFill>
        <p:spPr>
          <a:xfrm>
            <a:off x="7996236" y="4333876"/>
            <a:ext cx="2631465" cy="1986756"/>
          </a:xfrm>
          <a:noFill/>
          <a:ln/>
        </p:spPr>
      </p:pic>
      <p:pic>
        <p:nvPicPr>
          <p:cNvPr id="67592" name="Picture 8" descr="2d"/>
          <p:cNvPicPr>
            <a:picLocks noGrp="1" noChangeAspect="1" noChangeArrowheads="1"/>
          </p:cNvPicPr>
          <p:nvPr>
            <p:ph sz="half" idx="2"/>
          </p:nvPr>
        </p:nvPicPr>
        <p:blipFill>
          <a:blip r:embed="rId4" cstate="print"/>
          <a:stretch>
            <a:fillRect/>
          </a:stretch>
        </p:blipFill>
        <p:spPr>
          <a:xfrm>
            <a:off x="5926859" y="1419225"/>
            <a:ext cx="3545753" cy="2686844"/>
          </a:xfrm>
        </p:spPr>
      </p:pic>
      <p:sp>
        <p:nvSpPr>
          <p:cNvPr id="67596" name="Rectangle 12"/>
          <p:cNvSpPr>
            <a:spLocks noGrp="1" noChangeArrowheads="1"/>
          </p:cNvSpPr>
          <p:nvPr>
            <p:ph type="title"/>
          </p:nvPr>
        </p:nvSpPr>
        <p:spPr/>
        <p:txBody>
          <a:bodyPr/>
          <a:lstStyle/>
          <a:p>
            <a:r>
              <a:rPr lang="en-GB"/>
              <a:t>2D images</a:t>
            </a:r>
          </a:p>
        </p:txBody>
      </p:sp>
      <p:sp>
        <p:nvSpPr>
          <p:cNvPr id="67597" name="Rectangle 13"/>
          <p:cNvSpPr>
            <a:spLocks noGrp="1" noChangeArrowheads="1"/>
          </p:cNvSpPr>
          <p:nvPr>
            <p:ph type="body" sz="half" idx="4294967295"/>
          </p:nvPr>
        </p:nvSpPr>
        <p:spPr>
          <a:xfrm>
            <a:off x="1294104" y="2332037"/>
            <a:ext cx="4402138" cy="4525963"/>
          </a:xfrm>
        </p:spPr>
        <p:txBody>
          <a:bodyPr/>
          <a:lstStyle/>
          <a:p>
            <a:r>
              <a:rPr lang="en-GB" dirty="0"/>
              <a:t>It delivers reliable information on position, angle, and variation of any part. </a:t>
            </a:r>
          </a:p>
          <a:p>
            <a:r>
              <a:rPr lang="en-GB" dirty="0"/>
              <a:t>Either mounted on the robot or fixed in the robot cell</a:t>
            </a:r>
          </a:p>
        </p:txBody>
      </p:sp>
      <p:sp>
        <p:nvSpPr>
          <p:cNvPr id="7" name="TextBox 6">
            <a:extLst>
              <a:ext uri="{FF2B5EF4-FFF2-40B4-BE49-F238E27FC236}">
                <a16:creationId xmlns:a16="http://schemas.microsoft.com/office/drawing/2014/main" id="{9632CB03-F717-4227-A0F6-11EF5714A63A}"/>
              </a:ext>
            </a:extLst>
          </p:cNvPr>
          <p:cNvSpPr txBox="1"/>
          <p:nvPr/>
        </p:nvSpPr>
        <p:spPr>
          <a:xfrm>
            <a:off x="8974375" y="6525421"/>
            <a:ext cx="675185" cy="276999"/>
          </a:xfrm>
          <a:prstGeom prst="rect">
            <a:avLst/>
          </a:prstGeom>
          <a:noFill/>
        </p:spPr>
        <p:txBody>
          <a:bodyPr wrap="none" rtlCol="0">
            <a:spAutoFit/>
          </a:bodyPr>
          <a:lstStyle/>
          <a:p>
            <a:r>
              <a:rPr lang="sv-SE" sz="1200" dirty="0"/>
              <a:t>© GFDL</a:t>
            </a:r>
          </a:p>
        </p:txBody>
      </p:sp>
    </p:spTree>
    <p:extLst>
      <p:ext uri="{BB962C8B-B14F-4D97-AF65-F5344CB8AC3E}">
        <p14:creationId xmlns:p14="http://schemas.microsoft.com/office/powerpoint/2010/main" val="16472547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r>
              <a:rPr lang="en-GB"/>
              <a:t>2 ½D vision system</a:t>
            </a:r>
          </a:p>
        </p:txBody>
      </p:sp>
      <p:sp>
        <p:nvSpPr>
          <p:cNvPr id="71690" name="Rectangle 10"/>
          <p:cNvSpPr>
            <a:spLocks noGrp="1" noChangeArrowheads="1"/>
          </p:cNvSpPr>
          <p:nvPr>
            <p:ph type="body" sz="quarter" idx="10"/>
          </p:nvPr>
        </p:nvSpPr>
        <p:spPr/>
        <p:txBody>
          <a:bodyPr/>
          <a:lstStyle/>
          <a:p>
            <a:r>
              <a:rPr lang="en-GB" dirty="0"/>
              <a:t>Further development of 2D technology</a:t>
            </a:r>
          </a:p>
          <a:p>
            <a:r>
              <a:rPr lang="en-GB" dirty="0"/>
              <a:t>Determination of a height with 1 camera and 1 position</a:t>
            </a:r>
          </a:p>
        </p:txBody>
      </p:sp>
      <p:pic>
        <p:nvPicPr>
          <p:cNvPr id="71686" name="Picture 6" descr="2einahlbd"/>
          <p:cNvPicPr>
            <a:picLocks noGrp="1" noChangeAspect="1" noChangeArrowheads="1"/>
          </p:cNvPicPr>
          <p:nvPr>
            <p:ph idx="4294967295"/>
          </p:nvPr>
        </p:nvPicPr>
        <p:blipFill>
          <a:blip r:embed="rId3" cstate="print"/>
          <a:stretch>
            <a:fillRect/>
          </a:stretch>
        </p:blipFill>
        <p:spPr>
          <a:xfrm>
            <a:off x="2904145" y="3683932"/>
            <a:ext cx="2948478" cy="2380759"/>
          </a:xfrm>
          <a:prstGeom prst="rect">
            <a:avLst/>
          </a:prstGeom>
          <a:noFill/>
          <a:ln/>
        </p:spPr>
      </p:pic>
      <p:pic>
        <p:nvPicPr>
          <p:cNvPr id="71688" name="Picture 8" descr="2einhalb_02"/>
          <p:cNvPicPr>
            <a:picLocks noGrp="1" noChangeAspect="1" noChangeArrowheads="1"/>
          </p:cNvPicPr>
          <p:nvPr>
            <p:ph idx="4294967295"/>
          </p:nvPr>
        </p:nvPicPr>
        <p:blipFill>
          <a:blip r:embed="rId4" cstate="print"/>
          <a:stretch>
            <a:fillRect/>
          </a:stretch>
        </p:blipFill>
        <p:spPr>
          <a:xfrm>
            <a:off x="6339378" y="3683932"/>
            <a:ext cx="3552825" cy="2747030"/>
          </a:xfrm>
          <a:prstGeom prst="rect">
            <a:avLst/>
          </a:prstGeom>
          <a:noFill/>
          <a:ln/>
        </p:spPr>
      </p:pic>
      <p:sp>
        <p:nvSpPr>
          <p:cNvPr id="7" name="TextBox 6">
            <a:extLst>
              <a:ext uri="{FF2B5EF4-FFF2-40B4-BE49-F238E27FC236}">
                <a16:creationId xmlns:a16="http://schemas.microsoft.com/office/drawing/2014/main" id="{1EB50592-7746-4D40-B5E2-8EF0E41E467A}"/>
              </a:ext>
            </a:extLst>
          </p:cNvPr>
          <p:cNvSpPr txBox="1"/>
          <p:nvPr/>
        </p:nvSpPr>
        <p:spPr>
          <a:xfrm>
            <a:off x="8974375" y="6525421"/>
            <a:ext cx="675185" cy="276999"/>
          </a:xfrm>
          <a:prstGeom prst="rect">
            <a:avLst/>
          </a:prstGeom>
          <a:noFill/>
        </p:spPr>
        <p:txBody>
          <a:bodyPr wrap="none" rtlCol="0">
            <a:spAutoFit/>
          </a:bodyPr>
          <a:lstStyle/>
          <a:p>
            <a:r>
              <a:rPr lang="sv-SE" sz="1200" dirty="0"/>
              <a:t>© GFDL</a:t>
            </a:r>
          </a:p>
        </p:txBody>
      </p:sp>
    </p:spTree>
    <p:extLst>
      <p:ext uri="{BB962C8B-B14F-4D97-AF65-F5344CB8AC3E}">
        <p14:creationId xmlns:p14="http://schemas.microsoft.com/office/powerpoint/2010/main" val="33534547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4" name="Rectangle 4"/>
          <p:cNvSpPr>
            <a:spLocks noGrp="1" noChangeArrowheads="1"/>
          </p:cNvSpPr>
          <p:nvPr>
            <p:ph type="title"/>
          </p:nvPr>
        </p:nvSpPr>
        <p:spPr/>
        <p:txBody>
          <a:bodyPr/>
          <a:lstStyle/>
          <a:p>
            <a:r>
              <a:rPr lang="en-GB" sz="4000" b="1"/>
              <a:t>3D Position Recognition Using Photogrammetry</a:t>
            </a:r>
          </a:p>
        </p:txBody>
      </p:sp>
      <p:pic>
        <p:nvPicPr>
          <p:cNvPr id="76807" name="Picture 7" descr="3d"/>
          <p:cNvPicPr>
            <a:picLocks noGrp="1" noChangeAspect="1" noChangeArrowheads="1"/>
          </p:cNvPicPr>
          <p:nvPr>
            <p:ph idx="4294967295"/>
          </p:nvPr>
        </p:nvPicPr>
        <p:blipFill>
          <a:blip r:embed="rId3" cstate="print"/>
          <a:stretch>
            <a:fillRect/>
          </a:stretch>
        </p:blipFill>
        <p:spPr>
          <a:xfrm>
            <a:off x="3759200" y="3803719"/>
            <a:ext cx="3186112" cy="2632006"/>
          </a:xfrm>
          <a:noFill/>
          <a:ln/>
        </p:spPr>
      </p:pic>
      <p:sp>
        <p:nvSpPr>
          <p:cNvPr id="76805" name="Rectangle 5"/>
          <p:cNvSpPr>
            <a:spLocks noGrp="1" noChangeArrowheads="1"/>
          </p:cNvSpPr>
          <p:nvPr>
            <p:ph type="body" sz="half" idx="4294967295"/>
          </p:nvPr>
        </p:nvSpPr>
        <p:spPr>
          <a:xfrm>
            <a:off x="838200" y="1625600"/>
            <a:ext cx="4038600" cy="4525963"/>
          </a:xfrm>
        </p:spPr>
        <p:txBody>
          <a:bodyPr/>
          <a:lstStyle/>
          <a:p>
            <a:r>
              <a:rPr lang="en-GB" dirty="0"/>
              <a:t>Identifies variations of a given position in all 6 </a:t>
            </a:r>
            <a:r>
              <a:rPr lang="en-GB" dirty="0" err="1"/>
              <a:t>DoF</a:t>
            </a:r>
            <a:endParaRPr lang="en-GB" dirty="0"/>
          </a:p>
          <a:p>
            <a:r>
              <a:rPr lang="en-GB" dirty="0"/>
              <a:t>Applications: </a:t>
            </a:r>
          </a:p>
          <a:p>
            <a:pPr lvl="1"/>
            <a:r>
              <a:rPr lang="en-GB" dirty="0"/>
              <a:t>Geometrical verification</a:t>
            </a:r>
          </a:p>
          <a:p>
            <a:pPr lvl="1"/>
            <a:r>
              <a:rPr lang="en-GB" dirty="0"/>
              <a:t>Assembly process</a:t>
            </a:r>
          </a:p>
          <a:p>
            <a:pPr lvl="1"/>
            <a:r>
              <a:rPr lang="en-GB" dirty="0"/>
              <a:t>Robot guiding</a:t>
            </a:r>
          </a:p>
          <a:p>
            <a:pPr lvl="1">
              <a:buFontTx/>
              <a:buNone/>
            </a:pPr>
            <a:endParaRPr lang="en-GB" dirty="0"/>
          </a:p>
        </p:txBody>
      </p:sp>
      <p:pic>
        <p:nvPicPr>
          <p:cNvPr id="76814" name="Picture 14" descr="prod_atos3_03"/>
          <p:cNvPicPr>
            <a:picLocks noChangeAspect="1" noChangeArrowheads="1"/>
          </p:cNvPicPr>
          <p:nvPr/>
        </p:nvPicPr>
        <p:blipFill>
          <a:blip r:embed="rId4" cstate="print"/>
          <a:srcRect/>
          <a:stretch>
            <a:fillRect/>
          </a:stretch>
        </p:blipFill>
        <p:spPr bwMode="auto">
          <a:xfrm>
            <a:off x="9013825" y="2444749"/>
            <a:ext cx="2339975" cy="1846263"/>
          </a:xfrm>
          <a:prstGeom prst="rect">
            <a:avLst/>
          </a:prstGeom>
          <a:noFill/>
        </p:spPr>
      </p:pic>
      <p:pic>
        <p:nvPicPr>
          <p:cNvPr id="76815" name="Picture 15" descr="prod_atos3_02"/>
          <p:cNvPicPr>
            <a:picLocks noChangeAspect="1" noChangeArrowheads="1"/>
          </p:cNvPicPr>
          <p:nvPr/>
        </p:nvPicPr>
        <p:blipFill>
          <a:blip r:embed="rId5" cstate="print"/>
          <a:srcRect/>
          <a:stretch>
            <a:fillRect/>
          </a:stretch>
        </p:blipFill>
        <p:spPr bwMode="auto">
          <a:xfrm>
            <a:off x="7315199" y="4530725"/>
            <a:ext cx="2413000" cy="1905000"/>
          </a:xfrm>
          <a:prstGeom prst="rect">
            <a:avLst/>
          </a:prstGeom>
          <a:noFill/>
        </p:spPr>
      </p:pic>
      <p:sp>
        <p:nvSpPr>
          <p:cNvPr id="8" name="TextBox 7">
            <a:extLst>
              <a:ext uri="{FF2B5EF4-FFF2-40B4-BE49-F238E27FC236}">
                <a16:creationId xmlns:a16="http://schemas.microsoft.com/office/drawing/2014/main" id="{5FD2D289-3282-4036-BB70-24592910A69D}"/>
              </a:ext>
            </a:extLst>
          </p:cNvPr>
          <p:cNvSpPr txBox="1"/>
          <p:nvPr/>
        </p:nvSpPr>
        <p:spPr>
          <a:xfrm>
            <a:off x="8974375" y="6525421"/>
            <a:ext cx="675185" cy="276999"/>
          </a:xfrm>
          <a:prstGeom prst="rect">
            <a:avLst/>
          </a:prstGeom>
          <a:noFill/>
        </p:spPr>
        <p:txBody>
          <a:bodyPr wrap="none" rtlCol="0">
            <a:spAutoFit/>
          </a:bodyPr>
          <a:lstStyle/>
          <a:p>
            <a:r>
              <a:rPr lang="sv-SE" sz="1200" dirty="0"/>
              <a:t>© GFDL</a:t>
            </a:r>
          </a:p>
        </p:txBody>
      </p:sp>
    </p:spTree>
    <p:extLst>
      <p:ext uri="{BB962C8B-B14F-4D97-AF65-F5344CB8AC3E}">
        <p14:creationId xmlns:p14="http://schemas.microsoft.com/office/powerpoint/2010/main" val="92767228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Camera calibration</a:t>
            </a:r>
          </a:p>
        </p:txBody>
      </p:sp>
      <p:sp>
        <p:nvSpPr>
          <p:cNvPr id="3" name="Content Placeholder 2"/>
          <p:cNvSpPr>
            <a:spLocks noGrp="1"/>
          </p:cNvSpPr>
          <p:nvPr>
            <p:ph type="body" sz="quarter" idx="10"/>
          </p:nvPr>
        </p:nvSpPr>
        <p:spPr/>
        <p:txBody>
          <a:bodyPr/>
          <a:lstStyle/>
          <a:p>
            <a:r>
              <a:rPr lang="en-US" dirty="0"/>
              <a:t>Referring to the pinhole camera model, a camera matrix is used to denote a projective mapping from World coordinates to Pixel coordinates.</a:t>
            </a:r>
          </a:p>
          <a:p>
            <a:endParaRPr lang="en-US" dirty="0"/>
          </a:p>
          <a:p>
            <a:endParaRPr lang="en-US" dirty="0"/>
          </a:p>
          <a:p>
            <a:endParaRPr lang="en-US" dirty="0"/>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35760" y="3969752"/>
            <a:ext cx="4528196" cy="2207211"/>
          </a:xfrm>
          <a:prstGeom prst="rect">
            <a:avLst/>
          </a:prstGeom>
        </p:spPr>
      </p:pic>
    </p:spTree>
    <p:extLst>
      <p:ext uri="{BB962C8B-B14F-4D97-AF65-F5344CB8AC3E}">
        <p14:creationId xmlns:p14="http://schemas.microsoft.com/office/powerpoint/2010/main" val="29266697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v-SE" dirty="0"/>
              <a:t>Camera parameters</a:t>
            </a:r>
          </a:p>
        </p:txBody>
      </p:sp>
      <p:sp>
        <p:nvSpPr>
          <p:cNvPr id="3" name="Content Placeholder 2"/>
          <p:cNvSpPr>
            <a:spLocks noGrp="1"/>
          </p:cNvSpPr>
          <p:nvPr>
            <p:ph type="body" sz="quarter" idx="10"/>
          </p:nvPr>
        </p:nvSpPr>
        <p:spPr/>
        <p:txBody>
          <a:bodyPr>
            <a:normAutofit/>
          </a:bodyPr>
          <a:lstStyle/>
          <a:p>
            <a:r>
              <a:rPr lang="en-US" dirty="0"/>
              <a:t>Intrinsic matrix: containing 5 intrinsic parameters, focal length, image format, and principal point. </a:t>
            </a:r>
          </a:p>
          <a:p>
            <a:r>
              <a:rPr lang="en-US" dirty="0"/>
              <a:t>Extrinsic parameters: denote the coordinate system transformations from 3D world coordinates to 2D camera coordinates. Equivalently, the extrinsic parameters define the position of the camera center and the camera's heading in world coordinates. </a:t>
            </a:r>
            <a:endParaRPr lang="sv-SE" dirty="0"/>
          </a:p>
        </p:txBody>
      </p:sp>
    </p:spTree>
    <p:extLst>
      <p:ext uri="{BB962C8B-B14F-4D97-AF65-F5344CB8AC3E}">
        <p14:creationId xmlns:p14="http://schemas.microsoft.com/office/powerpoint/2010/main" val="38475966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prstGeom prst="rect">
            <a:avLst/>
          </a:prstGeom>
        </p:spPr>
        <p:txBody>
          <a:bodyPr/>
          <a:lstStyle/>
          <a:p>
            <a:r>
              <a:rPr lang="sv-SE" dirty="0"/>
              <a:t>Camera </a:t>
            </a:r>
            <a:r>
              <a:rPr lang="sv-SE" dirty="0" err="1"/>
              <a:t>calibration</a:t>
            </a:r>
            <a:r>
              <a:rPr lang="sv-SE" dirty="0"/>
              <a:t> images</a:t>
            </a:r>
          </a:p>
        </p:txBody>
      </p:sp>
      <p:pic>
        <p:nvPicPr>
          <p:cNvPr id="4" name="Content Placeholder 3"/>
          <p:cNvPicPr>
            <a:picLocks noGrp="1" noChangeAspect="1"/>
          </p:cNvPicPr>
          <p:nvPr>
            <p:ph idx="4294967295"/>
          </p:nvPr>
        </p:nvPicPr>
        <p:blipFill>
          <a:blip r:embed="rId2" cstate="print">
            <a:extLst>
              <a:ext uri="{28A0092B-C50C-407E-A947-70E740481C1C}">
                <a14:useLocalDpi xmlns:a14="http://schemas.microsoft.com/office/drawing/2010/main" val="0"/>
              </a:ext>
            </a:extLst>
          </a:blip>
          <a:stretch>
            <a:fillRect/>
          </a:stretch>
        </p:blipFill>
        <p:spPr>
          <a:xfrm>
            <a:off x="4937449" y="3380809"/>
            <a:ext cx="1596121" cy="1059924"/>
          </a:xfrm>
          <a:prstGeom prst="rect">
            <a:avLst/>
          </a:prstGeo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52607" y="5157192"/>
            <a:ext cx="1594921" cy="1061587"/>
          </a:xfrm>
          <a:prstGeom prst="rect">
            <a:avLst/>
          </a:prstGeom>
        </p:spPr>
      </p:pic>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492031" y="4910063"/>
            <a:ext cx="1594921" cy="1061587"/>
          </a:xfrm>
          <a:prstGeom prst="rect">
            <a:avLst/>
          </a:prstGeom>
        </p:spPr>
      </p:pic>
      <p:pic>
        <p:nvPicPr>
          <p:cNvPr id="7" name="Picture 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266650" y="1947937"/>
            <a:ext cx="1594921" cy="1061587"/>
          </a:xfrm>
          <a:prstGeom prst="rect">
            <a:avLst/>
          </a:prstGeom>
        </p:spPr>
      </p:pic>
      <p:pic>
        <p:nvPicPr>
          <p:cNvPr id="8" name="Picture 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469189" y="3429000"/>
            <a:ext cx="1594921" cy="1061587"/>
          </a:xfrm>
          <a:prstGeom prst="rect">
            <a:avLst/>
          </a:prstGeom>
        </p:spPr>
      </p:pic>
      <p:pic>
        <p:nvPicPr>
          <p:cNvPr id="9" name="Picture 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649785" y="1698012"/>
            <a:ext cx="1594921" cy="1061587"/>
          </a:xfrm>
          <a:prstGeom prst="rect">
            <a:avLst/>
          </a:prstGeom>
        </p:spPr>
      </p:pic>
      <p:pic>
        <p:nvPicPr>
          <p:cNvPr id="10" name="Picture 9"/>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515932" y="5187327"/>
            <a:ext cx="1594921" cy="1061587"/>
          </a:xfrm>
          <a:prstGeom prst="rect">
            <a:avLst/>
          </a:prstGeom>
        </p:spPr>
      </p:pic>
      <p:pic>
        <p:nvPicPr>
          <p:cNvPr id="11" name="Picture 10"/>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472790" y="3674231"/>
            <a:ext cx="1594921" cy="1061587"/>
          </a:xfrm>
          <a:prstGeom prst="rect">
            <a:avLst/>
          </a:prstGeom>
        </p:spPr>
      </p:pic>
      <p:pic>
        <p:nvPicPr>
          <p:cNvPr id="12" name="Picture 11"/>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7564696" y="2010275"/>
            <a:ext cx="1594921" cy="1061587"/>
          </a:xfrm>
          <a:prstGeom prst="rect">
            <a:avLst/>
          </a:prstGeom>
        </p:spPr>
      </p:pic>
    </p:spTree>
    <p:extLst>
      <p:ext uri="{BB962C8B-B14F-4D97-AF65-F5344CB8AC3E}">
        <p14:creationId xmlns:p14="http://schemas.microsoft.com/office/powerpoint/2010/main" val="40120541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sz="half" idx="1"/>
          </p:nvPr>
        </p:nvPicPr>
        <p:blipFill rotWithShape="1">
          <a:blip r:embed="rId2">
            <a:extLst>
              <a:ext uri="{28A0092B-C50C-407E-A947-70E740481C1C}">
                <a14:useLocalDpi xmlns:a14="http://schemas.microsoft.com/office/drawing/2010/main" val="0"/>
              </a:ext>
            </a:extLst>
          </a:blip>
          <a:srcRect l="12877" t="8059" r="13179" b="14841"/>
          <a:stretch/>
        </p:blipFill>
        <p:spPr>
          <a:xfrm>
            <a:off x="1355897" y="2139192"/>
            <a:ext cx="3831464" cy="2999843"/>
          </a:xfrm>
        </p:spPr>
      </p:pic>
      <p:sp>
        <p:nvSpPr>
          <p:cNvPr id="3" name="Content Placeholder 2">
            <a:extLst>
              <a:ext uri="{FF2B5EF4-FFF2-40B4-BE49-F238E27FC236}">
                <a16:creationId xmlns:a16="http://schemas.microsoft.com/office/drawing/2014/main" id="{432BD105-5696-4F2D-B0E9-6917058EB9F3}"/>
              </a:ext>
            </a:extLst>
          </p:cNvPr>
          <p:cNvSpPr>
            <a:spLocks noGrp="1"/>
          </p:cNvSpPr>
          <p:nvPr>
            <p:ph sz="half" idx="2"/>
          </p:nvPr>
        </p:nvSpPr>
        <p:spPr/>
        <p:txBody>
          <a:bodyPr/>
          <a:lstStyle/>
          <a:p>
            <a:endParaRPr lang="en-GB"/>
          </a:p>
        </p:txBody>
      </p:sp>
      <p:sp>
        <p:nvSpPr>
          <p:cNvPr id="2" name="Title 1"/>
          <p:cNvSpPr>
            <a:spLocks noGrp="1"/>
          </p:cNvSpPr>
          <p:nvPr>
            <p:ph type="title"/>
          </p:nvPr>
        </p:nvSpPr>
        <p:spPr/>
        <p:txBody>
          <a:bodyPr/>
          <a:lstStyle/>
          <a:p>
            <a:r>
              <a:rPr lang="sv-SE" dirty="0" err="1"/>
              <a:t>Example</a:t>
            </a:r>
            <a:r>
              <a:rPr lang="sv-SE" dirty="0"/>
              <a:t> </a:t>
            </a:r>
            <a:r>
              <a:rPr lang="sv-SE" dirty="0" err="1"/>
              <a:t>of</a:t>
            </a:r>
            <a:r>
              <a:rPr lang="sv-SE" dirty="0"/>
              <a:t> </a:t>
            </a:r>
            <a:r>
              <a:rPr lang="sv-SE" dirty="0" err="1"/>
              <a:t>excentric</a:t>
            </a:r>
            <a:r>
              <a:rPr lang="sv-SE" dirty="0"/>
              <a:t> </a:t>
            </a:r>
            <a:r>
              <a:rPr lang="sv-SE" dirty="0" err="1"/>
              <a:t>results</a:t>
            </a:r>
            <a:endParaRPr lang="sv-SE" dirty="0"/>
          </a:p>
        </p:txBody>
      </p:sp>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l="11678" t="2257" r="10883" b="9076"/>
          <a:stretch/>
        </p:blipFill>
        <p:spPr>
          <a:xfrm>
            <a:off x="6776146" y="2647950"/>
            <a:ext cx="4130566" cy="3555532"/>
          </a:xfrm>
          <a:prstGeom prst="rect">
            <a:avLst/>
          </a:prstGeom>
        </p:spPr>
      </p:pic>
      <p:sp>
        <p:nvSpPr>
          <p:cNvPr id="6" name="TextBox 5"/>
          <p:cNvSpPr txBox="1"/>
          <p:nvPr/>
        </p:nvSpPr>
        <p:spPr>
          <a:xfrm>
            <a:off x="1802985" y="5139035"/>
            <a:ext cx="3384376" cy="923330"/>
          </a:xfrm>
          <a:prstGeom prst="rect">
            <a:avLst/>
          </a:prstGeom>
          <a:noFill/>
        </p:spPr>
        <p:txBody>
          <a:bodyPr wrap="square" rtlCol="0">
            <a:spAutoFit/>
          </a:bodyPr>
          <a:lstStyle/>
          <a:p>
            <a:r>
              <a:rPr lang="en-US" dirty="0"/>
              <a:t>Extrinsic to show the new 3D positions of the grids with respect to the camera</a:t>
            </a:r>
            <a:endParaRPr lang="sv-SE" dirty="0"/>
          </a:p>
        </p:txBody>
      </p:sp>
      <p:sp>
        <p:nvSpPr>
          <p:cNvPr id="7" name="TextBox 6"/>
          <p:cNvSpPr txBox="1"/>
          <p:nvPr/>
        </p:nvSpPr>
        <p:spPr>
          <a:xfrm>
            <a:off x="7754272" y="2207146"/>
            <a:ext cx="2174313" cy="369332"/>
          </a:xfrm>
          <a:prstGeom prst="rect">
            <a:avLst/>
          </a:prstGeom>
          <a:noFill/>
        </p:spPr>
        <p:txBody>
          <a:bodyPr wrap="none" rtlCol="0">
            <a:spAutoFit/>
          </a:bodyPr>
          <a:lstStyle/>
          <a:p>
            <a:r>
              <a:rPr lang="sv-SE" dirty="0" err="1"/>
              <a:t>world-centered</a:t>
            </a:r>
            <a:r>
              <a:rPr lang="sv-SE" dirty="0"/>
              <a:t> </a:t>
            </a:r>
            <a:r>
              <a:rPr lang="sv-SE" dirty="0" err="1"/>
              <a:t>view</a:t>
            </a:r>
            <a:r>
              <a:rPr lang="sv-SE" dirty="0"/>
              <a:t> </a:t>
            </a:r>
          </a:p>
        </p:txBody>
      </p:sp>
    </p:spTree>
    <p:extLst>
      <p:ext uri="{BB962C8B-B14F-4D97-AF65-F5344CB8AC3E}">
        <p14:creationId xmlns:p14="http://schemas.microsoft.com/office/powerpoint/2010/main" val="24934598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prstGeom prst="rect">
            <a:avLst/>
          </a:prstGeom>
        </p:spPr>
        <p:txBody>
          <a:bodyPr/>
          <a:lstStyle/>
          <a:p>
            <a:r>
              <a:rPr lang="sv-SE" dirty="0"/>
              <a:t>Camera </a:t>
            </a:r>
            <a:r>
              <a:rPr lang="sv-SE" dirty="0" err="1"/>
              <a:t>calibration</a:t>
            </a:r>
            <a:endParaRPr lang="sv-SE" dirty="0"/>
          </a:p>
        </p:txBody>
      </p:sp>
      <p:sp>
        <p:nvSpPr>
          <p:cNvPr id="3" name="Content Placeholder 2">
            <a:extLst>
              <a:ext uri="{FF2B5EF4-FFF2-40B4-BE49-F238E27FC236}">
                <a16:creationId xmlns:a16="http://schemas.microsoft.com/office/drawing/2014/main" id="{93A21545-1C1A-4D24-BA1C-08C0DFEDA2F3}"/>
              </a:ext>
            </a:extLst>
          </p:cNvPr>
          <p:cNvSpPr>
            <a:spLocks noGrp="1"/>
          </p:cNvSpPr>
          <p:nvPr>
            <p:ph idx="4294967295"/>
          </p:nvPr>
        </p:nvSpPr>
        <p:spPr/>
        <p:txBody>
          <a:bodyPr/>
          <a:lstStyle/>
          <a:p>
            <a:endParaRPr lang="en-GB"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4520" y="2707407"/>
            <a:ext cx="9159211" cy="3024336"/>
          </a:xfrm>
          <a:prstGeom prst="rect">
            <a:avLst/>
          </a:prstGeom>
        </p:spPr>
      </p:pic>
      <p:sp>
        <p:nvSpPr>
          <p:cNvPr id="4" name="TextBox 3">
            <a:extLst>
              <a:ext uri="{FF2B5EF4-FFF2-40B4-BE49-F238E27FC236}">
                <a16:creationId xmlns:a16="http://schemas.microsoft.com/office/drawing/2014/main" id="{295C7DFB-16E8-4F1E-9DA9-F4C25B0EE743}"/>
              </a:ext>
            </a:extLst>
          </p:cNvPr>
          <p:cNvSpPr txBox="1"/>
          <p:nvPr/>
        </p:nvSpPr>
        <p:spPr>
          <a:xfrm>
            <a:off x="8220075" y="5547077"/>
            <a:ext cx="1479572" cy="369332"/>
          </a:xfrm>
          <a:prstGeom prst="rect">
            <a:avLst/>
          </a:prstGeom>
          <a:noFill/>
        </p:spPr>
        <p:txBody>
          <a:bodyPr wrap="none" rtlCol="0">
            <a:spAutoFit/>
          </a:bodyPr>
          <a:lstStyle/>
          <a:p>
            <a:r>
              <a:rPr lang="en-GB" dirty="0"/>
              <a:t>Output image</a:t>
            </a:r>
          </a:p>
        </p:txBody>
      </p:sp>
      <p:sp>
        <p:nvSpPr>
          <p:cNvPr id="6" name="TextBox 5">
            <a:extLst>
              <a:ext uri="{FF2B5EF4-FFF2-40B4-BE49-F238E27FC236}">
                <a16:creationId xmlns:a16="http://schemas.microsoft.com/office/drawing/2014/main" id="{0F884D1B-4181-4FAF-A5B4-16EFE4BE7C71}"/>
              </a:ext>
            </a:extLst>
          </p:cNvPr>
          <p:cNvSpPr txBox="1"/>
          <p:nvPr/>
        </p:nvSpPr>
        <p:spPr>
          <a:xfrm>
            <a:off x="3317901" y="5585021"/>
            <a:ext cx="1308050" cy="369332"/>
          </a:xfrm>
          <a:prstGeom prst="rect">
            <a:avLst/>
          </a:prstGeom>
          <a:noFill/>
        </p:spPr>
        <p:txBody>
          <a:bodyPr wrap="none" rtlCol="0">
            <a:spAutoFit/>
          </a:bodyPr>
          <a:lstStyle/>
          <a:p>
            <a:r>
              <a:rPr lang="en-GB" dirty="0"/>
              <a:t>Input image</a:t>
            </a:r>
          </a:p>
        </p:txBody>
      </p:sp>
    </p:spTree>
    <p:extLst>
      <p:ext uri="{BB962C8B-B14F-4D97-AF65-F5344CB8AC3E}">
        <p14:creationId xmlns:p14="http://schemas.microsoft.com/office/powerpoint/2010/main" val="32214631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sz="half" idx="1"/>
          </p:nvPr>
        </p:nvPicPr>
        <p:blipFill rotWithShape="1">
          <a:blip r:embed="rId2">
            <a:extLst>
              <a:ext uri="{28A0092B-C50C-407E-A947-70E740481C1C}">
                <a14:useLocalDpi xmlns:a14="http://schemas.microsoft.com/office/drawing/2010/main" val="0"/>
              </a:ext>
            </a:extLst>
          </a:blip>
          <a:stretch/>
        </p:blipFill>
        <p:spPr>
          <a:xfrm>
            <a:off x="2515998" y="1640317"/>
            <a:ext cx="6711892" cy="5033919"/>
          </a:xfrm>
        </p:spPr>
      </p:pic>
      <p:sp>
        <p:nvSpPr>
          <p:cNvPr id="3" name="Content Placeholder 2">
            <a:extLst>
              <a:ext uri="{FF2B5EF4-FFF2-40B4-BE49-F238E27FC236}">
                <a16:creationId xmlns:a16="http://schemas.microsoft.com/office/drawing/2014/main" id="{230B53DD-F161-4AB4-A7E9-7AA6E7BAE3A9}"/>
              </a:ext>
            </a:extLst>
          </p:cNvPr>
          <p:cNvSpPr>
            <a:spLocks noGrp="1"/>
          </p:cNvSpPr>
          <p:nvPr>
            <p:ph sz="half" idx="2"/>
          </p:nvPr>
        </p:nvSpPr>
        <p:spPr/>
        <p:txBody>
          <a:bodyPr/>
          <a:lstStyle/>
          <a:p>
            <a:endParaRPr lang="en-GB"/>
          </a:p>
        </p:txBody>
      </p:sp>
      <p:sp>
        <p:nvSpPr>
          <p:cNvPr id="2" name="Title 1"/>
          <p:cNvSpPr>
            <a:spLocks noGrp="1"/>
          </p:cNvSpPr>
          <p:nvPr>
            <p:ph type="title"/>
          </p:nvPr>
        </p:nvSpPr>
        <p:spPr/>
        <p:txBody>
          <a:bodyPr/>
          <a:lstStyle/>
          <a:p>
            <a:r>
              <a:rPr lang="sv-SE" dirty="0" err="1"/>
              <a:t>Calibrated</a:t>
            </a:r>
            <a:r>
              <a:rPr lang="sv-SE" dirty="0"/>
              <a:t> images</a:t>
            </a:r>
          </a:p>
        </p:txBody>
      </p:sp>
      <p:sp>
        <p:nvSpPr>
          <p:cNvPr id="5" name="TextBox 4">
            <a:extLst>
              <a:ext uri="{FF2B5EF4-FFF2-40B4-BE49-F238E27FC236}">
                <a16:creationId xmlns:a16="http://schemas.microsoft.com/office/drawing/2014/main" id="{B5503456-28DC-45F8-ADBA-A39D1EABF806}"/>
              </a:ext>
            </a:extLst>
          </p:cNvPr>
          <p:cNvSpPr txBox="1"/>
          <p:nvPr/>
        </p:nvSpPr>
        <p:spPr>
          <a:xfrm>
            <a:off x="7200900" y="6385121"/>
            <a:ext cx="1479572" cy="369332"/>
          </a:xfrm>
          <a:prstGeom prst="rect">
            <a:avLst/>
          </a:prstGeom>
          <a:noFill/>
        </p:spPr>
        <p:txBody>
          <a:bodyPr wrap="none" rtlCol="0">
            <a:spAutoFit/>
          </a:bodyPr>
          <a:lstStyle/>
          <a:p>
            <a:r>
              <a:rPr lang="en-GB" dirty="0"/>
              <a:t>Output image</a:t>
            </a:r>
          </a:p>
        </p:txBody>
      </p:sp>
      <p:sp>
        <p:nvSpPr>
          <p:cNvPr id="6" name="TextBox 5">
            <a:extLst>
              <a:ext uri="{FF2B5EF4-FFF2-40B4-BE49-F238E27FC236}">
                <a16:creationId xmlns:a16="http://schemas.microsoft.com/office/drawing/2014/main" id="{895E2D08-743C-4DA3-8977-A548E0C6AF91}"/>
              </a:ext>
            </a:extLst>
          </p:cNvPr>
          <p:cNvSpPr txBox="1"/>
          <p:nvPr/>
        </p:nvSpPr>
        <p:spPr>
          <a:xfrm>
            <a:off x="3784626" y="6385121"/>
            <a:ext cx="1308050" cy="369332"/>
          </a:xfrm>
          <a:prstGeom prst="rect">
            <a:avLst/>
          </a:prstGeom>
          <a:noFill/>
        </p:spPr>
        <p:txBody>
          <a:bodyPr wrap="none" rtlCol="0">
            <a:spAutoFit/>
          </a:bodyPr>
          <a:lstStyle/>
          <a:p>
            <a:r>
              <a:rPr lang="en-GB" dirty="0"/>
              <a:t>Input image</a:t>
            </a:r>
          </a:p>
        </p:txBody>
      </p:sp>
    </p:spTree>
    <p:extLst>
      <p:ext uri="{BB962C8B-B14F-4D97-AF65-F5344CB8AC3E}">
        <p14:creationId xmlns:p14="http://schemas.microsoft.com/office/powerpoint/2010/main" val="216934908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sz="quarter" idx="4294967295"/>
          </p:nvPr>
        </p:nvPicPr>
        <p:blipFill>
          <a:blip r:embed="rId3">
            <a:extLst>
              <a:ext uri="{28A0092B-C50C-407E-A947-70E740481C1C}">
                <a14:useLocalDpi xmlns:a14="http://schemas.microsoft.com/office/drawing/2010/main" val="0"/>
              </a:ext>
            </a:extLst>
          </a:blip>
          <a:stretch>
            <a:fillRect/>
          </a:stretch>
        </p:blipFill>
        <p:spPr>
          <a:xfrm>
            <a:off x="0" y="1773238"/>
            <a:ext cx="4864100" cy="4464050"/>
          </a:xfrm>
        </p:spPr>
      </p:pic>
      <p:sp>
        <p:nvSpPr>
          <p:cNvPr id="23559" name="TextBox 9"/>
          <p:cNvSpPr txBox="1">
            <a:spLocks noChangeArrowheads="1"/>
          </p:cNvSpPr>
          <p:nvPr/>
        </p:nvSpPr>
        <p:spPr bwMode="auto">
          <a:xfrm>
            <a:off x="3859692" y="6490872"/>
            <a:ext cx="4584909" cy="338554"/>
          </a:xfrm>
          <a:prstGeom prst="rect">
            <a:avLst/>
          </a:prstGeom>
          <a:noFill/>
          <a:ln w="9525">
            <a:noFill/>
            <a:miter lim="800000"/>
            <a:headEnd/>
            <a:tailEnd/>
          </a:ln>
        </p:spPr>
        <p:txBody>
          <a:bodyPr wrap="none">
            <a:spAutoFit/>
          </a:bodyPr>
          <a:lstStyle/>
          <a:p>
            <a:r>
              <a:rPr lang="en-US" sz="1600" dirty="0"/>
              <a:t>https://www.youtube.com/watch?v=QyWv_KW2pXo</a:t>
            </a:r>
          </a:p>
        </p:txBody>
      </p:sp>
      <p:sp>
        <p:nvSpPr>
          <p:cNvPr id="5" name="Title 4">
            <a:extLst>
              <a:ext uri="{FF2B5EF4-FFF2-40B4-BE49-F238E27FC236}">
                <a16:creationId xmlns:a16="http://schemas.microsoft.com/office/drawing/2014/main" id="{B7D78E27-27EF-4161-88A7-03296866DBD6}"/>
              </a:ext>
            </a:extLst>
          </p:cNvPr>
          <p:cNvSpPr>
            <a:spLocks noGrp="1"/>
          </p:cNvSpPr>
          <p:nvPr>
            <p:ph type="title"/>
          </p:nvPr>
        </p:nvSpPr>
        <p:spPr/>
        <p:txBody>
          <a:bodyPr/>
          <a:lstStyle/>
          <a:p>
            <a:r>
              <a:rPr lang="en-GB" dirty="0"/>
              <a:t>Bin-picking</a:t>
            </a:r>
          </a:p>
        </p:txBody>
      </p:sp>
      <p:pic>
        <p:nvPicPr>
          <p:cNvPr id="10" name="Content Placeholder 3">
            <a:hlinkClick r:id="rId4"/>
            <a:extLst>
              <a:ext uri="{FF2B5EF4-FFF2-40B4-BE49-F238E27FC236}">
                <a16:creationId xmlns:a16="http://schemas.microsoft.com/office/drawing/2014/main" id="{47B011AD-C473-462C-8966-A7F3FA0CBB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39026" y="1524000"/>
            <a:ext cx="5313947" cy="4878205"/>
          </a:xfrm>
          <a:prstGeom prst="rect">
            <a:avLst/>
          </a:prstGeom>
        </p:spPr>
      </p:pic>
    </p:spTree>
    <p:extLst>
      <p:ext uri="{BB962C8B-B14F-4D97-AF65-F5344CB8AC3E}">
        <p14:creationId xmlns:p14="http://schemas.microsoft.com/office/powerpoint/2010/main" val="65361336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Test at spare time</a:t>
            </a:r>
          </a:p>
        </p:txBody>
      </p:sp>
      <p:sp>
        <p:nvSpPr>
          <p:cNvPr id="3" name="Content Placeholder 2"/>
          <p:cNvSpPr>
            <a:spLocks noGrp="1"/>
          </p:cNvSpPr>
          <p:nvPr>
            <p:ph type="body" sz="quarter" idx="10"/>
          </p:nvPr>
        </p:nvSpPr>
        <p:spPr/>
        <p:txBody>
          <a:bodyPr/>
          <a:lstStyle/>
          <a:p>
            <a:r>
              <a:rPr lang="sv-SE" dirty="0" err="1"/>
              <a:t>Search</a:t>
            </a:r>
            <a:r>
              <a:rPr lang="sv-SE" dirty="0"/>
              <a:t> for ”</a:t>
            </a:r>
            <a:r>
              <a:rPr lang="sv-SE" dirty="0" err="1"/>
              <a:t>camera</a:t>
            </a:r>
            <a:r>
              <a:rPr lang="sv-SE" dirty="0"/>
              <a:t> </a:t>
            </a:r>
            <a:r>
              <a:rPr lang="sv-SE" dirty="0" err="1"/>
              <a:t>calibration</a:t>
            </a:r>
            <a:r>
              <a:rPr lang="sv-SE" dirty="0"/>
              <a:t> </a:t>
            </a:r>
            <a:r>
              <a:rPr lang="sv-SE" dirty="0" err="1"/>
              <a:t>toolbox</a:t>
            </a:r>
            <a:r>
              <a:rPr lang="sv-SE" dirty="0"/>
              <a:t> for </a:t>
            </a:r>
            <a:r>
              <a:rPr lang="sv-SE" dirty="0" err="1"/>
              <a:t>matlab</a:t>
            </a:r>
            <a:r>
              <a:rPr lang="sv-SE" dirty="0"/>
              <a:t>”. </a:t>
            </a:r>
            <a:r>
              <a:rPr lang="sv-SE" dirty="0" err="1"/>
              <a:t>Free</a:t>
            </a:r>
            <a:r>
              <a:rPr lang="sv-SE" dirty="0"/>
              <a:t> software. </a:t>
            </a:r>
            <a:r>
              <a:rPr lang="sv-SE" dirty="0" err="1"/>
              <a:t>Very</a:t>
            </a:r>
            <a:r>
              <a:rPr lang="sv-SE" dirty="0"/>
              <a:t> </a:t>
            </a:r>
            <a:r>
              <a:rPr lang="sv-SE" dirty="0" err="1"/>
              <a:t>good</a:t>
            </a:r>
            <a:r>
              <a:rPr lang="sv-SE" dirty="0"/>
              <a:t>!!</a:t>
            </a:r>
          </a:p>
        </p:txBody>
      </p:sp>
    </p:spTree>
    <p:extLst>
      <p:ext uri="{BB962C8B-B14F-4D97-AF65-F5344CB8AC3E}">
        <p14:creationId xmlns:p14="http://schemas.microsoft.com/office/powerpoint/2010/main" val="307315194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v-SE" dirty="0"/>
              <a:t>Human stereo vision</a:t>
            </a:r>
          </a:p>
        </p:txBody>
      </p:sp>
      <p:sp>
        <p:nvSpPr>
          <p:cNvPr id="4" name="Content Placeholder 3">
            <a:extLst>
              <a:ext uri="{FF2B5EF4-FFF2-40B4-BE49-F238E27FC236}">
                <a16:creationId xmlns:a16="http://schemas.microsoft.com/office/drawing/2014/main" id="{2B303BEF-AEEA-44DE-A13E-ECD06570EFF9}"/>
              </a:ext>
            </a:extLst>
          </p:cNvPr>
          <p:cNvSpPr>
            <a:spLocks noGrp="1"/>
          </p:cNvSpPr>
          <p:nvPr>
            <p:ph idx="4294967295"/>
          </p:nvPr>
        </p:nvSpPr>
        <p:spPr/>
        <p:txBody>
          <a:bodyPr/>
          <a:lstStyle/>
          <a:p>
            <a:endParaRPr lang="en-GB"/>
          </a:p>
        </p:txBody>
      </p:sp>
      <p:pic>
        <p:nvPicPr>
          <p:cNvPr id="1126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2586" t="29098" r="30223" b="2868"/>
          <a:stretch/>
        </p:blipFill>
        <p:spPr bwMode="auto">
          <a:xfrm>
            <a:off x="3575720" y="1628801"/>
            <a:ext cx="4534276" cy="4925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5455111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v-SE" dirty="0"/>
              <a:t>Stereo vision</a:t>
            </a:r>
          </a:p>
        </p:txBody>
      </p:sp>
      <p:sp>
        <p:nvSpPr>
          <p:cNvPr id="4" name="Text Placeholder 3">
            <a:extLst>
              <a:ext uri="{FF2B5EF4-FFF2-40B4-BE49-F238E27FC236}">
                <a16:creationId xmlns:a16="http://schemas.microsoft.com/office/drawing/2014/main" id="{7CDF57D6-4949-472F-BAE3-DEA4B712CF35}"/>
              </a:ext>
            </a:extLst>
          </p:cNvPr>
          <p:cNvSpPr>
            <a:spLocks noGrp="1"/>
          </p:cNvSpPr>
          <p:nvPr>
            <p:ph type="body" sz="quarter" idx="10"/>
          </p:nvPr>
        </p:nvSpPr>
        <p:spPr/>
        <p:txBody>
          <a:bodyPr/>
          <a:lstStyle/>
          <a:p>
            <a:endParaRPr lang="en-GB"/>
          </a:p>
        </p:txBody>
      </p:sp>
      <p:pic>
        <p:nvPicPr>
          <p:cNvPr id="1024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4268" t="37024" r="32756" b="13835"/>
          <a:stretch/>
        </p:blipFill>
        <p:spPr bwMode="auto">
          <a:xfrm>
            <a:off x="3935761" y="1700808"/>
            <a:ext cx="4020571" cy="3557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963568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v-SE" dirty="0"/>
              <a:t>Camera </a:t>
            </a:r>
            <a:r>
              <a:rPr lang="sv-SE" dirty="0" err="1"/>
              <a:t>setting</a:t>
            </a:r>
            <a:endParaRPr lang="sv-SE" dirty="0"/>
          </a:p>
        </p:txBody>
      </p:sp>
      <p:sp>
        <p:nvSpPr>
          <p:cNvPr id="3" name="Content Placeholder 2"/>
          <p:cNvSpPr>
            <a:spLocks noGrp="1"/>
          </p:cNvSpPr>
          <p:nvPr>
            <p:ph type="body" sz="quarter" idx="10"/>
          </p:nvPr>
        </p:nvSpPr>
        <p:spPr/>
        <p:txBody>
          <a:bodyPr/>
          <a:lstStyle/>
          <a:p>
            <a:r>
              <a:rPr lang="en-US" dirty="0"/>
              <a:t>Structure from stereo (Stereo-vision):</a:t>
            </a:r>
          </a:p>
          <a:p>
            <a:pPr lvl="1"/>
            <a:r>
              <a:rPr lang="en-US" dirty="0"/>
              <a:t>use two cameras with known relative position and orientation</a:t>
            </a:r>
            <a:endParaRPr lang="sv-SE" dirty="0"/>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5097" y="3212977"/>
            <a:ext cx="7353300" cy="2486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9360678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v-SE" dirty="0" err="1"/>
              <a:t>Correspondence</a:t>
            </a:r>
            <a:r>
              <a:rPr lang="sv-SE" dirty="0"/>
              <a:t> Problem</a:t>
            </a:r>
          </a:p>
        </p:txBody>
      </p:sp>
      <p:sp>
        <p:nvSpPr>
          <p:cNvPr id="3" name="Content Placeholder 2"/>
          <p:cNvSpPr>
            <a:spLocks noGrp="1"/>
          </p:cNvSpPr>
          <p:nvPr>
            <p:ph type="body" sz="quarter" idx="10"/>
          </p:nvPr>
        </p:nvSpPr>
        <p:spPr/>
        <p:txBody>
          <a:bodyPr/>
          <a:lstStyle/>
          <a:p>
            <a:r>
              <a:rPr lang="en-US" sz="2000" dirty="0"/>
              <a:t>Which patch in the Left image, corresponds to the projection of the same 3D scene point on the Right image?</a:t>
            </a:r>
          </a:p>
          <a:p>
            <a:pPr lvl="1"/>
            <a:r>
              <a:rPr lang="en-US" sz="2000" dirty="0"/>
              <a:t>Correspondence search could be done by testing the query-patches at all pixel positions in the other image. </a:t>
            </a:r>
          </a:p>
          <a:p>
            <a:pPr lvl="1"/>
            <a:r>
              <a:rPr lang="en-US" sz="2000" dirty="0"/>
              <a:t>Exhaustive image search can be computationally very expensive</a:t>
            </a:r>
          </a:p>
          <a:p>
            <a:pPr lvl="1"/>
            <a:endParaRPr lang="sv-SE" sz="2000" dirty="0"/>
          </a:p>
        </p:txBody>
      </p:sp>
      <p:pic>
        <p:nvPicPr>
          <p:cNvPr id="10243"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20857" t="57669" r="19144" b="4797"/>
          <a:stretch/>
        </p:blipFill>
        <p:spPr bwMode="auto">
          <a:xfrm>
            <a:off x="2438399" y="3775799"/>
            <a:ext cx="7315201" cy="27170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4560463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v-SE" dirty="0" err="1"/>
              <a:t>Correspondence</a:t>
            </a:r>
            <a:r>
              <a:rPr lang="sv-SE" dirty="0"/>
              <a:t> Problem</a:t>
            </a:r>
          </a:p>
        </p:txBody>
      </p:sp>
      <p:sp>
        <p:nvSpPr>
          <p:cNvPr id="3" name="Content Placeholder 2"/>
          <p:cNvSpPr>
            <a:spLocks noGrp="1"/>
          </p:cNvSpPr>
          <p:nvPr>
            <p:ph type="body" sz="quarter" idx="10"/>
          </p:nvPr>
        </p:nvSpPr>
        <p:spPr/>
        <p:txBody>
          <a:bodyPr/>
          <a:lstStyle/>
          <a:p>
            <a:r>
              <a:rPr lang="en-US" sz="2000" dirty="0"/>
              <a:t>Which patch in the Left image, corresponds to the projection of the same 3D scene point on the Right image?</a:t>
            </a:r>
          </a:p>
        </p:txBody>
      </p:sp>
      <p:pic>
        <p:nvPicPr>
          <p:cNvPr id="5" name="Picture 4" descr="A framed picture of a boat on the water&#10;&#10;Description automatically generated with low confidence">
            <a:extLst>
              <a:ext uri="{FF2B5EF4-FFF2-40B4-BE49-F238E27FC236}">
                <a16:creationId xmlns:a16="http://schemas.microsoft.com/office/drawing/2014/main" id="{3057A22E-0B6B-8E42-8D17-CC4DF08E0F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87558" y="2913311"/>
            <a:ext cx="4831900" cy="3623925"/>
          </a:xfrm>
          <a:prstGeom prst="rect">
            <a:avLst/>
          </a:prstGeom>
        </p:spPr>
      </p:pic>
      <p:pic>
        <p:nvPicPr>
          <p:cNvPr id="7" name="Picture 6" descr="A framed picture of a boat on the water&#10;&#10;Description automatically generated with low confidence">
            <a:extLst>
              <a:ext uri="{FF2B5EF4-FFF2-40B4-BE49-F238E27FC236}">
                <a16:creationId xmlns:a16="http://schemas.microsoft.com/office/drawing/2014/main" id="{86A6BAD0-A665-6AFD-FCCC-331AF7B9F6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2913311"/>
            <a:ext cx="4876617" cy="3657463"/>
          </a:xfrm>
          <a:prstGeom prst="rect">
            <a:avLst/>
          </a:prstGeom>
        </p:spPr>
      </p:pic>
      <p:sp>
        <p:nvSpPr>
          <p:cNvPr id="8" name="Rectangle 7">
            <a:extLst>
              <a:ext uri="{FF2B5EF4-FFF2-40B4-BE49-F238E27FC236}">
                <a16:creationId xmlns:a16="http://schemas.microsoft.com/office/drawing/2014/main" id="{E86AEA67-B343-6ADE-D96C-9BEB86ECBDEE}"/>
              </a:ext>
            </a:extLst>
          </p:cNvPr>
          <p:cNvSpPr/>
          <p:nvPr/>
        </p:nvSpPr>
        <p:spPr>
          <a:xfrm>
            <a:off x="2209289" y="3148632"/>
            <a:ext cx="345588" cy="27864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0" name="Straight Arrow Connector 9">
            <a:extLst>
              <a:ext uri="{FF2B5EF4-FFF2-40B4-BE49-F238E27FC236}">
                <a16:creationId xmlns:a16="http://schemas.microsoft.com/office/drawing/2014/main" id="{255A9CB8-673C-CBBD-0283-46D323318314}"/>
              </a:ext>
            </a:extLst>
          </p:cNvPr>
          <p:cNvCxnSpPr>
            <a:cxnSpLocks/>
          </p:cNvCxnSpPr>
          <p:nvPr/>
        </p:nvCxnSpPr>
        <p:spPr>
          <a:xfrm>
            <a:off x="2554877" y="3287955"/>
            <a:ext cx="4300055" cy="4438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8C7AB5FB-AF29-5B5F-D372-B27CEC3099FE}"/>
              </a:ext>
            </a:extLst>
          </p:cNvPr>
          <p:cNvSpPr/>
          <p:nvPr/>
        </p:nvSpPr>
        <p:spPr>
          <a:xfrm>
            <a:off x="2154057" y="5805133"/>
            <a:ext cx="345588" cy="27864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2" name="Straight Arrow Connector 11">
            <a:extLst>
              <a:ext uri="{FF2B5EF4-FFF2-40B4-BE49-F238E27FC236}">
                <a16:creationId xmlns:a16="http://schemas.microsoft.com/office/drawing/2014/main" id="{0E069A7D-7DF6-C7E1-E448-6EF1AAB9A630}"/>
              </a:ext>
            </a:extLst>
          </p:cNvPr>
          <p:cNvCxnSpPr>
            <a:cxnSpLocks/>
          </p:cNvCxnSpPr>
          <p:nvPr/>
        </p:nvCxnSpPr>
        <p:spPr>
          <a:xfrm>
            <a:off x="2499645" y="5946151"/>
            <a:ext cx="4244822" cy="27801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670154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prstGeom prst="rect">
            <a:avLst/>
          </a:prstGeom>
        </p:spPr>
        <p:txBody>
          <a:bodyPr/>
          <a:lstStyle/>
          <a:p>
            <a:r>
              <a:rPr lang="sv-SE" dirty="0" err="1"/>
              <a:t>Correspondence</a:t>
            </a:r>
            <a:r>
              <a:rPr lang="sv-SE" dirty="0"/>
              <a:t> Problem</a:t>
            </a:r>
          </a:p>
        </p:txBody>
      </p:sp>
      <p:sp>
        <p:nvSpPr>
          <p:cNvPr id="3" name="Text Placeholder 2">
            <a:extLst>
              <a:ext uri="{FF2B5EF4-FFF2-40B4-BE49-F238E27FC236}">
                <a16:creationId xmlns:a16="http://schemas.microsoft.com/office/drawing/2014/main" id="{C84DC149-0D86-43E1-9DEE-A4101176E63B}"/>
              </a:ext>
            </a:extLst>
          </p:cNvPr>
          <p:cNvSpPr>
            <a:spLocks noGrp="1"/>
          </p:cNvSpPr>
          <p:nvPr>
            <p:ph type="body" sz="quarter" idx="10"/>
          </p:nvPr>
        </p:nvSpPr>
        <p:spPr/>
        <p:txBody>
          <a:bodyPr/>
          <a:lstStyle/>
          <a:p>
            <a:endParaRPr lang="en-GB" dirty="0"/>
          </a:p>
        </p:txBody>
      </p:sp>
      <p:pic>
        <p:nvPicPr>
          <p:cNvPr id="4" name="Content Placeholder 3"/>
          <p:cNvPicPr>
            <a:picLocks noGrp="1" noChangeAspect="1"/>
          </p:cNvPicPr>
          <p:nvPr>
            <p:ph idx="4294967295"/>
          </p:nvPr>
        </p:nvPicPr>
        <p:blipFill>
          <a:blip r:embed="rId2" cstate="print">
            <a:extLst>
              <a:ext uri="{28A0092B-C50C-407E-A947-70E740481C1C}">
                <a14:useLocalDpi xmlns:a14="http://schemas.microsoft.com/office/drawing/2010/main" val="0"/>
              </a:ext>
            </a:extLst>
          </a:blip>
          <a:stretch>
            <a:fillRect/>
          </a:stretch>
        </p:blipFill>
        <p:spPr>
          <a:xfrm>
            <a:off x="3683793" y="1128789"/>
            <a:ext cx="5110163" cy="4600421"/>
          </a:xfrm>
          <a:prstGeom prst="rect">
            <a:avLst/>
          </a:prstGeom>
        </p:spPr>
      </p:pic>
    </p:spTree>
    <p:extLst>
      <p:ext uri="{BB962C8B-B14F-4D97-AF65-F5344CB8AC3E}">
        <p14:creationId xmlns:p14="http://schemas.microsoft.com/office/powerpoint/2010/main" val="55346656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v-SE" dirty="0" err="1"/>
              <a:t>Work</a:t>
            </a:r>
            <a:r>
              <a:rPr lang="sv-SE" dirty="0"/>
              <a:t> </a:t>
            </a:r>
            <a:r>
              <a:rPr lang="sv-SE" dirty="0" err="1"/>
              <a:t>flow</a:t>
            </a:r>
            <a:endParaRPr lang="sv-SE" dirty="0"/>
          </a:p>
        </p:txBody>
      </p:sp>
      <p:sp>
        <p:nvSpPr>
          <p:cNvPr id="3" name="Content Placeholder 2"/>
          <p:cNvSpPr>
            <a:spLocks noGrp="1"/>
          </p:cNvSpPr>
          <p:nvPr>
            <p:ph type="body" sz="quarter" idx="10"/>
          </p:nvPr>
        </p:nvSpPr>
        <p:spPr/>
        <p:txBody>
          <a:bodyPr>
            <a:normAutofit/>
          </a:bodyPr>
          <a:lstStyle/>
          <a:p>
            <a:pPr marL="514350" indent="-514350">
              <a:buFont typeface="+mj-lt"/>
              <a:buAutoNum type="arabicPeriod"/>
            </a:pPr>
            <a:r>
              <a:rPr lang="en-GB"/>
              <a:t>Stereo camera calibration </a:t>
            </a:r>
            <a:r>
              <a:rPr lang="en-GB">
                <a:sym typeface="Wingdings" pitchFamily="2" charset="2"/>
              </a:rPr>
              <a:t> </a:t>
            </a:r>
            <a:r>
              <a:rPr lang="en-GB"/>
              <a:t>compute camera relative pose</a:t>
            </a:r>
          </a:p>
          <a:p>
            <a:pPr marL="514350" indent="-514350">
              <a:buFont typeface="+mj-lt"/>
              <a:buAutoNum type="arabicPeriod"/>
            </a:pPr>
            <a:r>
              <a:rPr lang="en-GB"/>
              <a:t>Epipolarrectification </a:t>
            </a:r>
            <a:r>
              <a:rPr lang="en-GB">
                <a:sym typeface="Wingdings" pitchFamily="2" charset="2"/>
              </a:rPr>
              <a:t> </a:t>
            </a:r>
            <a:r>
              <a:rPr lang="en-GB"/>
              <a:t>align images &amp; epipolar lines</a:t>
            </a:r>
          </a:p>
          <a:p>
            <a:pPr marL="514350" indent="-514350">
              <a:buFont typeface="+mj-lt"/>
              <a:buAutoNum type="arabicPeriod"/>
            </a:pPr>
            <a:r>
              <a:rPr lang="en-GB"/>
              <a:t>Search for correspondences</a:t>
            </a:r>
          </a:p>
          <a:p>
            <a:pPr marL="514350" indent="-514350">
              <a:buFont typeface="+mj-lt"/>
              <a:buAutoNum type="arabicPeriod"/>
            </a:pPr>
            <a:r>
              <a:rPr lang="en-GB"/>
              <a:t>Output: compute stereo triangulation or disparity map</a:t>
            </a:r>
          </a:p>
          <a:p>
            <a:pPr marL="514350" indent="-514350">
              <a:buFont typeface="+mj-lt"/>
              <a:buAutoNum type="arabicPeriod"/>
            </a:pPr>
            <a:r>
              <a:rPr lang="en-GB"/>
              <a:t>Consider baseline and image resolution to compute accuracy</a:t>
            </a:r>
          </a:p>
        </p:txBody>
      </p:sp>
    </p:spTree>
    <p:extLst>
      <p:ext uri="{BB962C8B-B14F-4D97-AF65-F5344CB8AC3E}">
        <p14:creationId xmlns:p14="http://schemas.microsoft.com/office/powerpoint/2010/main" val="157423546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v-SE" dirty="0" err="1"/>
              <a:t>Multiple</a:t>
            </a:r>
            <a:r>
              <a:rPr lang="sv-SE" dirty="0"/>
              <a:t> </a:t>
            </a:r>
            <a:r>
              <a:rPr lang="sv-SE" dirty="0" err="1"/>
              <a:t>cameras</a:t>
            </a:r>
            <a:endParaRPr lang="sv-SE" dirty="0"/>
          </a:p>
        </p:txBody>
      </p:sp>
      <p:sp>
        <p:nvSpPr>
          <p:cNvPr id="4" name="Text Placeholder 3">
            <a:extLst>
              <a:ext uri="{FF2B5EF4-FFF2-40B4-BE49-F238E27FC236}">
                <a16:creationId xmlns:a16="http://schemas.microsoft.com/office/drawing/2014/main" id="{454F6587-F7BF-4135-9D18-3DE03426C536}"/>
              </a:ext>
            </a:extLst>
          </p:cNvPr>
          <p:cNvSpPr>
            <a:spLocks noGrp="1"/>
          </p:cNvSpPr>
          <p:nvPr>
            <p:ph type="body" sz="quarter" idx="10"/>
          </p:nvPr>
        </p:nvSpPr>
        <p:spPr/>
        <p:txBody>
          <a:bodyPr/>
          <a:lstStyle/>
          <a:p>
            <a:endParaRPr lang="en-GB"/>
          </a:p>
        </p:txBody>
      </p:sp>
      <p:pic>
        <p:nvPicPr>
          <p:cNvPr id="1126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4214" t="30650" r="27206" b="13203"/>
          <a:stretch/>
        </p:blipFill>
        <p:spPr bwMode="auto">
          <a:xfrm>
            <a:off x="3215681" y="1988840"/>
            <a:ext cx="5922853" cy="4064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4817136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picture containing clock&#10;&#10;Description automatically generated">
            <a:extLst>
              <a:ext uri="{FF2B5EF4-FFF2-40B4-BE49-F238E27FC236}">
                <a16:creationId xmlns:a16="http://schemas.microsoft.com/office/drawing/2014/main" id="{309C7A04-0891-420C-A575-138F897A1C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03708" y="3045336"/>
            <a:ext cx="4310411" cy="3565953"/>
          </a:xfrm>
          <a:prstGeom prst="rect">
            <a:avLst/>
          </a:prstGeom>
        </p:spPr>
      </p:pic>
      <p:sp>
        <p:nvSpPr>
          <p:cNvPr id="2" name="Content Placeholder 1">
            <a:extLst>
              <a:ext uri="{FF2B5EF4-FFF2-40B4-BE49-F238E27FC236}">
                <a16:creationId xmlns:a16="http://schemas.microsoft.com/office/drawing/2014/main" id="{AC7303C1-6043-4D04-B092-D92C37E59DE7}"/>
              </a:ext>
            </a:extLst>
          </p:cNvPr>
          <p:cNvSpPr>
            <a:spLocks noGrp="1"/>
          </p:cNvSpPr>
          <p:nvPr>
            <p:ph sz="half" idx="1"/>
          </p:nvPr>
        </p:nvSpPr>
        <p:spPr/>
        <p:txBody>
          <a:bodyPr/>
          <a:lstStyle/>
          <a:p>
            <a:r>
              <a:rPr lang="en-GB" dirty="0"/>
              <a:t>3D camera setup</a:t>
            </a:r>
          </a:p>
          <a:p>
            <a:r>
              <a:rPr lang="en-GB" dirty="0"/>
              <a:t>Projector </a:t>
            </a:r>
          </a:p>
          <a:p>
            <a:r>
              <a:rPr lang="en-GB" dirty="0"/>
              <a:t>Structure light </a:t>
            </a:r>
          </a:p>
          <a:p>
            <a:endParaRPr lang="en-GB" dirty="0"/>
          </a:p>
        </p:txBody>
      </p:sp>
      <p:pic>
        <p:nvPicPr>
          <p:cNvPr id="6" name="Content Placeholder 5">
            <a:extLst>
              <a:ext uri="{FF2B5EF4-FFF2-40B4-BE49-F238E27FC236}">
                <a16:creationId xmlns:a16="http://schemas.microsoft.com/office/drawing/2014/main" id="{3576729D-8C29-4538-8CF2-30AF3F240F68}"/>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5473542" y="530857"/>
            <a:ext cx="3714750" cy="2819400"/>
          </a:xfrm>
        </p:spPr>
      </p:pic>
      <p:sp>
        <p:nvSpPr>
          <p:cNvPr id="4" name="Title 3">
            <a:extLst>
              <a:ext uri="{FF2B5EF4-FFF2-40B4-BE49-F238E27FC236}">
                <a16:creationId xmlns:a16="http://schemas.microsoft.com/office/drawing/2014/main" id="{A6A8CAF3-C99B-48E7-BEEE-80EE341B6946}"/>
              </a:ext>
            </a:extLst>
          </p:cNvPr>
          <p:cNvSpPr>
            <a:spLocks noGrp="1"/>
          </p:cNvSpPr>
          <p:nvPr>
            <p:ph type="title"/>
          </p:nvPr>
        </p:nvSpPr>
        <p:spPr/>
        <p:txBody>
          <a:bodyPr/>
          <a:lstStyle/>
          <a:p>
            <a:r>
              <a:rPr lang="en-GB" dirty="0"/>
              <a:t>3D scanning photogrammetry</a:t>
            </a:r>
          </a:p>
        </p:txBody>
      </p:sp>
    </p:spTree>
    <p:extLst>
      <p:ext uri="{BB962C8B-B14F-4D97-AF65-F5344CB8AC3E}">
        <p14:creationId xmlns:p14="http://schemas.microsoft.com/office/powerpoint/2010/main" val="319714712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l="3775" t="13838" r="10683" b="20186"/>
          <a:stretch/>
        </p:blipFill>
        <p:spPr>
          <a:xfrm>
            <a:off x="0" y="4001295"/>
            <a:ext cx="6096000" cy="2868706"/>
          </a:xfrm>
          <a:prstGeom prst="rect">
            <a:avLst/>
          </a:prstGeom>
        </p:spPr>
      </p:pic>
      <p:pic>
        <p:nvPicPr>
          <p:cNvPr id="4" name="Picture 3"/>
          <p:cNvPicPr>
            <a:picLocks noChangeAspect="1"/>
          </p:cNvPicPr>
          <p:nvPr/>
        </p:nvPicPr>
        <p:blipFill rotWithShape="1">
          <a:blip r:embed="rId3" cstate="print">
            <a:extLst>
              <a:ext uri="{28A0092B-C50C-407E-A947-70E740481C1C}">
                <a14:useLocalDpi xmlns:a14="http://schemas.microsoft.com/office/drawing/2010/main" val="0"/>
              </a:ext>
            </a:extLst>
          </a:blip>
          <a:srcRect l="10885" t="9838" r="21081" b="7917"/>
          <a:stretch/>
        </p:blipFill>
        <p:spPr>
          <a:xfrm>
            <a:off x="478270" y="1665152"/>
            <a:ext cx="3564342" cy="2423753"/>
          </a:xfrm>
          <a:prstGeom prst="rect">
            <a:avLst/>
          </a:prstGeom>
        </p:spPr>
      </p:pic>
      <p:sp>
        <p:nvSpPr>
          <p:cNvPr id="7" name="Content Placeholder 6">
            <a:extLst>
              <a:ext uri="{FF2B5EF4-FFF2-40B4-BE49-F238E27FC236}">
                <a16:creationId xmlns:a16="http://schemas.microsoft.com/office/drawing/2014/main" id="{1751CEA4-F684-4935-8996-98C436096EC9}"/>
              </a:ext>
            </a:extLst>
          </p:cNvPr>
          <p:cNvSpPr>
            <a:spLocks noGrp="1"/>
          </p:cNvSpPr>
          <p:nvPr>
            <p:ph sz="half" idx="1"/>
          </p:nvPr>
        </p:nvSpPr>
        <p:spPr/>
        <p:txBody>
          <a:bodyPr/>
          <a:lstStyle/>
          <a:p>
            <a:endParaRPr lang="en-GB" dirty="0"/>
          </a:p>
        </p:txBody>
      </p:sp>
      <p:sp>
        <p:nvSpPr>
          <p:cNvPr id="8" name="Content Placeholder 7">
            <a:extLst>
              <a:ext uri="{FF2B5EF4-FFF2-40B4-BE49-F238E27FC236}">
                <a16:creationId xmlns:a16="http://schemas.microsoft.com/office/drawing/2014/main" id="{7A3E2FEE-65D4-4C2C-8DA5-7DFA6F6D016C}"/>
              </a:ext>
            </a:extLst>
          </p:cNvPr>
          <p:cNvSpPr>
            <a:spLocks noGrp="1"/>
          </p:cNvSpPr>
          <p:nvPr>
            <p:ph sz="half" idx="2"/>
          </p:nvPr>
        </p:nvSpPr>
        <p:spPr/>
        <p:txBody>
          <a:bodyPr/>
          <a:lstStyle/>
          <a:p>
            <a:endParaRPr lang="en-GB" dirty="0"/>
          </a:p>
        </p:txBody>
      </p:sp>
      <p:sp>
        <p:nvSpPr>
          <p:cNvPr id="6" name="Title 5">
            <a:extLst>
              <a:ext uri="{FF2B5EF4-FFF2-40B4-BE49-F238E27FC236}">
                <a16:creationId xmlns:a16="http://schemas.microsoft.com/office/drawing/2014/main" id="{4E3286C4-B8A8-4542-A4D0-E2B7E2D5CD63}"/>
              </a:ext>
            </a:extLst>
          </p:cNvPr>
          <p:cNvSpPr>
            <a:spLocks noGrp="1"/>
          </p:cNvSpPr>
          <p:nvPr>
            <p:ph type="title"/>
          </p:nvPr>
        </p:nvSpPr>
        <p:spPr/>
        <p:txBody>
          <a:bodyPr/>
          <a:lstStyle/>
          <a:p>
            <a:r>
              <a:rPr lang="en-GB" dirty="0"/>
              <a:t>3D scanning Photogrammetry</a:t>
            </a:r>
          </a:p>
        </p:txBody>
      </p:sp>
      <p:pic>
        <p:nvPicPr>
          <p:cNvPr id="9" name="Picture 8" descr="A picture containing indoor, sitting, table&#10;&#10;Description automatically generated">
            <a:extLst>
              <a:ext uri="{FF2B5EF4-FFF2-40B4-BE49-F238E27FC236}">
                <a16:creationId xmlns:a16="http://schemas.microsoft.com/office/drawing/2014/main" id="{455E6873-0405-4ABC-B5E4-14543D6405EE}"/>
              </a:ext>
            </a:extLst>
          </p:cNvPr>
          <p:cNvPicPr>
            <a:picLocks noChangeAspect="1"/>
          </p:cNvPicPr>
          <p:nvPr/>
        </p:nvPicPr>
        <p:blipFill rotWithShape="1">
          <a:blip r:embed="rId4">
            <a:extLst>
              <a:ext uri="{28A0092B-C50C-407E-A947-70E740481C1C}">
                <a14:useLocalDpi xmlns:a14="http://schemas.microsoft.com/office/drawing/2010/main" val="0"/>
              </a:ext>
            </a:extLst>
          </a:blip>
          <a:srcRect l="15521"/>
          <a:stretch/>
        </p:blipFill>
        <p:spPr>
          <a:xfrm>
            <a:off x="5871411" y="1920400"/>
            <a:ext cx="6012480" cy="3558540"/>
          </a:xfrm>
          <a:prstGeom prst="rect">
            <a:avLst/>
          </a:prstGeom>
        </p:spPr>
      </p:pic>
    </p:spTree>
    <p:extLst>
      <p:ext uri="{BB962C8B-B14F-4D97-AF65-F5344CB8AC3E}">
        <p14:creationId xmlns:p14="http://schemas.microsoft.com/office/powerpoint/2010/main" val="64415995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sz="half" idx="1"/>
          </p:nvPr>
        </p:nvPicPr>
        <p:blipFill>
          <a:blip r:embed="rId2" cstate="print">
            <a:extLst>
              <a:ext uri="{28A0092B-C50C-407E-A947-70E740481C1C}">
                <a14:useLocalDpi xmlns:a14="http://schemas.microsoft.com/office/drawing/2010/main" val="0"/>
              </a:ext>
            </a:extLst>
          </a:blip>
          <a:stretch>
            <a:fillRect/>
          </a:stretch>
        </p:blipFill>
        <p:spPr>
          <a:xfrm>
            <a:off x="498732" y="2104009"/>
            <a:ext cx="5115095" cy="3410064"/>
          </a:xfrm>
        </p:spPr>
      </p:pic>
      <p:sp>
        <p:nvSpPr>
          <p:cNvPr id="2" name="Title 1"/>
          <p:cNvSpPr>
            <a:spLocks noGrp="1"/>
          </p:cNvSpPr>
          <p:nvPr>
            <p:ph type="title"/>
          </p:nvPr>
        </p:nvSpPr>
        <p:spPr/>
        <p:txBody>
          <a:bodyPr/>
          <a:lstStyle/>
          <a:p>
            <a:r>
              <a:rPr lang="sv-SE" dirty="0" err="1"/>
              <a:t>Example</a:t>
            </a:r>
            <a:r>
              <a:rPr lang="sv-SE" dirty="0"/>
              <a:t> </a:t>
            </a:r>
            <a:r>
              <a:rPr lang="sv-SE" dirty="0" err="1"/>
              <a:t>of</a:t>
            </a:r>
            <a:r>
              <a:rPr lang="sv-SE" dirty="0"/>
              <a:t> 3D scanning</a:t>
            </a: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81616" y="2296262"/>
            <a:ext cx="6162767" cy="3410064"/>
          </a:xfrm>
          <a:prstGeom prst="rect">
            <a:avLst/>
          </a:prstGeom>
        </p:spPr>
      </p:pic>
    </p:spTree>
    <p:extLst>
      <p:ext uri="{BB962C8B-B14F-4D97-AF65-F5344CB8AC3E}">
        <p14:creationId xmlns:p14="http://schemas.microsoft.com/office/powerpoint/2010/main" val="166574502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v-SE" dirty="0" err="1"/>
              <a:t>Example</a:t>
            </a:r>
            <a:r>
              <a:rPr lang="sv-SE" dirty="0"/>
              <a:t> </a:t>
            </a:r>
            <a:r>
              <a:rPr lang="sv-SE" dirty="0" err="1"/>
              <a:t>of</a:t>
            </a:r>
            <a:r>
              <a:rPr lang="sv-SE" dirty="0"/>
              <a:t> 3D</a:t>
            </a:r>
          </a:p>
        </p:txBody>
      </p:sp>
      <p:sp>
        <p:nvSpPr>
          <p:cNvPr id="6" name="Text Placeholder 5">
            <a:extLst>
              <a:ext uri="{FF2B5EF4-FFF2-40B4-BE49-F238E27FC236}">
                <a16:creationId xmlns:a16="http://schemas.microsoft.com/office/drawing/2014/main" id="{68FE567E-5879-4881-828D-B9015D755165}"/>
              </a:ext>
            </a:extLst>
          </p:cNvPr>
          <p:cNvSpPr>
            <a:spLocks noGrp="1"/>
          </p:cNvSpPr>
          <p:nvPr>
            <p:ph type="body" sz="quarter" idx="10"/>
          </p:nvPr>
        </p:nvSpPr>
        <p:spPr/>
        <p:txBody>
          <a:bodyPr/>
          <a:lstStyle/>
          <a:p>
            <a:endParaRPr lang="en-GB" dirty="0"/>
          </a:p>
        </p:txBody>
      </p:sp>
      <p:pic>
        <p:nvPicPr>
          <p:cNvPr id="7" name="Picture 6" descr="A picture containing bed&#10;&#10;Description automatically generated">
            <a:extLst>
              <a:ext uri="{FF2B5EF4-FFF2-40B4-BE49-F238E27FC236}">
                <a16:creationId xmlns:a16="http://schemas.microsoft.com/office/drawing/2014/main" id="{65FB5BD6-13A2-4501-B4C9-8AE95FF86F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196917"/>
            <a:ext cx="8127143" cy="3421265"/>
          </a:xfrm>
          <a:prstGeom prst="rect">
            <a:avLst/>
          </a:prstGeom>
        </p:spPr>
      </p:pic>
    </p:spTree>
    <p:extLst>
      <p:ext uri="{BB962C8B-B14F-4D97-AF65-F5344CB8AC3E}">
        <p14:creationId xmlns:p14="http://schemas.microsoft.com/office/powerpoint/2010/main" val="40618192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ikaels HV Eng mall.potx" id="{01CC7A3E-3EB7-42D8-A531-55C5F3FB8D50}" vid="{609F412A-B0E9-4730-BB39-A809CCF9691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Mikaels HV Eng mall</Template>
  <TotalTime>313</TotalTime>
  <Words>1326</Words>
  <Application>Microsoft Office PowerPoint</Application>
  <PresentationFormat>Widescreen</PresentationFormat>
  <Paragraphs>206</Paragraphs>
  <Slides>56</Slides>
  <Notes>4</Notes>
  <HiddenSlides>5</HiddenSlides>
  <MMClips>2</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56</vt:i4>
      </vt:variant>
    </vt:vector>
  </HeadingPairs>
  <TitlesOfParts>
    <vt:vector size="61" baseType="lpstr">
      <vt:lpstr>Arial</vt:lpstr>
      <vt:lpstr>Calibri</vt:lpstr>
      <vt:lpstr>Symbol</vt:lpstr>
      <vt:lpstr>Wingdings</vt:lpstr>
      <vt:lpstr>Office Theme</vt:lpstr>
      <vt:lpstr>Machine vision</vt:lpstr>
      <vt:lpstr>Distance vs. angle signature</vt:lpstr>
      <vt:lpstr>Chain codes</vt:lpstr>
      <vt:lpstr>Chain code - example</vt:lpstr>
      <vt:lpstr>Hough Transform</vt:lpstr>
      <vt:lpstr>Hough Transform – Straight line</vt:lpstr>
      <vt:lpstr>Hough Transform Algorithm</vt:lpstr>
      <vt:lpstr>Hough Transform - example</vt:lpstr>
      <vt:lpstr>Hough Transform - example</vt:lpstr>
      <vt:lpstr>Hough Transform - example</vt:lpstr>
      <vt:lpstr>Hough Transform - example</vt:lpstr>
      <vt:lpstr>Hough Transform – basic example</vt:lpstr>
      <vt:lpstr>Hough Transform – Circle</vt:lpstr>
      <vt:lpstr>Hough Transform Algorithm</vt:lpstr>
      <vt:lpstr>Template matching </vt:lpstr>
      <vt:lpstr>Template matching</vt:lpstr>
      <vt:lpstr>Template matching </vt:lpstr>
      <vt:lpstr>Temple - examples</vt:lpstr>
      <vt:lpstr>PowerPoint Presentation</vt:lpstr>
      <vt:lpstr>PowerPoint Presentation</vt:lpstr>
      <vt:lpstr>Camera calibration</vt:lpstr>
      <vt:lpstr>Optical filters</vt:lpstr>
      <vt:lpstr>Band pass filters</vt:lpstr>
      <vt:lpstr>Illumination Techniques</vt:lpstr>
      <vt:lpstr>More Illumination Techniques</vt:lpstr>
      <vt:lpstr>More Illumination Techniques</vt:lpstr>
      <vt:lpstr>Ring light </vt:lpstr>
      <vt:lpstr>Regulare lenses</vt:lpstr>
      <vt:lpstr>Drawback with regular lenses</vt:lpstr>
      <vt:lpstr>Telecentric lenses</vt:lpstr>
      <vt:lpstr>Omnidirectional camera</vt:lpstr>
      <vt:lpstr>Fisheye camera</vt:lpstr>
      <vt:lpstr>Radiel distortion</vt:lpstr>
      <vt:lpstr>2D images</vt:lpstr>
      <vt:lpstr>2 ½D vision system</vt:lpstr>
      <vt:lpstr>3D Position Recognition Using Photogrammetry</vt:lpstr>
      <vt:lpstr>Camera calibration</vt:lpstr>
      <vt:lpstr>Camera parameters</vt:lpstr>
      <vt:lpstr>Camera calibration images</vt:lpstr>
      <vt:lpstr>Example of excentric results</vt:lpstr>
      <vt:lpstr>Camera calibration</vt:lpstr>
      <vt:lpstr>Calibrated images</vt:lpstr>
      <vt:lpstr>Bin-picking</vt:lpstr>
      <vt:lpstr>Test at spare time</vt:lpstr>
      <vt:lpstr>Human stereo vision</vt:lpstr>
      <vt:lpstr>Stereo vision</vt:lpstr>
      <vt:lpstr>Camera setting</vt:lpstr>
      <vt:lpstr>Correspondence Problem</vt:lpstr>
      <vt:lpstr>Correspondence Problem</vt:lpstr>
      <vt:lpstr>Correspondence Problem</vt:lpstr>
      <vt:lpstr>Work flow</vt:lpstr>
      <vt:lpstr>Multiple cameras</vt:lpstr>
      <vt:lpstr>3D scanning photogrammetry</vt:lpstr>
      <vt:lpstr>3D scanning Photogrammetry</vt:lpstr>
      <vt:lpstr>Example of 3D scanning</vt:lpstr>
      <vt:lpstr>Example of 3D</vt:lpstr>
    </vt:vector>
  </TitlesOfParts>
  <Company>University West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vision</dc:title>
  <dc:creator>Mikael Ericsson (HV)</dc:creator>
  <cp:lastModifiedBy>Mikael Ericsson (HV)</cp:lastModifiedBy>
  <cp:revision>32</cp:revision>
  <dcterms:created xsi:type="dcterms:W3CDTF">2018-12-04T20:08:32Z</dcterms:created>
  <dcterms:modified xsi:type="dcterms:W3CDTF">2023-12-14T06:33:13Z</dcterms:modified>
</cp:coreProperties>
</file>